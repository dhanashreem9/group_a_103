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ink/ink9.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0.xml" ContentType="application/inkml+xml"/>
  <Override PartName="/ppt/ink/ink11.xml" ContentType="application/inkml+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4"/>
  </p:notesMasterIdLst>
  <p:handoutMasterIdLst>
    <p:handoutMasterId r:id="rId15"/>
  </p:handoutMasterIdLst>
  <p:sldIdLst>
    <p:sldId id="337" r:id="rId5"/>
    <p:sldId id="346" r:id="rId6"/>
    <p:sldId id="289" r:id="rId7"/>
    <p:sldId id="341" r:id="rId8"/>
    <p:sldId id="329" r:id="rId9"/>
    <p:sldId id="340" r:id="rId10"/>
    <p:sldId id="347" r:id="rId11"/>
    <p:sldId id="259" r:id="rId12"/>
    <p:sldId id="26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08706E-1E55-4BE3-9981-9E9409FA3F0E}" v="1" dt="2025-11-17T15:37:03.1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11/12/2025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1"/>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12694 9949 16383 0 0,'0'0'0'0'0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2"/>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12694 9900 16383 0 0,'4'0'0'0'0,"7"0"0"0"0,5 0 0 0 0,5 0 0 0 0,3 0 0 0 0,2 0 0 0 0,1 0 0 0 0,1 0 0 0 0,-1 0 0 0 0,1-4 0 0 0,3-2 0 0 0,2 0 0 0 0,0 1 0 0 0,-2 2 0 0 0,-1 1 0 0 0,-6-4 0 0 0,-3 0 0 0 0,0 0 0 0 0,1 2 0 0 0,1 1 0 0 0,1 1 0 0 0,1 1 0 0 0,1 1 0 0 0,0 0 0 0 0,1 0 0 0 0,0 0 0 0 0,-1 1 0 0 0,1-1 0 0 0,0 0 0 0 0,-1 5 0 0 0,1 5 0 0 0,-1 6 0 0 0,1 1 0 0 0,-1-4 0 0 0,1-3 0 0 0,-6 1 0 0 0,0-2 0 0 0,0-1 0 0 0,1-3 0 0 0,1 2 0 0 0,1 5 0 0 0,2 0 0 0 0,0-2 0 0 0,4-3 0 0 0,3-6 0 0 0,0-5 0 0 0,-2 0 0 0 0,-1-1 0 0 0,-2 2 0 0 0,-4-4 0 0 0,-4-1 0 0 0,1 2 0 0 0,1 1 0 0 0,-4-3 0 0 0,1 0 0 0 0,-4-3 0 0 0,0 0 0 0 0,2 2 0 0 0,-1-2 0 0 0,0 1 0 0 0,3 3 0 0 0,2 1 0 0 0,2 3 0 0 0,1 1 0 0 0,-2-3 0 0 0,-2-1 0 0 0,6 1 0 0 0,2 1 0 0 0,-3-4 0 0 0,-2 1 0 0 0,-4-4 0 0 0,-1 0 0 0 0,-4-3 0 0 0,-4-3 0 0 0,-4-3 0 0 0,2 2 0 0 0,4 3 0 0 0,4 5 0 0 0,4 4 0 0 0,3 3 0 0 0,3-3 0 0 0,-4 5 0 0 0,-1 7 0 0 0,0 1 0 0 0,2 1 0 0 0,1-1 0 0 0,1-3 0 0 0,0 4 0 0 0,2 4 0 0 0,-5 5 0 0 0,-6 4 0 0 0,-1-2 0 0 0,1-4 0 0 0,7-4 0 0 0,5-4 0 0 0,1-4 0 0 0,-4 3 0 0 0,-2-1 0 0 0,-4 5 0 0 0,-2 0 0 0 0,-8-2 0 0 0,-5-7 0 0 0,-3-3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3"/>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12595 10424 16383 0 0,'4'0'0'0'0,"7"0"0"0"0,5 0 0 0 0,5 0 0 0 0,12 0 0 0 0,5 0 0 0 0,0 0 0 0 0,-5 5 0 0 0,-5 1 0 0 0,-3 0 0 0 0,0-2 0 0 0,0 0 0 0 0,-1-2 0 0 0,2-1 0 0 0,-1-1 0 0 0,1 0 0 0 0,0 0 0 0 0,1 0 0 0 0,-1-1 0 0 0,5 1 0 0 0,2 0 0 0 0,-1 0 0 0 0,-1 0 0 0 0,-1 0 0 0 0,-2 0 0 0 0,0 0 0 0 0,-1 0 0 0 0,-1 0 0 0 0,5 0 0 0 0,1 0 0 0 0,0 0 0 0 0,-1 0 0 0 0,3 0 0 0 0,5-5 0 0 0,4-5 0 0 0,5-2 0 0 0,-2 2 0 0 0,1 2 0 0 0,-4 3 0 0 0,0 2 0 0 0,-3 1 0 0 0,-3 2 0 0 0,-4 0 0 0 0,-7-4 0 0 0,-4-2 0 0 0,-6-3 0 0 0,0-2 0 0 0,5 3 0 0 0,4 1 0 0 0,2 3 0 0 0,1 1 0 0 0,1 2 0 0 0,-1 1 0 0 0,-1 0 0 0 0,1 1 0 0 0,-1-1 0 0 0,-1 1 0 0 0,1-1 0 0 0,-1 0 0 0 0,1 0 0 0 0,-1 0 0 0 0,0 0 0 0 0,1 0 0 0 0,-1 0 0 0 0,1 0 0 0 0,-1 0 0 0 0,1 0 0 0 0,-1 0 0 0 0,1 0 0 0 0,-1 0 0 0 0,-4 5 0 0 0,-2 1 0 0 0,1-1 0 0 0,1 0 0 0 0,1-2 0 0 0,2-1 0 0 0,0-1 0 0 0,1 0 0 0 0,0-1 0 0 0,-3 4 0 0 0,-3 2 0 0 0,1-1 0 0 0,1 0 0 0 0,2-2 0 0 0,0 3 0 0 0,2 1 0 0 0,4-1 0 0 0,3-1 0 0 0,-1-2 0 0 0,-1-1 0 0 0,-5-1 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4"/>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12628 19632 16383 0 0,'4'0'0'0'0,"7"-4"0"0"0,5-2 0 0 0,5 0 0 0 0,3 1 0 0 0,2 2 0 0 0,1 1 0 0 0,1 1 0 0 0,-1 1 0 0 0,5 0 0 0 0,1 0 0 0 0,4 5 0 0 0,1 5 0 0 0,-3 7 0 0 0,-6 4 0 0 0,0-2 0 0 0,0 1 0 0 0,0-3 0 0 0,-1-4 0 0 0,-1-5 0 0 0,0-3 0 0 0,0-3 0 0 0,-1-2 0 0 0,1 0 0 0 0,-1-1 0 0 0,0 0 0 0 0,5 0 0 0 0,2 1 0 0 0,-1-1 0 0 0,-1 1 0 0 0,-2 0 0 0 0,0 0 0 0 0,-2 0 0 0 0,0 0 0 0 0,0 0 0 0 0,-5-5 0 0 0,-2 0 0 0 0,0-1 0 0 0,2 1 0 0 0,1 6 0 0 0,-3 8 0 0 0,-1 2 0 0 0,2 3 0 0 0,0 4 0 0 0,-2 4 0 0 0,-5 2 0 0 0,0 2 0 0 0,-2 1 0 0 0,1-5 0 0 0,-2 0 0 0 0,-3-10 0 0 0,3-6 0 0 0,-2-9 0 0 0,-2-8 0 0 0,3-3 0 0 0,4-3 0 0 0,3 2 0 0 0,5 2 0 0 0,-3 0 0 0 0,1 2 0 0 0,1 2 0 0 0,1 4 0 0 0,2 2 0 0 0,2 1 0 0 0,0 2 0 0 0,0 0 0 0 0,1 5 0 0 0,-1 2 0 0 0,1-1 0 0 0,0-1 0 0 0,-1-2 0 0 0,1 0 0 0 0,0-2 0 0 0,-1-1 0 0 0,1 0 0 0 0,-1 0 0 0 0,0 0 0 0 0,-4-5 0 0 0,-1-1 0 0 0,0 0 0 0 0,0 1 0 0 0,3 2 0 0 0,0 1 0 0 0,1 1 0 0 0,1 0 0 0 0,1 1 0 0 0,-5-4 0 0 0,-1-2 0 0 0,4 1 0 0 0,-1-4 0 0 0,-1 0 0 0 0,0 1 0 0 0,1 2 0 0 0,1 3 0 0 0,1 1 0 0 0,0 1 0 0 0,0 1 0 0 0,0 0 0 0 0,-3 0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5"/>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12562 20224 16383 0 0,'0'-4'0'0'0,"0"-7"0"0"0,4 0 0 0 0,6 0 0 0 0,2 8 0 0 0,3 8 0 0 0,3 13 0 0 0,4 16 0 0 0,2 7 0 0 0,-3 2 0 0 0,-5-3 0 0 0,4-4 0 0 0,7-2 0 0 0,13 0 0 0 0,4-4 0 0 0,-1-8 0 0 0,1-3 0 0 0,2 0 0 0 0,-2-3 0 0 0,-4-5 0 0 0,-9-9 0 0 0,-10-8 0 0 0,-8-9 0 0 0,-2-1 0 0 0,2 2 0 0 0,2 3 0 0 0,5 0 0 0 0,2 0 0 0 0,2 4 0 0 0,2 1 0 0 0,-4-1 0 0 0,-1 0 0 0 0,1 0 0 0 0,0 3 0 0 0,2 1 0 0 0,0 6 0 0 0,2 3 0 0 0,0-1 0 0 0,1 0 0 0 0,-1-1 0 0 0,1-2 0 0 0,0-1 0 0 0,-5-5 0 0 0,-6-1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6"/>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14215 14347 16383 0 0,'0'0'0'0'0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7"/>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14232 14175 16383 0 0,'9'0'0'0'0,"12"0"0"0"0,16 0 0 0 0,10 0 0 0 0,7 0 0 0 0,3 0 0 0 0,0 0 0 0 0,-4 0 0 0 0,-3-4 0 0 0,-5-2 0 0 0,-1 0 0 0 0,-4 1 0 0 0,-4 2 0 0 0,-3 1 0 0 0,-4 1 0 0 0,3 1 0 0 0,1 0 0 0 0,3 4 0 0 0,0 2 0 0 0,-1 0 0 0 0,-7 4 0 0 0,1-1 0 0 0,-1-1 0 0 0,1-2 0 0 0,-1-3 0 0 0,-1-1 0 0 0,0-1 0 0 0,0 0 0 0 0,0-2 0 0 0,-1 1 0 0 0,0-1 0 0 0,5 1 0 0 0,2-5 0 0 0,-1-1 0 0 0,-1 0 0 0 0,-2 2 0 0 0,0 1 0 0 0,-2 0 0 0 0,0 2 0 0 0,-5 6 0 0 0,-1 0 0 0 0,-5 6 0 0 0,-1 0 0 0 0,-2 2 0 0 0,1 5 0 0 0,-3 2 0 0 0,-2 4 0 0 0,2 1 0 0 0,12-3 0 0 0,24-1 0 0 0,19-4 0 0 0,20-1 0 0 0,4-2 0 0 0,1-4 0 0 0,-2 0 0 0 0,-7 0 0 0 0,-13-3 0 0 0,-9-3 0 0 0,-11-1 0 0 0,-4-2 0 0 0,-1 0 0 0 0,-3-1 0 0 0,0-1 0 0 0,-3 1 0 0 0,-2-1 0 0 0,-4 1 0 0 0,-2 0 0 0 0,-2 0 0 0 0,-1 0 0 0 0,-1 0 0 0 0,0 0 0 0 0,4 0 0 0 0,-3-5 0 0 0,-10-1 0 0 0,-8-4 0 0 0,-11-1 0 0 0,-4-2 0 0 0,-6 0 0 0 0,-5 3 0 0 0,-5 3 0 0 0,-3 3 0 0 0,-1 2 0 0 0,-1 1 0 0 0,-1 1 0 0 0,1 0 0 0 0,-5 1 0 0 0,-1 4 0 0 0,0 1 0 0 0,2 5 0 0 0,-3 4 0 0 0,-1 0 0 0 0,2-2 0 0 0,1 0 0 0 0,3-1 0 0 0,1-3 0 0 0,0 1 0 0 0,-3 4 0 0 0,-1 4 0 0 0,0-2 0 0 0,6 2 0 0 0,7 2 0 0 0,2-2 0 0 0,5-1 0 0 0,3 3 0 0 0,0-3 0 0 0,1 0 0 0 0,-8-2 0 0 0,-5-5 0 0 0,-3 2 0 0 0,-3-2 0 0 0,4 2 0 0 0,1-1 0 0 0,-5-3 0 0 0,-1-2 0 0 0,2 2 0 0 0,3 0 0 0 0,0-2 0 0 0,-1 3 0 0 0,0 0 0 0 0,3 3 0 0 0,6 4 0 0 0,5 3 0 0 0,5 4 0 0 0,2 1 0 0 0,-2-2 0 0 0,-5-5 0 0 0,0-11 0 0 0,-4-5 0 0 0,-3-4 0 0 0,-4-10 0 0 0,-3-3 0 0 0,-1 2 0 0 0,-1 3 0 0 0,-1 3 0 0 0,-5 3 0 0 0,-1 2 0 0 0,0 3 0 0 0,-3 0 0 0 0,0 0 0 0 0,2 1 0 0 0,2 0 0 0 0,1-1 0 0 0,3 0 0 0 0,1 1 0 0 0,-4-1 0 0 0,-2 0 0 0 0,2 0 0 0 0,0 4 0 0 0,2 2 0 0 0,0 0 0 0 0,2-2 0 0 0,0 4 0 0 0,1 0 0 0 0,4 3 0 0 0,2 0 0 0 0,-1 3 0 0 0,0-2 0 0 0,-3 7 0 0 0,0 0 0 0 0,-1 1 0 0 0,-1-3 0 0 0,-1-4 0 0 0,1 0 0 0 0,-1-2 0 0 0,5 2 0 0 0,1-2 0 0 0,0-2 0 0 0,-1-4 0 0 0,-1-1 0 0 0,-1-2 0 0 0,-2-2 0 0 0,0 0 0 0 0,0 0 0 0 0,-1-1 0 0 0,0 1 0 0 0,1-5 0 0 0,-1-2 0 0 0,0 2 0 0 0,5-5 0 0 0,2 1 0 0 0,-1 1 0 0 0,-5 3 0 0 0,-4-8 0 0 0,5-5 0 0 0,1-1 0 0 0,5 0 0 0 0,1 2 0 0 0,4 0 0 0 0,-1-2 0 0 0,3-2 0 0 0,-6 2 0 0 0,0 1 0 0 0,4-2 0 0 0,8 2 0 0 0,9 5 0 0 0,14 5 0 0 0,8-2 0 0 0,5 2 0 0 0,6 2 0 0 0,1 1 0 0 0,3 3 0 0 0,0 1 0 0 0,2-4 0 0 0,-2-1 0 0 0,2 1 0 0 0,2-4 0 0 0,-2 0 0 0 0,-3 2 0 0 0,0-3 0 0 0,3 0 0 0 0,-1 2 0 0 0,-3 3 0 0 0,-4 2 0 0 0,2 1 0 0 0,3 1 0 0 0,0 1 0 0 0,-3 0 0 0 0,-2 1 0 0 0,6-1 0 0 0,6 0 0 0 0,-1 1 0 0 0,-4-1 0 0 0,-4 0 0 0 0,1 0 0 0 0,-2 0 0 0 0,-2 0 0 0 0,-3 0 0 0 0,3 0 0 0 0,-1 0 0 0 0,0 4 0 0 0,-2 2 0 0 0,-2 0 0 0 0,3-1 0 0 0,1-2 0 0 0,4 3 0 0 0,0 2 0 0 0,3 2 0 0 0,-2 1 0 0 0,-1-2 0 0 0,-4-3 0 0 0,-2-2 0 0 0,-3-2 0 0 0,0-1 0 0 0,3-1 0 0 0,-4 5 0 0 0,-1 0 0 0 0,-1 0 0 0 0,4 0 0 0 0,2-2 0 0 0,0-2 0 0 0,-1 0 0 0 0,-1 0 0 0 0,-1-1 0 0 0,0 0 0 0 0,-1-1 0 0 0,-1 1 0 0 0,1 0 0 0 0,-1 0 0 0 0,0 0 0 0 0,1 0 0 0 0,-1 0 0 0 0,0 0 0 0 0,1 0 0 0 0,-1 0 0 0 0,1 0 0 0 0,-1 0 0 0 0,1 0 0 0 0,-1 0 0 0 0,0 0 0 0 0,1 0 0 0 0,-1 0 0 0 0,1 0 0 0 0,-1 0 0 0 0,1 0 0 0 0,-1 0 0 0 0,-4 0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21028 22734 16383 0 0,'5'0'0'0'0,"10"0"0"0"0,20 0 0 0 0,19 0 0 0 0,12 0 0 0 0,15 0 0 0 0,5 0 0 0 0,-2 0 0 0 0,-2 0 0 0 0,-6-5 0 0 0,-2-1 0 0 0,-10-4 0 0 0,-10 0 0 0 0,-6 1 0 0 0,-7 2 0 0 0,-1-2 0 0 0,-3 1 0 0 0,1 1 0 0 0,-1-2 0 0 0,2 0 0 0 0,4 1 0 0 0,-2 3 0 0 0,-3-3 0 0 0,2 1 0 0 0,-3-9 0 0 0,-2 0 0 0 0,-3 1 0 0 0,-2 4 0 0 0,-2 4 0 0 0,-1 3 0 0 0,-1 2 0 0 0,0 1 0 0 0,0 6 0 0 0,0 2 0 0 0,0-1 0 0 0,4 0 0 0 0,-2 2 0 0 0,-2 0 0 0 0,0 4 0 0 0,-1 3 0 0 0,0 0 0 0 0,-4 2 0 0 0,-1-3 0 0 0,-4 2 0 0 0,-1-2 0 0 0,3-4 0 0 0,2 1 0 0 0,2-1 0 0 0,2-3 0 0 0,1 3 0 0 0,11-1 0 0 0,2 2 0 0 0,1 0 0 0 0,1 3 0 0 0,4-2 0 0 0,-1-3 0 0 0,-4-2 0 0 0,1-3 0 0 0,2-2 0 0 0,-1-1 0 0 0,-4-1 0 0 0,-2-1 0 0 0,0 1 0 0 0,0-1 0 0 0,-2 1 0 0 0,3-1 0 0 0,-1 1 0 0 0,3 0 0 0 0,-1 0 0 0 0,-1-4 0 0 0,-4-2 0 0 0,3 0 0 0 0,0 1 0 0 0,-2-2 0 0 0,2-1 0 0 0,5-4 0 0 0,0 1 0 0 0,-3 2 0 0 0,-2 3 0 0 0,-8-3 0 0 0,-4 1 0 0 0,-1 2 0 0 0,0 1 0 0 0,1 2 0 0 0,0 1 0 0 0,-2-3 0 0 0,-2-1 0 0 0,2 1 0 0 0,1 1 0 0 0,1 1 0 0 0,1 1 0 0 0,-2-3 0 0 0,-2-2 0 0 0,1 2 0 0 0,1 0 0 0 0,1 2 0 0 0,2 2 0 0 0,0 0 0 0 0,2 0 0 0 0,-1 1 0 0 0,1 1 0 0 0,0-1 0 0 0,-5 0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06T15:27:31.225"/>
    </inkml:context>
    <inkml:brush xml:id="br0">
      <inkml:brushProperty name="width" value="0.3" units="cm"/>
      <inkml:brushProperty name="height" value="0.6" units="cm"/>
      <inkml:brushProperty name="color" value="#FFFFC5"/>
      <inkml:brushProperty name="tip" value="rectangle"/>
      <inkml:brushProperty name="rasterOp" value="maskPen"/>
      <inkml:brushProperty name="ignorePressure" value="1"/>
    </inkml:brush>
  </inkml:definitions>
  <inkml:trace contextRef="#ctx0" brushRef="#br0">0 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06T15:24:47.074"/>
    </inkml:context>
    <inkml:brush xml:id="br0">
      <inkml:brushProperty name="width" value="0.3" units="cm"/>
      <inkml:brushProperty name="height" value="0.6" units="cm"/>
      <inkml:brushProperty name="color" value="#FFFFC5"/>
      <inkml:brushProperty name="tip" value="rectangle"/>
      <inkml:brushProperty name="rasterOp" value="maskPen"/>
      <inkml:brushProperty name="ignorePressure" value="1"/>
    </inkml:brush>
  </inkml:definitions>
  <inkml:trace contextRef="#ctx0" brushRef="#br0">1 1,'5'1,"0"1,-1 0,1 1,-1-1,1 1,-1 0,0 0,0 1,7 6,-9-9,12 13,1-1,1 0,0-1,1-1,0-1,0 0,1-1,0-1,37 11,-41-15,-1 0,0 1,-1 1,20 11,-22-11,1 0,0-1,1 0,-1-1,1 0,13 3,-13-5,1-1,0 0,-1 0,1-1,0-1,22-4,-27 3,0 0,-1-1,1 0,-1 0,0-1,1 0,-2 0,1-1,0 1,-1-2,9-8,-4 4,-1 1,1 0,1 1,0 1,0 0,0 0,23-8,-9 4,-8 3,1 1,0 1,1 0,-1 2,1 0,0 2,0 0,38 1,502 3,-541-1,0 1,34 8,-33-6,1 0,24 1,7-4,-22-2,1 2,-1 2,41 7,-30-3,0-2,0-2,1-2,45-4,6 0,618 3,-689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06T15:24:53.743"/>
    </inkml:context>
    <inkml:brush xml:id="br0">
      <inkml:brushProperty name="width" value="0.3" units="cm"/>
      <inkml:brushProperty name="height" value="0.6" units="cm"/>
      <inkml:brushProperty name="color" value="#FFFFC5"/>
      <inkml:brushProperty name="tip" value="rectangle"/>
      <inkml:brushProperty name="rasterOp" value="maskPen"/>
      <inkml:brushProperty name="ignorePressure" value="1"/>
    </inkml:brush>
  </inkml:definitions>
  <inkml:trace contextRef="#ctx0" brushRef="#br0">0 128,'1068'0,"-1046"-1,0-1,30-7,30-3,-64 9,0 0,0-1,0-1,-1-1,25-10,29-10,-26 11,-30 9,1 0,0 2,21-4,-17 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11/12/2025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45707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PlaceHolder 1"/>
          <p:cNvSpPr>
            <a:spLocks noGrp="1" noRot="1" noChangeAspect="1"/>
          </p:cNvSpPr>
          <p:nvPr>
            <p:ph type="sldImg"/>
          </p:nvPr>
        </p:nvSpPr>
        <p:spPr>
          <a:xfrm>
            <a:off x="685800" y="1143000"/>
            <a:ext cx="5486400" cy="3086100"/>
          </a:xfrm>
          <a:prstGeom prst="rect">
            <a:avLst/>
          </a:prstGeom>
        </p:spPr>
      </p:sp>
      <p:sp>
        <p:nvSpPr>
          <p:cNvPr id="149" name="PlaceHolder 2"/>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50" name="TextShape 3"/>
          <p:cNvSpPr txBox="1"/>
          <p:nvPr/>
        </p:nvSpPr>
        <p:spPr>
          <a:xfrm>
            <a:off x="3884760" y="8685360"/>
            <a:ext cx="2971440" cy="458280"/>
          </a:xfrm>
          <a:prstGeom prst="rect">
            <a:avLst/>
          </a:prstGeom>
          <a:noFill/>
          <a:ln>
            <a:noFill/>
          </a:ln>
        </p:spPr>
        <p:txBody>
          <a:bodyPr anchor="b">
            <a:noAutofit/>
          </a:bodyPr>
          <a:lstStyle/>
          <a:p>
            <a:pPr algn="r">
              <a:lnSpc>
                <a:spcPct val="100000"/>
              </a:lnSpc>
            </a:pPr>
            <a:fld id="{677DA20C-D3E3-4F02-A624-D52A93CA4942}" type="slidenum">
              <a:rPr lang="en-GB" sz="1200" b="0" strike="noStrike" spc="-1">
                <a:latin typeface="Times New Roman"/>
              </a:rPr>
              <a:t>9</a:t>
            </a:fld>
            <a:endParaRPr lang="en-US" sz="1200" b="0" strike="noStrike" spc="-1">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03703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 id="2147483724" r:id="rId14"/>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customXml" Target="../ink/ink6.xml"/><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9.png"/><Relationship Id="rId17" Type="http://schemas.openxmlformats.org/officeDocument/2006/relationships/image" Target="../media/image11.png"/><Relationship Id="rId2" Type="http://schemas.openxmlformats.org/officeDocument/2006/relationships/image" Target="../media/image4.png"/><Relationship Id="rId16" Type="http://schemas.openxmlformats.org/officeDocument/2006/relationships/customXml" Target="../ink/ink8.xml"/><Relationship Id="rId1" Type="http://schemas.openxmlformats.org/officeDocument/2006/relationships/slideLayout" Target="../slideLayouts/slideLayout5.xml"/><Relationship Id="rId6" Type="http://schemas.openxmlformats.org/officeDocument/2006/relationships/image" Target="../media/image6.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image" Target="../media/image10.png"/><Relationship Id="rId10" Type="http://schemas.openxmlformats.org/officeDocument/2006/relationships/image" Target="../media/image8.png"/><Relationship Id="rId4" Type="http://schemas.openxmlformats.org/officeDocument/2006/relationships/image" Target="../media/image5.png"/><Relationship Id="rId9" Type="http://schemas.openxmlformats.org/officeDocument/2006/relationships/customXml" Target="../ink/ink4.xml"/><Relationship Id="rId14" Type="http://schemas.openxmlformats.org/officeDocument/2006/relationships/customXml" Target="../ink/ink7.xml"/></Relationships>
</file>

<file path=ppt/slides/_rels/slide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customXml" Target="../ink/ink9.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3.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6.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270.png"/><Relationship Id="rId2" Type="http://schemas.openxmlformats.org/officeDocument/2006/relationships/notesSlide" Target="../notesSlides/notesSlide3.xml"/><Relationship Id="rId1" Type="http://schemas.openxmlformats.org/officeDocument/2006/relationships/slideLayout" Target="../slideLayouts/slideLayout14.xml"/><Relationship Id="rId6" Type="http://schemas.openxmlformats.org/officeDocument/2006/relationships/customXml" Target="../ink/ink11.xml"/><Relationship Id="rId5" Type="http://schemas.openxmlformats.org/officeDocument/2006/relationships/image" Target="../media/image260.png"/><Relationship Id="rId4" Type="http://schemas.openxmlformats.org/officeDocument/2006/relationships/customXml" Target="../ink/ink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883524" y="488743"/>
            <a:ext cx="10273911" cy="533111"/>
          </a:xfrm>
        </p:spPr>
        <p:txBody>
          <a:bodyPr/>
          <a:lstStyle/>
          <a:p>
            <a:r>
              <a:rPr lang="en-GB"/>
              <a:t>Instructions for Visualization and Analysis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a:xfrm>
            <a:off x="10616400" y="483548"/>
            <a:ext cx="622800" cy="230832"/>
          </a:xfrm>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801759" y="974929"/>
            <a:ext cx="10437439" cy="4524315"/>
          </a:xfrm>
          <a:prstGeom prst="rect">
            <a:avLst/>
          </a:prstGeom>
          <a:noFill/>
        </p:spPr>
        <p:txBody>
          <a:bodyPr wrap="square" lIns="91440" tIns="45720" rIns="91440" bIns="45720" rtlCol="0" anchor="t">
            <a:spAutoFit/>
          </a:bodyPr>
          <a:lstStyle/>
          <a:p>
            <a:r>
              <a:rPr lang="en-GB"/>
              <a:t>You have 3 minutes to present – be ready to share your screen, </a:t>
            </a:r>
            <a:r>
              <a:rPr lang="en-GB" b="1"/>
              <a:t>practice first</a:t>
            </a:r>
            <a:r>
              <a:rPr lang="en-GB"/>
              <a:t>. We can only offer you one opportunity to present.  Present your slides in “Slide Show” mode. Presentations will take place during the module Tutorial slots (see Canvas Announcements for links to join Tutorials via Teams).</a:t>
            </a:r>
          </a:p>
          <a:p>
            <a:endParaRPr lang="en-GB"/>
          </a:p>
          <a:p>
            <a:r>
              <a:rPr lang="en-GB"/>
              <a:t>The next few slides give you all the alternatives for how to present your Visualizations. You will select only </a:t>
            </a:r>
            <a:r>
              <a:rPr lang="en-GB" b="1"/>
              <a:t>one </a:t>
            </a:r>
            <a:r>
              <a:rPr lang="en-GB"/>
              <a:t>as fits your RQ. Before presenting DELETE all text (and instructions) that you do not use (including this slide).  You can then enlarge your selection, so it is clearly visible on the slide.</a:t>
            </a:r>
            <a:endParaRPr lang="en-GB">
              <a:cs typeface="Arial"/>
            </a:endParaRPr>
          </a:p>
          <a:p>
            <a:endParaRPr lang="en-GB"/>
          </a:p>
          <a:p>
            <a:r>
              <a:rPr lang="en-GB"/>
              <a:t>Appointment slots will appear on Canvas soon (calendar-7com1079-24).  Sign up early.  When space runs out, we cannot issue any further slots for this week.  If you do not turn up for your slot you will </a:t>
            </a:r>
            <a:r>
              <a:rPr lang="en-GB" i="1"/>
              <a:t>not</a:t>
            </a:r>
            <a:r>
              <a:rPr lang="en-GB"/>
              <a:t> be given another opportunity. Ideally, all the group members should attend but select one person to present. DO NOT SIGN UP unless one of your group can attend and present. You will not be graded on this.</a:t>
            </a:r>
            <a:endParaRPr lang="en-GB">
              <a:cs typeface="Arial"/>
            </a:endParaRPr>
          </a:p>
          <a:p>
            <a:endParaRPr lang="en-GB"/>
          </a:p>
          <a:p>
            <a:r>
              <a:rPr lang="en-GB"/>
              <a:t>We look forward to giving you feedback.  If your group is not presenting, still attend the tutorial as the feedback will help you too.</a:t>
            </a:r>
            <a:endParaRPr lang="en-GB">
              <a:cs typeface="Arial"/>
            </a:endParaRPr>
          </a:p>
        </p:txBody>
      </p:sp>
      <p:sp>
        <p:nvSpPr>
          <p:cNvPr id="3" name="TextBox 2">
            <a:extLst>
              <a:ext uri="{FF2B5EF4-FFF2-40B4-BE49-F238E27FC236}">
                <a16:creationId xmlns:a16="http://schemas.microsoft.com/office/drawing/2014/main" id="{D6C5DB9A-CB20-AA49-378E-33B58D8775BE}"/>
              </a:ext>
            </a:extLst>
          </p:cNvPr>
          <p:cNvSpPr txBox="1"/>
          <p:nvPr/>
        </p:nvSpPr>
        <p:spPr>
          <a:xfrm>
            <a:off x="4037611" y="5300020"/>
            <a:ext cx="7588264" cy="1200329"/>
          </a:xfrm>
          <a:prstGeom prst="rect">
            <a:avLst/>
          </a:prstGeom>
          <a:noFill/>
        </p:spPr>
        <p:txBody>
          <a:bodyPr wrap="square" lIns="91440" tIns="45720" rIns="91440" bIns="45720" rtlCol="0" anchor="t">
            <a:spAutoFit/>
          </a:bodyPr>
          <a:lstStyle/>
          <a:p>
            <a:r>
              <a:rPr lang="en-GB" i="1" baseline="30000"/>
              <a:t>1</a:t>
            </a:r>
            <a:r>
              <a:rPr lang="en-GB" i="1"/>
              <a:t>At this point we assume you are using your allocated datasets (see group-dataset allocations on Slack Announcements).  Any changes to the Kaggle/</a:t>
            </a:r>
            <a:r>
              <a:rPr lang="en-GB" i="1" err="1"/>
              <a:t>Data.world</a:t>
            </a:r>
            <a:r>
              <a:rPr lang="en-GB" i="1"/>
              <a:t> csv/</a:t>
            </a:r>
            <a:r>
              <a:rPr lang="en-GB" i="1" err="1"/>
              <a:t>xlxs</a:t>
            </a:r>
            <a:r>
              <a:rPr lang="en-GB" i="1"/>
              <a:t> file you make such as merges, grouping, or size reduction must be done via an R script, not manually, not in excel.</a:t>
            </a:r>
            <a:endParaRPr lang="en-GB"/>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51078-2006-2E40-AF72-55CCEEE6A460}"/>
              </a:ext>
            </a:extLst>
          </p:cNvPr>
          <p:cNvSpPr>
            <a:spLocks noGrp="1"/>
          </p:cNvSpPr>
          <p:nvPr>
            <p:ph type="title"/>
          </p:nvPr>
        </p:nvSpPr>
        <p:spPr>
          <a:xfrm>
            <a:off x="1208160" y="395003"/>
            <a:ext cx="10030680" cy="2159640"/>
          </a:xfrm>
        </p:spPr>
        <p:txBody>
          <a:bodyPr>
            <a:normAutofit/>
          </a:bodyPr>
          <a:lstStyle/>
          <a:p>
            <a:r>
              <a:rPr lang="en-US" sz="2700"/>
              <a:t>How your RQ + distribution of data (Histogram) leads to a statistical test. Visualization requirements highlighted in yellow</a:t>
            </a:r>
            <a:r>
              <a:rPr lang="en-US"/>
              <a:t>.</a:t>
            </a:r>
          </a:p>
        </p:txBody>
      </p:sp>
      <p:pic>
        <p:nvPicPr>
          <p:cNvPr id="9" name="Content Placeholder 8">
            <a:extLst>
              <a:ext uri="{FF2B5EF4-FFF2-40B4-BE49-F238E27FC236}">
                <a16:creationId xmlns:a16="http://schemas.microsoft.com/office/drawing/2014/main" id="{1D590E03-8ECA-5BE6-CB34-C7AF162BF6B6}"/>
              </a:ext>
            </a:extLst>
          </p:cNvPr>
          <p:cNvPicPr>
            <a:picLocks noGrp="1" noChangeAspect="1"/>
          </p:cNvPicPr>
          <p:nvPr>
            <p:ph idx="1"/>
          </p:nvPr>
        </p:nvPicPr>
        <p:blipFill>
          <a:blip r:embed="rId2"/>
          <a:stretch>
            <a:fillRect/>
          </a:stretch>
        </p:blipFill>
        <p:spPr>
          <a:xfrm>
            <a:off x="2078182" y="1703508"/>
            <a:ext cx="8035636" cy="3744829"/>
          </a:xfrm>
        </p:spPr>
      </p:pic>
      <p:sp>
        <p:nvSpPr>
          <p:cNvPr id="10" name="TextBox 9">
            <a:extLst>
              <a:ext uri="{FF2B5EF4-FFF2-40B4-BE49-F238E27FC236}">
                <a16:creationId xmlns:a16="http://schemas.microsoft.com/office/drawing/2014/main" id="{67B8FAFF-9EFC-82FC-C196-779A7136586A}"/>
              </a:ext>
            </a:extLst>
          </p:cNvPr>
          <p:cNvSpPr txBox="1"/>
          <p:nvPr/>
        </p:nvSpPr>
        <p:spPr>
          <a:xfrm>
            <a:off x="3479470" y="5852160"/>
            <a:ext cx="6579969"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Figure: Decision tree – how Research Questions relate to Visualizations and Statistical Test.</a:t>
            </a:r>
          </a:p>
        </p:txBody>
      </p:sp>
      <p:sp>
        <p:nvSpPr>
          <p:cNvPr id="11" name="TextBox 10">
            <a:extLst>
              <a:ext uri="{FF2B5EF4-FFF2-40B4-BE49-F238E27FC236}">
                <a16:creationId xmlns:a16="http://schemas.microsoft.com/office/drawing/2014/main" id="{0EC63721-1431-2325-B04C-2CC649E44C04}"/>
              </a:ext>
            </a:extLst>
          </p:cNvPr>
          <p:cNvSpPr txBox="1"/>
          <p:nvPr/>
        </p:nvSpPr>
        <p:spPr>
          <a:xfrm>
            <a:off x="2698865" y="2119746"/>
            <a:ext cx="1885603"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t>Histogram &amp; Scatterplots</a:t>
            </a:r>
          </a:p>
        </p:txBody>
      </p:sp>
      <mc:AlternateContent xmlns:mc="http://schemas.openxmlformats.org/markup-compatibility/2006" xmlns:p14="http://schemas.microsoft.com/office/powerpoint/2010/main">
        <mc:Choice Requires="p14">
          <p:contentPart p14:bwMode="auto" r:id="rId3">
            <p14:nvContentPartPr>
              <p14:cNvPr id="12" name="Ink 11">
                <a:extLst>
                  <a:ext uri="{FF2B5EF4-FFF2-40B4-BE49-F238E27FC236}">
                    <a16:creationId xmlns:a16="http://schemas.microsoft.com/office/drawing/2014/main" id="{3924CA5D-07A4-AA61-3FAE-BB5F24476ED6}"/>
                  </a:ext>
                </a:extLst>
              </p14:cNvPr>
              <p14:cNvContentPartPr/>
              <p14:nvPr/>
            </p14:nvContentPartPr>
            <p14:xfrm>
              <a:off x="2855862" y="2301478"/>
              <a:ext cx="7620" cy="7620"/>
            </p14:xfrm>
          </p:contentPart>
        </mc:Choice>
        <mc:Fallback xmlns="">
          <p:pic>
            <p:nvPicPr>
              <p:cNvPr id="12" name="Ink 11">
                <a:extLst>
                  <a:ext uri="{FF2B5EF4-FFF2-40B4-BE49-F238E27FC236}">
                    <a16:creationId xmlns:a16="http://schemas.microsoft.com/office/drawing/2014/main" id="{3924CA5D-07A4-AA61-3FAE-BB5F24476ED6}"/>
                  </a:ext>
                </a:extLst>
              </p:cNvPr>
              <p:cNvPicPr/>
              <p:nvPr/>
            </p:nvPicPr>
            <p:blipFill>
              <a:blip r:embed="rId4"/>
              <a:stretch>
                <a:fillRect/>
              </a:stretch>
            </p:blipFill>
            <p:spPr>
              <a:xfrm>
                <a:off x="1712862" y="15478"/>
                <a:ext cx="2286000" cy="4572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3" name="Ink 12">
                <a:extLst>
                  <a:ext uri="{FF2B5EF4-FFF2-40B4-BE49-F238E27FC236}">
                    <a16:creationId xmlns:a16="http://schemas.microsoft.com/office/drawing/2014/main" id="{42B4E2DA-3545-4F26-910D-A1F1FE72A47D}"/>
                  </a:ext>
                </a:extLst>
              </p14:cNvPr>
              <p14:cNvContentPartPr/>
              <p14:nvPr/>
            </p14:nvContentPartPr>
            <p14:xfrm>
              <a:off x="2855863" y="2231290"/>
              <a:ext cx="822540" cy="106054"/>
            </p14:xfrm>
          </p:contentPart>
        </mc:Choice>
        <mc:Fallback xmlns="">
          <p:pic>
            <p:nvPicPr>
              <p:cNvPr id="13" name="Ink 12">
                <a:extLst>
                  <a:ext uri="{FF2B5EF4-FFF2-40B4-BE49-F238E27FC236}">
                    <a16:creationId xmlns:a16="http://schemas.microsoft.com/office/drawing/2014/main" id="{42B4E2DA-3545-4F26-910D-A1F1FE72A47D}"/>
                  </a:ext>
                </a:extLst>
              </p:cNvPr>
              <p:cNvPicPr/>
              <p:nvPr/>
            </p:nvPicPr>
            <p:blipFill>
              <a:blip r:embed="rId6"/>
              <a:stretch>
                <a:fillRect/>
              </a:stretch>
            </p:blipFill>
            <p:spPr>
              <a:xfrm>
                <a:off x="2801891" y="2123803"/>
                <a:ext cx="930125" cy="32067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4" name="Ink 13">
                <a:extLst>
                  <a:ext uri="{FF2B5EF4-FFF2-40B4-BE49-F238E27FC236}">
                    <a16:creationId xmlns:a16="http://schemas.microsoft.com/office/drawing/2014/main" id="{C28B2B8B-32E6-E1DC-2824-43836CE9592D}"/>
                  </a:ext>
                </a:extLst>
              </p14:cNvPr>
              <p14:cNvContentPartPr/>
              <p14:nvPr/>
            </p14:nvContentPartPr>
            <p14:xfrm>
              <a:off x="2827288" y="2415047"/>
              <a:ext cx="912316" cy="39245"/>
            </p14:xfrm>
          </p:contentPart>
        </mc:Choice>
        <mc:Fallback xmlns="">
          <p:pic>
            <p:nvPicPr>
              <p:cNvPr id="14" name="Ink 13">
                <a:extLst>
                  <a:ext uri="{FF2B5EF4-FFF2-40B4-BE49-F238E27FC236}">
                    <a16:creationId xmlns:a16="http://schemas.microsoft.com/office/drawing/2014/main" id="{C28B2B8B-32E6-E1DC-2824-43836CE9592D}"/>
                  </a:ext>
                </a:extLst>
              </p:cNvPr>
              <p:cNvPicPr/>
              <p:nvPr/>
            </p:nvPicPr>
            <p:blipFill>
              <a:blip r:embed="rId8"/>
              <a:stretch>
                <a:fillRect/>
              </a:stretch>
            </p:blipFill>
            <p:spPr>
              <a:xfrm>
                <a:off x="2773305" y="2308015"/>
                <a:ext cx="1019923" cy="252952"/>
              </a:xfrm>
              <a:prstGeom prst="rect">
                <a:avLst/>
              </a:prstGeom>
            </p:spPr>
          </p:pic>
        </mc:Fallback>
      </mc:AlternateContent>
      <p:sp>
        <p:nvSpPr>
          <p:cNvPr id="15" name="TextBox 14">
            <a:extLst>
              <a:ext uri="{FF2B5EF4-FFF2-40B4-BE49-F238E27FC236}">
                <a16:creationId xmlns:a16="http://schemas.microsoft.com/office/drawing/2014/main" id="{5B0C8B1B-7E1B-7A4E-48E5-1AC79152D134}"/>
              </a:ext>
            </a:extLst>
          </p:cNvPr>
          <p:cNvSpPr txBox="1"/>
          <p:nvPr/>
        </p:nvSpPr>
        <p:spPr>
          <a:xfrm>
            <a:off x="2942697" y="3249126"/>
            <a:ext cx="1283623"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t>Histogram and Boxplots</a:t>
            </a:r>
          </a:p>
        </p:txBody>
      </p:sp>
      <p:sp>
        <p:nvSpPr>
          <p:cNvPr id="18" name="TextBox 17">
            <a:extLst>
              <a:ext uri="{FF2B5EF4-FFF2-40B4-BE49-F238E27FC236}">
                <a16:creationId xmlns:a16="http://schemas.microsoft.com/office/drawing/2014/main" id="{9FF5E8DC-C47C-03F2-66AD-3721C5D6A78C}"/>
              </a:ext>
            </a:extLst>
          </p:cNvPr>
          <p:cNvSpPr txBox="1"/>
          <p:nvPr/>
        </p:nvSpPr>
        <p:spPr>
          <a:xfrm>
            <a:off x="3343620" y="4850346"/>
            <a:ext cx="1366404"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t>Stacked bar chart (no histogram)</a:t>
            </a:r>
          </a:p>
        </p:txBody>
      </p:sp>
      <mc:AlternateContent xmlns:mc="http://schemas.openxmlformats.org/markup-compatibility/2006" xmlns:p14="http://schemas.microsoft.com/office/powerpoint/2010/main">
        <mc:Choice Requires="p14">
          <p:contentPart p14:bwMode="auto" r:id="rId9">
            <p14:nvContentPartPr>
              <p14:cNvPr id="23" name="Ink 22">
                <a:extLst>
                  <a:ext uri="{FF2B5EF4-FFF2-40B4-BE49-F238E27FC236}">
                    <a16:creationId xmlns:a16="http://schemas.microsoft.com/office/drawing/2014/main" id="{8E710C2C-67A8-8083-7A21-4B4E128F5D61}"/>
                  </a:ext>
                </a:extLst>
              </p14:cNvPr>
              <p14:cNvContentPartPr/>
              <p14:nvPr/>
            </p14:nvContentPartPr>
            <p14:xfrm>
              <a:off x="3343620" y="4971248"/>
              <a:ext cx="836960" cy="117475"/>
            </p14:xfrm>
          </p:contentPart>
        </mc:Choice>
        <mc:Fallback xmlns="">
          <p:pic>
            <p:nvPicPr>
              <p:cNvPr id="23" name="Ink 22">
                <a:extLst>
                  <a:ext uri="{FF2B5EF4-FFF2-40B4-BE49-F238E27FC236}">
                    <a16:creationId xmlns:a16="http://schemas.microsoft.com/office/drawing/2014/main" id="{8E710C2C-67A8-8083-7A21-4B4E128F5D61}"/>
                  </a:ext>
                </a:extLst>
              </p:cNvPr>
              <p:cNvPicPr/>
              <p:nvPr/>
            </p:nvPicPr>
            <p:blipFill>
              <a:blip r:embed="rId10"/>
              <a:stretch>
                <a:fillRect/>
              </a:stretch>
            </p:blipFill>
            <p:spPr>
              <a:xfrm>
                <a:off x="3289646" y="4863473"/>
                <a:ext cx="944549" cy="332666"/>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9D5AB4C3-0CDD-8D40-FE3C-0D26691C3E41}"/>
                  </a:ext>
                </a:extLst>
              </p14:cNvPr>
              <p14:cNvContentPartPr/>
              <p14:nvPr/>
            </p14:nvContentPartPr>
            <p14:xfrm>
              <a:off x="3495097" y="5326544"/>
              <a:ext cx="366611" cy="145562"/>
            </p14:xfrm>
          </p:contentPart>
        </mc:Choice>
        <mc:Fallback xmlns="">
          <p:pic>
            <p:nvPicPr>
              <p:cNvPr id="24" name="Ink 23">
                <a:extLst>
                  <a:ext uri="{FF2B5EF4-FFF2-40B4-BE49-F238E27FC236}">
                    <a16:creationId xmlns:a16="http://schemas.microsoft.com/office/drawing/2014/main" id="{9D5AB4C3-0CDD-8D40-FE3C-0D26691C3E41}"/>
                  </a:ext>
                </a:extLst>
              </p:cNvPr>
              <p:cNvPicPr/>
              <p:nvPr/>
            </p:nvPicPr>
            <p:blipFill>
              <a:blip r:embed="rId12"/>
              <a:stretch>
                <a:fillRect/>
              </a:stretch>
            </p:blipFill>
            <p:spPr>
              <a:xfrm>
                <a:off x="3441131" y="5218720"/>
                <a:ext cx="474184" cy="36085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5" name="Ink 24">
                <a:extLst>
                  <a:ext uri="{FF2B5EF4-FFF2-40B4-BE49-F238E27FC236}">
                    <a16:creationId xmlns:a16="http://schemas.microsoft.com/office/drawing/2014/main" id="{2D295DB2-15F6-8261-D98C-9BB0D8E48C45}"/>
                  </a:ext>
                </a:extLst>
              </p14:cNvPr>
              <p14:cNvContentPartPr/>
              <p14:nvPr/>
            </p14:nvContentPartPr>
            <p14:xfrm>
              <a:off x="2836812" y="3568303"/>
              <a:ext cx="7620" cy="7620"/>
            </p14:xfrm>
          </p:contentPart>
        </mc:Choice>
        <mc:Fallback xmlns="">
          <p:pic>
            <p:nvPicPr>
              <p:cNvPr id="25" name="Ink 24">
                <a:extLst>
                  <a:ext uri="{FF2B5EF4-FFF2-40B4-BE49-F238E27FC236}">
                    <a16:creationId xmlns:a16="http://schemas.microsoft.com/office/drawing/2014/main" id="{2D295DB2-15F6-8261-D98C-9BB0D8E48C45}"/>
                  </a:ext>
                </a:extLst>
              </p:cNvPr>
              <p:cNvPicPr/>
              <p:nvPr/>
            </p:nvPicPr>
            <p:blipFill>
              <a:blip r:embed="rId4"/>
              <a:stretch>
                <a:fillRect/>
              </a:stretch>
            </p:blipFill>
            <p:spPr>
              <a:xfrm>
                <a:off x="1693812" y="1282303"/>
                <a:ext cx="2286000" cy="45720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6" name="Ink 25">
                <a:extLst>
                  <a:ext uri="{FF2B5EF4-FFF2-40B4-BE49-F238E27FC236}">
                    <a16:creationId xmlns:a16="http://schemas.microsoft.com/office/drawing/2014/main" id="{BF419222-61F1-A278-036B-6186A7DBD041}"/>
                  </a:ext>
                </a:extLst>
              </p14:cNvPr>
              <p14:cNvContentPartPr/>
              <p14:nvPr/>
            </p14:nvContentPartPr>
            <p14:xfrm>
              <a:off x="2942697" y="3323665"/>
              <a:ext cx="997984" cy="334667"/>
            </p14:xfrm>
          </p:contentPart>
        </mc:Choice>
        <mc:Fallback xmlns="">
          <p:pic>
            <p:nvPicPr>
              <p:cNvPr id="26" name="Ink 25">
                <a:extLst>
                  <a:ext uri="{FF2B5EF4-FFF2-40B4-BE49-F238E27FC236}">
                    <a16:creationId xmlns:a16="http://schemas.microsoft.com/office/drawing/2014/main" id="{BF419222-61F1-A278-036B-6186A7DBD041}"/>
                  </a:ext>
                </a:extLst>
              </p:cNvPr>
              <p:cNvPicPr/>
              <p:nvPr/>
            </p:nvPicPr>
            <p:blipFill>
              <a:blip r:embed="rId15"/>
              <a:stretch>
                <a:fillRect/>
              </a:stretch>
            </p:blipFill>
            <p:spPr>
              <a:xfrm>
                <a:off x="2888713" y="3215708"/>
                <a:ext cx="1105592" cy="550221"/>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8" name="Ink 27">
                <a:extLst>
                  <a:ext uri="{FF2B5EF4-FFF2-40B4-BE49-F238E27FC236}">
                    <a16:creationId xmlns:a16="http://schemas.microsoft.com/office/drawing/2014/main" id="{58E89214-72D4-68F8-89D3-DB2438E58609}"/>
                  </a:ext>
                </a:extLst>
              </p14:cNvPr>
              <p14:cNvContentPartPr/>
              <p14:nvPr/>
            </p14:nvContentPartPr>
            <p14:xfrm>
              <a:off x="3495097" y="6237656"/>
              <a:ext cx="1265620" cy="97352"/>
            </p14:xfrm>
          </p:contentPart>
        </mc:Choice>
        <mc:Fallback xmlns="">
          <p:pic>
            <p:nvPicPr>
              <p:cNvPr id="28" name="Ink 27">
                <a:extLst>
                  <a:ext uri="{FF2B5EF4-FFF2-40B4-BE49-F238E27FC236}">
                    <a16:creationId xmlns:a16="http://schemas.microsoft.com/office/drawing/2014/main" id="{58E89214-72D4-68F8-89D3-DB2438E58609}"/>
                  </a:ext>
                </a:extLst>
              </p:cNvPr>
              <p:cNvPicPr/>
              <p:nvPr/>
            </p:nvPicPr>
            <p:blipFill>
              <a:blip r:embed="rId17"/>
              <a:stretch>
                <a:fillRect/>
              </a:stretch>
            </p:blipFill>
            <p:spPr>
              <a:xfrm>
                <a:off x="3441118" y="6130282"/>
                <a:ext cx="1373217" cy="311741"/>
              </a:xfrm>
              <a:prstGeom prst="rect">
                <a:avLst/>
              </a:prstGeom>
            </p:spPr>
          </p:pic>
        </mc:Fallback>
      </mc:AlternateContent>
    </p:spTree>
    <p:extLst>
      <p:ext uri="{BB962C8B-B14F-4D97-AF65-F5344CB8AC3E}">
        <p14:creationId xmlns:p14="http://schemas.microsoft.com/office/powerpoint/2010/main" val="8899042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Visualization and Analysis – </a:t>
            </a:r>
            <a:br>
              <a:rPr lang="en-US" dirty="0"/>
            </a:br>
            <a:r>
              <a:rPr lang="en-US" sz="4000" dirty="0"/>
              <a:t>Tutorial Presentation for Feedback</a:t>
            </a:r>
            <a:br>
              <a:rPr lang="en-US" sz="4000" dirty="0"/>
            </a:br>
            <a:r>
              <a:rPr lang="en-US" sz="2200" dirty="0"/>
              <a:t>Date: 1/12/2025</a:t>
            </a:r>
            <a:br>
              <a:rPr lang="en-US" sz="8000" dirty="0"/>
            </a:br>
            <a:endParaRPr lang="en-US" dirty="0"/>
          </a:p>
        </p:txBody>
      </p:sp>
      <p:sp>
        <p:nvSpPr>
          <p:cNvPr id="5" name="Slide Number Placeholder 4">
            <a:extLst>
              <a:ext uri="{FF2B5EF4-FFF2-40B4-BE49-F238E27FC236}">
                <a16:creationId xmlns:a16="http://schemas.microsoft.com/office/drawing/2014/main" id="{6B584311-58F1-BD4D-8FED-50D72C3DED34}"/>
              </a:ext>
            </a:extLst>
          </p:cNvPr>
          <p:cNvSpPr>
            <a:spLocks noGrp="1"/>
          </p:cNvSpPr>
          <p:nvPr>
            <p:ph type="sldNum" sz="quarter" idx="12"/>
          </p:nvPr>
        </p:nvSpPr>
        <p:spPr/>
        <p:txBody>
          <a:bodyPr/>
          <a:lstStyle/>
          <a:p>
            <a:fld id="{E4D355CA-84B7-41B1-B164-8BB439CC7C6B}" type="slidenum">
              <a:rPr lang="en-GB" smtClean="0"/>
              <a:pPr/>
              <a:t>3</a:t>
            </a:fld>
            <a:endParaRPr lang="en-GB"/>
          </a:p>
        </p:txBody>
      </p:sp>
      <p:sp>
        <p:nvSpPr>
          <p:cNvPr id="6" name="Footer Placeholder 3">
            <a:extLst>
              <a:ext uri="{FF2B5EF4-FFF2-40B4-BE49-F238E27FC236}">
                <a16:creationId xmlns:a16="http://schemas.microsoft.com/office/drawing/2014/main" id="{1703AA78-8B84-1E0B-EE02-8E877CBE4697}"/>
              </a:ext>
            </a:extLst>
          </p:cNvPr>
          <p:cNvSpPr>
            <a:spLocks noGrp="1"/>
          </p:cNvSpPr>
          <p:nvPr>
            <p:ph type="ftr" sz="quarter" idx="11"/>
          </p:nvPr>
        </p:nvSpPr>
        <p:spPr>
          <a:xfrm>
            <a:off x="965289" y="274320"/>
            <a:ext cx="10455567" cy="736245"/>
          </a:xfrm>
        </p:spPr>
        <p:txBody>
          <a:bodyPr/>
          <a:lstStyle/>
          <a:p>
            <a:pPr algn="r"/>
            <a:r>
              <a:rPr lang="en-GB" dirty="0"/>
              <a:t>7COM1079-2025  Student Group No: group A 103         Names of Student Attendees : Dhanashree, Meghana, Moulika, Jaswanth, Surendra</a:t>
            </a:r>
          </a:p>
        </p:txBody>
      </p:sp>
      <p:sp>
        <p:nvSpPr>
          <p:cNvPr id="9" name="Subtitle 2">
            <a:extLst>
              <a:ext uri="{FF2B5EF4-FFF2-40B4-BE49-F238E27FC236}">
                <a16:creationId xmlns:a16="http://schemas.microsoft.com/office/drawing/2014/main" id="{BDCC648D-7D03-7D8F-690A-39C744805D0A}"/>
              </a:ext>
            </a:extLst>
          </p:cNvPr>
          <p:cNvSpPr txBox="1">
            <a:spLocks/>
          </p:cNvSpPr>
          <p:nvPr/>
        </p:nvSpPr>
        <p:spPr>
          <a:xfrm>
            <a:off x="954000" y="1734552"/>
            <a:ext cx="10192536" cy="360000"/>
          </a:xfrm>
          <a:prstGeom prst="rect">
            <a:avLst/>
          </a:prstGeom>
        </p:spPr>
        <p:txBody>
          <a:bodyPr vert="horz" lIns="0" tIns="0" rIns="0" bIns="0" rtlCol="0">
            <a:noAutofit/>
          </a:bodyPr>
          <a:lstStyle>
            <a:lvl1pPr marL="0" indent="0" algn="l" defTabSz="914400" rtl="0" eaLnBrk="1" latinLnBrk="0" hangingPunct="1">
              <a:lnSpc>
                <a:spcPts val="2880"/>
              </a:lnSpc>
              <a:spcBef>
                <a:spcPts val="0"/>
              </a:spcBef>
              <a:spcAft>
                <a:spcPts val="992"/>
              </a:spcAft>
              <a:buFont typeface="Arial" panose="020B0604020202020204" pitchFamily="34" charset="0"/>
              <a:buNone/>
              <a:defRPr sz="3600" b="1" kern="3000" spc="-100" baseline="0">
                <a:solidFill>
                  <a:schemeClr val="bg1"/>
                </a:solidFill>
                <a:latin typeface="+mn-lt"/>
                <a:ea typeface="+mn-ea"/>
                <a:cs typeface="+mn-cs"/>
              </a:defRPr>
            </a:lvl1pPr>
            <a:lvl2pPr marL="457200" indent="0" algn="ctr" defTabSz="914400" rtl="0" eaLnBrk="1" latinLnBrk="0" hangingPunct="1">
              <a:lnSpc>
                <a:spcPts val="2880"/>
              </a:lnSpc>
              <a:spcBef>
                <a:spcPts val="0"/>
              </a:spcBef>
              <a:spcAft>
                <a:spcPts val="992"/>
              </a:spcAft>
              <a:buFont typeface="Arial" panose="020B0604020202020204" pitchFamily="34" charset="0"/>
              <a:buNone/>
              <a:defRPr sz="2000" kern="2000" spc="-100" baseline="0">
                <a:solidFill>
                  <a:srgbClr val="203232"/>
                </a:solidFill>
                <a:latin typeface="+mn-lt"/>
                <a:ea typeface="+mn-ea"/>
                <a:cs typeface="+mn-cs"/>
              </a:defRPr>
            </a:lvl2pPr>
            <a:lvl3pPr marL="914400" indent="0" algn="ctr" defTabSz="914400" rtl="0" eaLnBrk="1" latinLnBrk="0" hangingPunct="1">
              <a:lnSpc>
                <a:spcPts val="2880"/>
              </a:lnSpc>
              <a:spcBef>
                <a:spcPts val="0"/>
              </a:spcBef>
              <a:spcAft>
                <a:spcPts val="992"/>
              </a:spcAft>
              <a:buFont typeface="Arial" panose="020B0604020202020204" pitchFamily="34" charset="0"/>
              <a:buNone/>
              <a:defRPr sz="1800" kern="2000" spc="-100" baseline="0">
                <a:solidFill>
                  <a:srgbClr val="203232"/>
                </a:solidFill>
                <a:latin typeface="+mn-lt"/>
                <a:ea typeface="+mn-ea"/>
                <a:cs typeface="+mn-cs"/>
              </a:defRPr>
            </a:lvl3pPr>
            <a:lvl4pPr marL="1371600" indent="0" algn="ctr" defTabSz="914400" rtl="0" eaLnBrk="1" latinLnBrk="0" hangingPunct="1">
              <a:lnSpc>
                <a:spcPts val="2160"/>
              </a:lnSpc>
              <a:spcBef>
                <a:spcPts val="0"/>
              </a:spcBef>
              <a:buFont typeface="Arial" panose="020B0604020202020204" pitchFamily="34" charset="0"/>
              <a:buNone/>
              <a:defRPr sz="1600" kern="1200">
                <a:solidFill>
                  <a:srgbClr val="203232"/>
                </a:solidFill>
                <a:latin typeface="+mn-lt"/>
                <a:ea typeface="+mn-ea"/>
                <a:cs typeface="+mn-cs"/>
              </a:defRPr>
            </a:lvl4pPr>
            <a:lvl5pPr marL="1828800" indent="0" algn="ctr" defTabSz="914400" rtl="0" eaLnBrk="1" latinLnBrk="0" hangingPunct="1">
              <a:lnSpc>
                <a:spcPts val="2160"/>
              </a:lnSpc>
              <a:spcBef>
                <a:spcPts val="0"/>
              </a:spcBef>
              <a:buFont typeface="Arial" panose="020B0604020202020204" pitchFamily="34" charset="0"/>
              <a:buNone/>
              <a:defRPr sz="1600" b="1" kern="1200">
                <a:solidFill>
                  <a:srgbClr val="203232"/>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000" dirty="0"/>
              <a:t>Group Name: A 103                                                           Name of Student Presenting: Dhanashree</a:t>
            </a:r>
          </a:p>
        </p:txBody>
      </p:sp>
    </p:spTree>
    <p:extLst>
      <p:ext uri="{BB962C8B-B14F-4D97-AF65-F5344CB8AC3E}">
        <p14:creationId xmlns:p14="http://schemas.microsoft.com/office/powerpoint/2010/main" val="41485325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31262B9-84B0-C1A5-543C-8FA0F2459C07}"/>
              </a:ext>
            </a:extLst>
          </p:cNvPr>
          <p:cNvSpPr>
            <a:spLocks noGrp="1"/>
          </p:cNvSpPr>
          <p:nvPr>
            <p:ph type="subTitle" idx="1"/>
          </p:nvPr>
        </p:nvSpPr>
        <p:spPr>
          <a:xfrm>
            <a:off x="942200" y="541795"/>
            <a:ext cx="7200000" cy="360000"/>
          </a:xfrm>
        </p:spPr>
        <p:txBody>
          <a:bodyPr/>
          <a:lstStyle/>
          <a:p>
            <a:r>
              <a:rPr lang="en-US" dirty="0"/>
              <a:t>Part 1: VISUALISATION</a:t>
            </a:r>
            <a:endParaRPr lang="en-GB" dirty="0"/>
          </a:p>
        </p:txBody>
      </p:sp>
      <p:sp>
        <p:nvSpPr>
          <p:cNvPr id="3" name="Footer Placeholder 2">
            <a:extLst>
              <a:ext uri="{FF2B5EF4-FFF2-40B4-BE49-F238E27FC236}">
                <a16:creationId xmlns:a16="http://schemas.microsoft.com/office/drawing/2014/main" id="{AA8750A5-C5AD-CEC8-7CD5-C4412264CC71}"/>
              </a:ext>
            </a:extLst>
          </p:cNvPr>
          <p:cNvSpPr>
            <a:spLocks noGrp="1"/>
          </p:cNvSpPr>
          <p:nvPr>
            <p:ph type="ftr" sz="quarter" idx="11"/>
          </p:nvPr>
        </p:nvSpPr>
        <p:spPr>
          <a:xfrm>
            <a:off x="965289" y="132654"/>
            <a:ext cx="7176911" cy="230832"/>
          </a:xfrm>
        </p:spPr>
        <p:txBody>
          <a:bodyPr/>
          <a:lstStyle/>
          <a:p>
            <a:r>
              <a:rPr lang="en-US" sz="1600" dirty="0"/>
              <a:t>Visualization and Analysis – Tutorial Presentation For Feedback</a:t>
            </a:r>
            <a:endParaRPr lang="en-GB" sz="1600" dirty="0"/>
          </a:p>
        </p:txBody>
      </p:sp>
      <p:sp>
        <p:nvSpPr>
          <p:cNvPr id="4" name="Slide Number Placeholder 3">
            <a:extLst>
              <a:ext uri="{FF2B5EF4-FFF2-40B4-BE49-F238E27FC236}">
                <a16:creationId xmlns:a16="http://schemas.microsoft.com/office/drawing/2014/main" id="{2B0B5058-8385-6382-3B48-5ADE78EDFDAD}"/>
              </a:ext>
            </a:extLst>
          </p:cNvPr>
          <p:cNvSpPr>
            <a:spLocks noGrp="1"/>
          </p:cNvSpPr>
          <p:nvPr>
            <p:ph type="sldNum" sz="quarter" idx="12"/>
          </p:nvPr>
        </p:nvSpPr>
        <p:spPr/>
        <p:txBody>
          <a:bodyPr/>
          <a:lstStyle/>
          <a:p>
            <a:fld id="{E4D355CA-84B7-41B1-B164-8BB439CC7C6B}" type="slidenum">
              <a:rPr lang="en-GB" smtClean="0"/>
              <a:pPr/>
              <a:t>4</a:t>
            </a:fld>
            <a:endParaRPr lang="en-GB"/>
          </a:p>
        </p:txBody>
      </p:sp>
      <p:pic>
        <p:nvPicPr>
          <p:cNvPr id="6" name="Picture 5">
            <a:extLst>
              <a:ext uri="{FF2B5EF4-FFF2-40B4-BE49-F238E27FC236}">
                <a16:creationId xmlns:a16="http://schemas.microsoft.com/office/drawing/2014/main" id="{DCF66C0D-E743-BB3F-950E-D5B08D4DE534}"/>
              </a:ext>
            </a:extLst>
          </p:cNvPr>
          <p:cNvPicPr>
            <a:picLocks noChangeAspect="1"/>
          </p:cNvPicPr>
          <p:nvPr/>
        </p:nvPicPr>
        <p:blipFill>
          <a:blip r:embed="rId2"/>
          <a:stretch>
            <a:fillRect/>
          </a:stretch>
        </p:blipFill>
        <p:spPr>
          <a:xfrm>
            <a:off x="1204525" y="1493301"/>
            <a:ext cx="4706742" cy="3450210"/>
          </a:xfrm>
          <a:prstGeom prst="rect">
            <a:avLst/>
          </a:prstGeom>
        </p:spPr>
      </p:pic>
      <p:pic>
        <p:nvPicPr>
          <p:cNvPr id="7" name="Picture 6">
            <a:extLst>
              <a:ext uri="{FF2B5EF4-FFF2-40B4-BE49-F238E27FC236}">
                <a16:creationId xmlns:a16="http://schemas.microsoft.com/office/drawing/2014/main" id="{81BBA3A1-8AAB-8235-B27E-9074579FE9AF}"/>
              </a:ext>
            </a:extLst>
          </p:cNvPr>
          <p:cNvPicPr>
            <a:picLocks noChangeAspect="1"/>
          </p:cNvPicPr>
          <p:nvPr/>
        </p:nvPicPr>
        <p:blipFill>
          <a:blip r:embed="rId3"/>
          <a:stretch>
            <a:fillRect/>
          </a:stretch>
        </p:blipFill>
        <p:spPr>
          <a:xfrm>
            <a:off x="6478615" y="1367909"/>
            <a:ext cx="3905956" cy="3575602"/>
          </a:xfrm>
          <a:prstGeom prst="rect">
            <a:avLst/>
          </a:prstGeom>
        </p:spPr>
      </p:pic>
    </p:spTree>
    <p:extLst>
      <p:ext uri="{BB962C8B-B14F-4D97-AF65-F5344CB8AC3E}">
        <p14:creationId xmlns:p14="http://schemas.microsoft.com/office/powerpoint/2010/main" val="2339144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56144" y="980053"/>
            <a:ext cx="10110240" cy="588024"/>
          </a:xfrm>
        </p:spPr>
        <p:txBody>
          <a:bodyPr/>
          <a:lstStyle/>
          <a:p>
            <a:r>
              <a:rPr lang="en-US" sz="2400" b="0" dirty="0">
                <a:latin typeface="Calibri" panose="020F0502020204030204" pitchFamily="34" charset="0"/>
                <a:cs typeface="Calibri" panose="020F0502020204030204" pitchFamily="34" charset="0"/>
              </a:rPr>
              <a:t>We are using the dataset</a:t>
            </a:r>
            <a:r>
              <a:rPr lang="en-US" sz="2400" b="0" dirty="0">
                <a:solidFill>
                  <a:srgbClr val="FF0000"/>
                </a:solidFill>
                <a:latin typeface="Calibri" panose="020F0502020204030204" pitchFamily="34" charset="0"/>
                <a:cs typeface="Calibri" panose="020F0502020204030204" pitchFamily="34" charset="0"/>
              </a:rPr>
              <a:t>  </a:t>
            </a:r>
            <a:r>
              <a:rPr lang="en-US" sz="2400" dirty="0">
                <a:solidFill>
                  <a:srgbClr val="FF0000"/>
                </a:solidFill>
                <a:latin typeface="Calibri" panose="020F0502020204030204" pitchFamily="34" charset="0"/>
                <a:cs typeface="Calibri" panose="020F0502020204030204" pitchFamily="34" charset="0"/>
              </a:rPr>
              <a:t>ds118 – all_grains_data.csv</a:t>
            </a:r>
            <a:r>
              <a:rPr lang="en-US" sz="2400" b="0" dirty="0">
                <a:solidFill>
                  <a:schemeClr val="tx1"/>
                </a:solidFill>
                <a:latin typeface="Calibri" panose="020F0502020204030204" pitchFamily="34" charset="0"/>
                <a:cs typeface="Calibri" panose="020F0502020204030204" pitchFamily="34" charset="0"/>
              </a:rPr>
              <a:t> to answer our Research Question  </a:t>
            </a:r>
          </a:p>
          <a:p>
            <a:r>
              <a:rPr lang="en-US" sz="2400" b="0" dirty="0">
                <a:solidFill>
                  <a:srgbClr val="FF0000"/>
                </a:solidFill>
                <a:latin typeface="Calibri" panose="020F0502020204030204" pitchFamily="34" charset="0"/>
                <a:cs typeface="Calibri" panose="020F0502020204030204" pitchFamily="34" charset="0"/>
              </a:rPr>
              <a:t>“</a:t>
            </a:r>
            <a:r>
              <a:rPr lang="en-IE" sz="2400" b="0" spc="-150" dirty="0">
                <a:latin typeface="Calibri"/>
                <a:ea typeface="Calibri" panose="020F0502020204030204" pitchFamily="34" charset="0"/>
                <a:cs typeface="Times New Roman"/>
              </a:rPr>
              <a:t>Is there a difference in the average of </a:t>
            </a:r>
            <a:r>
              <a:rPr lang="en-IE" sz="2400" b="0" spc="-150" dirty="0">
                <a:solidFill>
                  <a:srgbClr val="0070C0"/>
                </a:solidFill>
                <a:latin typeface="Calibri"/>
                <a:ea typeface="Calibri" panose="020F0502020204030204" pitchFamily="34" charset="0"/>
                <a:cs typeface="Times New Roman"/>
              </a:rPr>
              <a:t>closing price </a:t>
            </a:r>
            <a:r>
              <a:rPr lang="en-IE" sz="2400" b="0" spc="-150" dirty="0">
                <a:latin typeface="Calibri"/>
                <a:ea typeface="Calibri" panose="020F0502020204030204" pitchFamily="34" charset="0"/>
                <a:cs typeface="Times New Roman"/>
              </a:rPr>
              <a:t>between </a:t>
            </a:r>
            <a:r>
              <a:rPr lang="en-IE" sz="2400" b="0" spc="-150" dirty="0">
                <a:solidFill>
                  <a:srgbClr val="0070C0"/>
                </a:solidFill>
                <a:latin typeface="Calibri"/>
                <a:ea typeface="Calibri" panose="020F0502020204030204" pitchFamily="34" charset="0"/>
                <a:cs typeface="Times New Roman"/>
              </a:rPr>
              <a:t>the crops produced </a:t>
            </a:r>
            <a:r>
              <a:rPr lang="en-IE" sz="2400" b="0" spc="-150" dirty="0">
                <a:latin typeface="Calibri"/>
                <a:ea typeface="Calibri" panose="020F0502020204030204" pitchFamily="34" charset="0"/>
                <a:cs typeface="Times New Roman"/>
              </a:rPr>
              <a:t>like</a:t>
            </a:r>
            <a:r>
              <a:rPr lang="en-IE" sz="2400" b="0" spc="-150" dirty="0">
                <a:solidFill>
                  <a:srgbClr val="0070C0"/>
                </a:solidFill>
                <a:latin typeface="Calibri"/>
                <a:ea typeface="Calibri" panose="020F0502020204030204" pitchFamily="34" charset="0"/>
                <a:cs typeface="Times New Roman"/>
              </a:rPr>
              <a:t> </a:t>
            </a:r>
            <a:r>
              <a:rPr lang="en-IE" sz="2400" b="0" i="1" spc="-150" dirty="0">
                <a:latin typeface="Calibri"/>
                <a:ea typeface="Calibri" panose="020F0502020204030204" pitchFamily="34" charset="0"/>
                <a:cs typeface="Times New Roman"/>
              </a:rPr>
              <a:t>rough rice </a:t>
            </a:r>
            <a:r>
              <a:rPr lang="en-IE" sz="2400" b="0" spc="-150" dirty="0">
                <a:latin typeface="Calibri"/>
                <a:ea typeface="Calibri" panose="020F0502020204030204" pitchFamily="34" charset="0"/>
                <a:cs typeface="Times New Roman"/>
              </a:rPr>
              <a:t>and </a:t>
            </a:r>
            <a:r>
              <a:rPr lang="en-IE" sz="2400" b="0" i="1" spc="-150" dirty="0">
                <a:latin typeface="Calibri"/>
                <a:ea typeface="Calibri" panose="020F0502020204030204" pitchFamily="34" charset="0"/>
                <a:cs typeface="Times New Roman"/>
              </a:rPr>
              <a:t>oats </a:t>
            </a:r>
            <a:r>
              <a:rPr lang="en-IE" sz="2400" b="0" spc="-150" dirty="0">
                <a:latin typeface="Calibri"/>
                <a:ea typeface="Calibri" panose="020F0502020204030204" pitchFamily="34" charset="0"/>
                <a:cs typeface="Times New Roman"/>
              </a:rPr>
              <a:t>grown in a particular country from 2000 to 2024?</a:t>
            </a:r>
            <a:r>
              <a:rPr lang="en-US" sz="2400" b="0" dirty="0">
                <a:solidFill>
                  <a:srgbClr val="FF0000"/>
                </a:solidFill>
                <a:latin typeface="Calibri" panose="020F0502020204030204" pitchFamily="34" charset="0"/>
                <a:cs typeface="Calibri" panose="020F0502020204030204" pitchFamily="34" charset="0"/>
              </a:rPr>
              <a:t>”</a:t>
            </a:r>
            <a:endParaRPr lang="en-US" sz="2400" baseline="30000" dirty="0">
              <a:solidFill>
                <a:schemeClr val="tx1"/>
              </a:solidFill>
              <a:latin typeface="Calibri" panose="020F0502020204030204" pitchFamily="34" charset="0"/>
              <a:cs typeface="Calibri" panose="020F0502020204030204" pitchFamily="34" charset="0"/>
            </a:endParaRPr>
          </a:p>
          <a:p>
            <a:br>
              <a:rPr lang="en-US" sz="2400" b="0" dirty="0">
                <a:solidFill>
                  <a:srgbClr val="FF0000"/>
                </a:solidFill>
                <a:latin typeface="Calibri" panose="020F0502020204030204" pitchFamily="34" charset="0"/>
                <a:cs typeface="Calibri" panose="020F0502020204030204" pitchFamily="34" charset="0"/>
              </a:rPr>
            </a:br>
            <a:endParaRPr lang="en-US" sz="2400" dirty="0">
              <a:solidFill>
                <a:schemeClr val="tx1"/>
              </a:solidFill>
              <a:latin typeface="Calibri" panose="020F0502020204030204" pitchFamily="34" charset="0"/>
              <a:cs typeface="Calibri" panose="020F0502020204030204" pitchFamily="34" charset="0"/>
            </a:endParaRP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397830"/>
            <a:ext cx="10110240" cy="86802"/>
          </a:xfrm>
        </p:spPr>
        <p:txBody>
          <a:bodyPr/>
          <a:lstStyle/>
          <a:p>
            <a:pPr algn="r"/>
            <a:r>
              <a:rPr lang="en-GB" dirty="0"/>
              <a:t>7COM1079-2025  Student Group No:   A 103                 Names of Student Group Attendees: Dhanashree, Meghana, Moulika, Jaswanth, Surendra</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p:txBody>
          <a:bodyPr/>
          <a:lstStyle/>
          <a:p>
            <a:fld id="{E4D355CA-84B7-41B1-B164-8BB439CC7C6B}" type="slidenum">
              <a:rPr lang="en-GB" smtClean="0"/>
              <a:pPr/>
              <a:t>5</a:t>
            </a:fld>
            <a:endParaRPr lang="en-GB"/>
          </a:p>
        </p:txBody>
      </p:sp>
      <p:sp>
        <p:nvSpPr>
          <p:cNvPr id="17" name="TextBox 16">
            <a:extLst>
              <a:ext uri="{FF2B5EF4-FFF2-40B4-BE49-F238E27FC236}">
                <a16:creationId xmlns:a16="http://schemas.microsoft.com/office/drawing/2014/main" id="{02FDD890-F323-BC39-8E76-43B2265D0104}"/>
              </a:ext>
            </a:extLst>
          </p:cNvPr>
          <p:cNvSpPr txBox="1"/>
          <p:nvPr/>
        </p:nvSpPr>
        <p:spPr>
          <a:xfrm>
            <a:off x="589799" y="2838194"/>
            <a:ext cx="4860975" cy="1938992"/>
          </a:xfrm>
          <a:prstGeom prst="rect">
            <a:avLst/>
          </a:prstGeom>
          <a:noFill/>
        </p:spPr>
        <p:txBody>
          <a:bodyPr wrap="square" rtlCol="0">
            <a:spAutoFit/>
          </a:bodyPr>
          <a:lstStyle/>
          <a:p>
            <a:r>
              <a:rPr lang="en-GB" sz="2400" dirty="0">
                <a:solidFill>
                  <a:srgbClr val="FF0000"/>
                </a:solidFill>
              </a:rPr>
              <a:t>“The dataset has </a:t>
            </a:r>
            <a:r>
              <a:rPr lang="en-GB" sz="2400" b="1" dirty="0">
                <a:solidFill>
                  <a:srgbClr val="FF0000"/>
                </a:solidFill>
              </a:rPr>
              <a:t>36041</a:t>
            </a:r>
            <a:r>
              <a:rPr lang="en-GB" sz="2400" dirty="0">
                <a:solidFill>
                  <a:srgbClr val="FF0000"/>
                </a:solidFill>
              </a:rPr>
              <a:t> rows and the variables we use are </a:t>
            </a:r>
            <a:r>
              <a:rPr lang="en-GB" sz="2400" b="1" dirty="0">
                <a:solidFill>
                  <a:srgbClr val="FF0000"/>
                </a:solidFill>
              </a:rPr>
              <a:t>close </a:t>
            </a:r>
            <a:r>
              <a:rPr lang="en-GB" sz="2400" dirty="0">
                <a:solidFill>
                  <a:srgbClr val="FF0000"/>
                </a:solidFill>
              </a:rPr>
              <a:t>(dependent variable) and </a:t>
            </a:r>
            <a:r>
              <a:rPr lang="en-GB" sz="2400" b="1" dirty="0">
                <a:solidFill>
                  <a:srgbClr val="FF0000"/>
                </a:solidFill>
              </a:rPr>
              <a:t>commodity</a:t>
            </a:r>
            <a:r>
              <a:rPr lang="en-GB" sz="2400" dirty="0">
                <a:solidFill>
                  <a:srgbClr val="FF0000"/>
                </a:solidFill>
              </a:rPr>
              <a:t> (independent variable).”</a:t>
            </a:r>
          </a:p>
        </p:txBody>
      </p:sp>
      <p:cxnSp>
        <p:nvCxnSpPr>
          <p:cNvPr id="30" name="Straight Arrow Connector 29">
            <a:extLst>
              <a:ext uri="{FF2B5EF4-FFF2-40B4-BE49-F238E27FC236}">
                <a16:creationId xmlns:a16="http://schemas.microsoft.com/office/drawing/2014/main" id="{A174ADF1-9076-4B41-8EBE-E2A8E1BB8369}"/>
              </a:ext>
            </a:extLst>
          </p:cNvPr>
          <p:cNvCxnSpPr/>
          <p:nvPr/>
        </p:nvCxnSpPr>
        <p:spPr>
          <a:xfrm>
            <a:off x="4938976" y="3802777"/>
            <a:ext cx="631599"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5" name="Picture 4">
            <a:extLst>
              <a:ext uri="{FF2B5EF4-FFF2-40B4-BE49-F238E27FC236}">
                <a16:creationId xmlns:a16="http://schemas.microsoft.com/office/drawing/2014/main" id="{5A092443-6DDC-4C76-7BE5-51726746C4EB}"/>
              </a:ext>
            </a:extLst>
          </p:cNvPr>
          <p:cNvPicPr>
            <a:picLocks noChangeAspect="1"/>
          </p:cNvPicPr>
          <p:nvPr/>
        </p:nvPicPr>
        <p:blipFill>
          <a:blip r:embed="rId3"/>
          <a:stretch>
            <a:fillRect/>
          </a:stretch>
        </p:blipFill>
        <p:spPr>
          <a:xfrm>
            <a:off x="5642208" y="2971800"/>
            <a:ext cx="6006888" cy="1883661"/>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D1AC0377-B4A5-E54B-8698-17AD9D175961}"/>
                  </a:ext>
                </a:extLst>
              </p14:cNvPr>
              <p14:cNvContentPartPr/>
              <p14:nvPr/>
            </p14:nvContentPartPr>
            <p14:xfrm>
              <a:off x="-411624" y="685656"/>
              <a:ext cx="360" cy="360"/>
            </p14:xfrm>
          </p:contentPart>
        </mc:Choice>
        <mc:Fallback xmlns="">
          <p:pic>
            <p:nvPicPr>
              <p:cNvPr id="6" name="Ink 5">
                <a:extLst>
                  <a:ext uri="{FF2B5EF4-FFF2-40B4-BE49-F238E27FC236}">
                    <a16:creationId xmlns:a16="http://schemas.microsoft.com/office/drawing/2014/main" id="{D1AC0377-B4A5-E54B-8698-17AD9D175961}"/>
                  </a:ext>
                </a:extLst>
              </p:cNvPr>
              <p:cNvPicPr/>
              <p:nvPr/>
            </p:nvPicPr>
            <p:blipFill>
              <a:blip r:embed="rId5"/>
              <a:stretch>
                <a:fillRect/>
              </a:stretch>
            </p:blipFill>
            <p:spPr>
              <a:xfrm>
                <a:off x="-465624" y="577656"/>
                <a:ext cx="108000" cy="216000"/>
              </a:xfrm>
              <a:prstGeom prst="rect">
                <a:avLst/>
              </a:prstGeom>
            </p:spPr>
          </p:pic>
        </mc:Fallback>
      </mc:AlternateContent>
    </p:spTree>
    <p:extLst>
      <p:ext uri="{BB962C8B-B14F-4D97-AF65-F5344CB8AC3E}">
        <p14:creationId xmlns:p14="http://schemas.microsoft.com/office/powerpoint/2010/main" val="17180049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7COM1079-2022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p:txBody>
          <a:bodyPr/>
          <a:lstStyle/>
          <a:p>
            <a:fld id="{E4D355CA-84B7-41B1-B164-8BB439CC7C6B}" type="slidenum">
              <a:rPr lang="en-GB" smtClean="0"/>
              <a:pPr/>
              <a:t>6</a:t>
            </a:fld>
            <a:endParaRPr lang="en-GB"/>
          </a:p>
        </p:txBody>
      </p:sp>
      <p:sp>
        <p:nvSpPr>
          <p:cNvPr id="7" name="TextBox 6">
            <a:extLst>
              <a:ext uri="{FF2B5EF4-FFF2-40B4-BE49-F238E27FC236}">
                <a16:creationId xmlns:a16="http://schemas.microsoft.com/office/drawing/2014/main" id="{F7FEA660-7B39-BC91-3B96-7298CCF66DE1}"/>
              </a:ext>
            </a:extLst>
          </p:cNvPr>
          <p:cNvSpPr txBox="1"/>
          <p:nvPr/>
        </p:nvSpPr>
        <p:spPr>
          <a:xfrm>
            <a:off x="751960" y="6066978"/>
            <a:ext cx="11440040" cy="646331"/>
          </a:xfrm>
          <a:prstGeom prst="rect">
            <a:avLst/>
          </a:prstGeom>
          <a:solidFill>
            <a:schemeClr val="bg1">
              <a:lumMod val="95000"/>
            </a:schemeClr>
          </a:solidFill>
        </p:spPr>
        <p:txBody>
          <a:bodyPr wrap="square" rtlCol="0">
            <a:spAutoFit/>
          </a:bodyPr>
          <a:lstStyle/>
          <a:p>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analyses the difference between the mean (or median) value of a characteristic shared by members of two (or more) different populations/values.</a:t>
            </a:r>
            <a:endParaRPr lang="en-GB" dirty="0"/>
          </a:p>
        </p:txBody>
      </p:sp>
      <p:sp>
        <p:nvSpPr>
          <p:cNvPr id="8" name="Subtitle 7">
            <a:extLst>
              <a:ext uri="{FF2B5EF4-FFF2-40B4-BE49-F238E27FC236}">
                <a16:creationId xmlns:a16="http://schemas.microsoft.com/office/drawing/2014/main" id="{08296624-D625-8A51-63F8-EC461F283B3B}"/>
              </a:ext>
            </a:extLst>
          </p:cNvPr>
          <p:cNvSpPr>
            <a:spLocks noGrp="1"/>
          </p:cNvSpPr>
          <p:nvPr>
            <p:ph type="subTitle" idx="1"/>
          </p:nvPr>
        </p:nvSpPr>
        <p:spPr>
          <a:xfrm>
            <a:off x="965289" y="353630"/>
            <a:ext cx="10273911" cy="668224"/>
          </a:xfrm>
          <a:solidFill>
            <a:schemeClr val="bg2"/>
          </a:solidFill>
        </p:spPr>
        <p:txBody>
          <a:bodyPr/>
          <a:lstStyle/>
          <a:p>
            <a:pPr>
              <a:lnSpc>
                <a:spcPct val="100000"/>
              </a:lnSpc>
            </a:pPr>
            <a:r>
              <a:rPr lang="en-GB" b="0" dirty="0">
                <a:solidFill>
                  <a:srgbClr val="FF0000"/>
                </a:solidFill>
              </a:rPr>
              <a:t> </a:t>
            </a:r>
            <a:r>
              <a:rPr lang="en-GB" dirty="0"/>
              <a:t>Comparison of means/medians</a:t>
            </a:r>
            <a:r>
              <a:rPr lang="en-GB" b="0" dirty="0"/>
              <a:t>: </a:t>
            </a:r>
            <a:endParaRPr lang="en-GB" b="0" i="1" dirty="0"/>
          </a:p>
        </p:txBody>
      </p:sp>
      <p:pic>
        <p:nvPicPr>
          <p:cNvPr id="10" name="Picture 9">
            <a:extLst>
              <a:ext uri="{FF2B5EF4-FFF2-40B4-BE49-F238E27FC236}">
                <a16:creationId xmlns:a16="http://schemas.microsoft.com/office/drawing/2014/main" id="{3E81E0C4-7EDD-CAC2-E96A-19F989C14091}"/>
              </a:ext>
            </a:extLst>
          </p:cNvPr>
          <p:cNvPicPr>
            <a:picLocks noChangeAspect="1"/>
          </p:cNvPicPr>
          <p:nvPr/>
        </p:nvPicPr>
        <p:blipFill>
          <a:blip r:embed="rId3"/>
          <a:stretch>
            <a:fillRect/>
          </a:stretch>
        </p:blipFill>
        <p:spPr>
          <a:xfrm>
            <a:off x="965289" y="1152794"/>
            <a:ext cx="4009288" cy="3670194"/>
          </a:xfrm>
          <a:prstGeom prst="rect">
            <a:avLst/>
          </a:prstGeom>
        </p:spPr>
      </p:pic>
      <p:pic>
        <p:nvPicPr>
          <p:cNvPr id="11" name="Picture 10">
            <a:extLst>
              <a:ext uri="{FF2B5EF4-FFF2-40B4-BE49-F238E27FC236}">
                <a16:creationId xmlns:a16="http://schemas.microsoft.com/office/drawing/2014/main" id="{96FBA6BF-12A3-C894-7B50-E291803AEE10}"/>
              </a:ext>
            </a:extLst>
          </p:cNvPr>
          <p:cNvPicPr>
            <a:picLocks noChangeAspect="1"/>
          </p:cNvPicPr>
          <p:nvPr/>
        </p:nvPicPr>
        <p:blipFill>
          <a:blip r:embed="rId4"/>
          <a:stretch>
            <a:fillRect/>
          </a:stretch>
        </p:blipFill>
        <p:spPr>
          <a:xfrm>
            <a:off x="6137555" y="1152794"/>
            <a:ext cx="4009289" cy="3670195"/>
          </a:xfrm>
          <a:prstGeom prst="rect">
            <a:avLst/>
          </a:prstGeom>
        </p:spPr>
      </p:pic>
    </p:spTree>
    <p:extLst>
      <p:ext uri="{BB962C8B-B14F-4D97-AF65-F5344CB8AC3E}">
        <p14:creationId xmlns:p14="http://schemas.microsoft.com/office/powerpoint/2010/main" val="272335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3BCDAA3-A3AD-A880-5E9C-0E1ABBC0A463}"/>
              </a:ext>
            </a:extLst>
          </p:cNvPr>
          <p:cNvSpPr>
            <a:spLocks noGrp="1"/>
          </p:cNvSpPr>
          <p:nvPr>
            <p:ph type="subTitle" idx="1"/>
          </p:nvPr>
        </p:nvSpPr>
        <p:spPr>
          <a:xfrm>
            <a:off x="103608" y="445443"/>
            <a:ext cx="10285200" cy="551829"/>
          </a:xfrm>
        </p:spPr>
        <p:txBody>
          <a:bodyPr/>
          <a:lstStyle/>
          <a:p>
            <a:r>
              <a:rPr lang="en-US" dirty="0"/>
              <a:t>Part 2: Analysis (building on your Visualizations)</a:t>
            </a:r>
            <a:endParaRPr lang="en-GB" dirty="0"/>
          </a:p>
        </p:txBody>
      </p:sp>
      <p:sp>
        <p:nvSpPr>
          <p:cNvPr id="4" name="Slide Number Placeholder 3">
            <a:extLst>
              <a:ext uri="{FF2B5EF4-FFF2-40B4-BE49-F238E27FC236}">
                <a16:creationId xmlns:a16="http://schemas.microsoft.com/office/drawing/2014/main" id="{953BD585-11D8-30FD-4A30-9F1639F0D149}"/>
              </a:ext>
            </a:extLst>
          </p:cNvPr>
          <p:cNvSpPr>
            <a:spLocks noGrp="1"/>
          </p:cNvSpPr>
          <p:nvPr>
            <p:ph type="sldNum" sz="quarter" idx="12"/>
          </p:nvPr>
        </p:nvSpPr>
        <p:spPr/>
        <p:txBody>
          <a:bodyPr/>
          <a:lstStyle/>
          <a:p>
            <a:fld id="{E4D355CA-84B7-41B1-B164-8BB439CC7C6B}" type="slidenum">
              <a:rPr lang="en-GB" smtClean="0"/>
              <a:pPr/>
              <a:t>7</a:t>
            </a:fld>
            <a:endParaRPr lang="en-GB"/>
          </a:p>
        </p:txBody>
      </p:sp>
      <p:pic>
        <p:nvPicPr>
          <p:cNvPr id="8" name="Picture 7">
            <a:extLst>
              <a:ext uri="{FF2B5EF4-FFF2-40B4-BE49-F238E27FC236}">
                <a16:creationId xmlns:a16="http://schemas.microsoft.com/office/drawing/2014/main" id="{E96F9A62-82AA-DCDF-42A9-F57D7A791451}"/>
              </a:ext>
            </a:extLst>
          </p:cNvPr>
          <p:cNvPicPr>
            <a:picLocks noChangeAspect="1"/>
          </p:cNvPicPr>
          <p:nvPr/>
        </p:nvPicPr>
        <p:blipFill>
          <a:blip r:embed="rId2"/>
          <a:srcRect r="6478" b="14965"/>
          <a:stretch>
            <a:fillRect/>
          </a:stretch>
        </p:blipFill>
        <p:spPr>
          <a:xfrm>
            <a:off x="4902565" y="825887"/>
            <a:ext cx="3185630" cy="1736808"/>
          </a:xfrm>
          <a:prstGeom prst="rect">
            <a:avLst/>
          </a:prstGeom>
        </p:spPr>
      </p:pic>
      <p:pic>
        <p:nvPicPr>
          <p:cNvPr id="12" name="Picture 11">
            <a:extLst>
              <a:ext uri="{FF2B5EF4-FFF2-40B4-BE49-F238E27FC236}">
                <a16:creationId xmlns:a16="http://schemas.microsoft.com/office/drawing/2014/main" id="{7C903F73-BC68-EB51-2ECF-9CFBB5092B66}"/>
              </a:ext>
            </a:extLst>
          </p:cNvPr>
          <p:cNvPicPr>
            <a:picLocks noChangeAspect="1"/>
          </p:cNvPicPr>
          <p:nvPr/>
        </p:nvPicPr>
        <p:blipFill>
          <a:blip r:embed="rId3"/>
          <a:srcRect t="5558" r="6786" b="15541"/>
          <a:stretch>
            <a:fillRect/>
          </a:stretch>
        </p:blipFill>
        <p:spPr>
          <a:xfrm>
            <a:off x="179832" y="988128"/>
            <a:ext cx="3677079" cy="1941183"/>
          </a:xfrm>
          <a:prstGeom prst="rect">
            <a:avLst/>
          </a:prstGeom>
        </p:spPr>
      </p:pic>
      <p:pic>
        <p:nvPicPr>
          <p:cNvPr id="13" name="Picture 12">
            <a:extLst>
              <a:ext uri="{FF2B5EF4-FFF2-40B4-BE49-F238E27FC236}">
                <a16:creationId xmlns:a16="http://schemas.microsoft.com/office/drawing/2014/main" id="{572BE37E-A73A-2043-B8F6-F8908D8BBA6D}"/>
              </a:ext>
            </a:extLst>
          </p:cNvPr>
          <p:cNvPicPr>
            <a:picLocks noChangeAspect="1"/>
          </p:cNvPicPr>
          <p:nvPr/>
        </p:nvPicPr>
        <p:blipFill>
          <a:blip r:embed="rId4"/>
          <a:srcRect t="5623" r="8872" b="3543"/>
          <a:stretch>
            <a:fillRect/>
          </a:stretch>
        </p:blipFill>
        <p:spPr>
          <a:xfrm>
            <a:off x="8773350" y="2562695"/>
            <a:ext cx="3237594" cy="2073313"/>
          </a:xfrm>
          <a:prstGeom prst="rect">
            <a:avLst/>
          </a:prstGeom>
        </p:spPr>
      </p:pic>
      <p:pic>
        <p:nvPicPr>
          <p:cNvPr id="14" name="Picture 13">
            <a:extLst>
              <a:ext uri="{FF2B5EF4-FFF2-40B4-BE49-F238E27FC236}">
                <a16:creationId xmlns:a16="http://schemas.microsoft.com/office/drawing/2014/main" id="{984421B3-CA5B-707F-C8D2-5D247B6CB62D}"/>
              </a:ext>
            </a:extLst>
          </p:cNvPr>
          <p:cNvPicPr>
            <a:picLocks noChangeAspect="1"/>
          </p:cNvPicPr>
          <p:nvPr/>
        </p:nvPicPr>
        <p:blipFill>
          <a:blip r:embed="rId5"/>
          <a:srcRect l="6421" t="3997" b="35610"/>
          <a:stretch>
            <a:fillRect/>
          </a:stretch>
        </p:blipFill>
        <p:spPr>
          <a:xfrm>
            <a:off x="9133849" y="870677"/>
            <a:ext cx="2677177" cy="1528485"/>
          </a:xfrm>
          <a:prstGeom prst="rect">
            <a:avLst/>
          </a:prstGeom>
        </p:spPr>
      </p:pic>
      <p:pic>
        <p:nvPicPr>
          <p:cNvPr id="5" name="Picture 4">
            <a:extLst>
              <a:ext uri="{FF2B5EF4-FFF2-40B4-BE49-F238E27FC236}">
                <a16:creationId xmlns:a16="http://schemas.microsoft.com/office/drawing/2014/main" id="{EF928033-CC30-025D-EFD5-456328FD8800}"/>
              </a:ext>
            </a:extLst>
          </p:cNvPr>
          <p:cNvPicPr>
            <a:picLocks noChangeAspect="1"/>
          </p:cNvPicPr>
          <p:nvPr/>
        </p:nvPicPr>
        <p:blipFill>
          <a:blip r:embed="rId6"/>
          <a:stretch>
            <a:fillRect/>
          </a:stretch>
        </p:blipFill>
        <p:spPr>
          <a:xfrm>
            <a:off x="179832" y="3159253"/>
            <a:ext cx="3677079" cy="2208275"/>
          </a:xfrm>
          <a:prstGeom prst="rect">
            <a:avLst/>
          </a:prstGeom>
        </p:spPr>
      </p:pic>
      <p:pic>
        <p:nvPicPr>
          <p:cNvPr id="10" name="Picture 9">
            <a:extLst>
              <a:ext uri="{FF2B5EF4-FFF2-40B4-BE49-F238E27FC236}">
                <a16:creationId xmlns:a16="http://schemas.microsoft.com/office/drawing/2014/main" id="{4C6A64C5-77DB-6E9E-0EFC-86D5D8E76895}"/>
              </a:ext>
            </a:extLst>
          </p:cNvPr>
          <p:cNvPicPr>
            <a:picLocks noChangeAspect="1"/>
          </p:cNvPicPr>
          <p:nvPr/>
        </p:nvPicPr>
        <p:blipFill>
          <a:blip r:embed="rId7"/>
          <a:srcRect t="6437" r="6495" b="4041"/>
          <a:stretch>
            <a:fillRect/>
          </a:stretch>
        </p:blipFill>
        <p:spPr>
          <a:xfrm>
            <a:off x="4941547" y="2680740"/>
            <a:ext cx="3185630" cy="1736808"/>
          </a:xfrm>
          <a:prstGeom prst="rect">
            <a:avLst/>
          </a:prstGeom>
        </p:spPr>
      </p:pic>
      <p:sp>
        <p:nvSpPr>
          <p:cNvPr id="3" name="Footer Placeholder 2">
            <a:extLst>
              <a:ext uri="{FF2B5EF4-FFF2-40B4-BE49-F238E27FC236}">
                <a16:creationId xmlns:a16="http://schemas.microsoft.com/office/drawing/2014/main" id="{0287CE03-B588-8643-02BA-1E1B72567176}"/>
              </a:ext>
            </a:extLst>
          </p:cNvPr>
          <p:cNvSpPr>
            <a:spLocks noGrp="1"/>
          </p:cNvSpPr>
          <p:nvPr>
            <p:ph type="ftr" sz="quarter" idx="11"/>
          </p:nvPr>
        </p:nvSpPr>
        <p:spPr>
          <a:xfrm>
            <a:off x="87465" y="86934"/>
            <a:ext cx="7176911" cy="230832"/>
          </a:xfrm>
        </p:spPr>
        <p:txBody>
          <a:bodyPr/>
          <a:lstStyle/>
          <a:p>
            <a:r>
              <a:rPr lang="en-US" sz="1600" dirty="0"/>
              <a:t>Visualization and Analysis – Tutorial Presentation For Feedback</a:t>
            </a:r>
            <a:endParaRPr lang="en-GB" sz="1600" dirty="0"/>
          </a:p>
        </p:txBody>
      </p:sp>
      <p:pic>
        <p:nvPicPr>
          <p:cNvPr id="7" name="Picture 6">
            <a:extLst>
              <a:ext uri="{FF2B5EF4-FFF2-40B4-BE49-F238E27FC236}">
                <a16:creationId xmlns:a16="http://schemas.microsoft.com/office/drawing/2014/main" id="{1A930F04-4FC5-7F82-7F69-292E90847D84}"/>
              </a:ext>
            </a:extLst>
          </p:cNvPr>
          <p:cNvPicPr>
            <a:picLocks noChangeAspect="1"/>
          </p:cNvPicPr>
          <p:nvPr/>
        </p:nvPicPr>
        <p:blipFill>
          <a:blip r:embed="rId8"/>
          <a:stretch>
            <a:fillRect/>
          </a:stretch>
        </p:blipFill>
        <p:spPr>
          <a:xfrm>
            <a:off x="4377684" y="4535593"/>
            <a:ext cx="3560739" cy="2244288"/>
          </a:xfrm>
          <a:prstGeom prst="rect">
            <a:avLst/>
          </a:prstGeom>
        </p:spPr>
      </p:pic>
      <p:pic>
        <p:nvPicPr>
          <p:cNvPr id="9" name="Picture 8">
            <a:extLst>
              <a:ext uri="{FF2B5EF4-FFF2-40B4-BE49-F238E27FC236}">
                <a16:creationId xmlns:a16="http://schemas.microsoft.com/office/drawing/2014/main" id="{2DCA628D-20F9-520F-8FA3-5AC4FD5B4C89}"/>
              </a:ext>
            </a:extLst>
          </p:cNvPr>
          <p:cNvPicPr>
            <a:picLocks noChangeAspect="1"/>
          </p:cNvPicPr>
          <p:nvPr/>
        </p:nvPicPr>
        <p:blipFill>
          <a:blip r:embed="rId9"/>
          <a:stretch>
            <a:fillRect/>
          </a:stretch>
        </p:blipFill>
        <p:spPr>
          <a:xfrm>
            <a:off x="8385049" y="4644823"/>
            <a:ext cx="3237594" cy="2135058"/>
          </a:xfrm>
          <a:prstGeom prst="rect">
            <a:avLst/>
          </a:prstGeom>
        </p:spPr>
      </p:pic>
    </p:spTree>
    <p:extLst>
      <p:ext uri="{BB962C8B-B14F-4D97-AF65-F5344CB8AC3E}">
        <p14:creationId xmlns:p14="http://schemas.microsoft.com/office/powerpoint/2010/main" val="12487630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CustomShape 1"/>
          <p:cNvSpPr/>
          <p:nvPr/>
        </p:nvSpPr>
        <p:spPr>
          <a:xfrm>
            <a:off x="0" y="0"/>
            <a:ext cx="1219176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5" name="CustomShape 2"/>
          <p:cNvSpPr/>
          <p:nvPr/>
        </p:nvSpPr>
        <p:spPr>
          <a:xfrm rot="10800000" flipH="1">
            <a:off x="360" y="360"/>
            <a:ext cx="12191760" cy="1575720"/>
          </a:xfrm>
          <a:prstGeom prst="rect">
            <a:avLst/>
          </a:prstGeom>
          <a:gradFill rotWithShape="0">
            <a:gsLst>
              <a:gs pos="0">
                <a:srgbClr val="000000">
                  <a:alpha val="96078"/>
                </a:srgbClr>
              </a:gs>
              <a:gs pos="100000">
                <a:srgbClr val="77418E"/>
              </a:gs>
            </a:gsLst>
            <a:lin ang="156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6" name="CustomShape 3"/>
          <p:cNvSpPr/>
          <p:nvPr/>
        </p:nvSpPr>
        <p:spPr>
          <a:xfrm>
            <a:off x="0" y="0"/>
            <a:ext cx="8128440" cy="1575000"/>
          </a:xfrm>
          <a:prstGeom prst="rect">
            <a:avLst/>
          </a:prstGeom>
          <a:gradFill rotWithShape="0">
            <a:gsLst>
              <a:gs pos="26000">
                <a:srgbClr val="C49FD3">
                  <a:alpha val="0"/>
                </a:srgbClr>
              </a:gs>
              <a:gs pos="100000">
                <a:srgbClr val="9C5FB5">
                  <a:alpha val="41176"/>
                </a:srgbClr>
              </a:gs>
            </a:gsLst>
            <a:lin ang="192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7" name="CustomShape 4"/>
          <p:cNvSpPr/>
          <p:nvPr/>
        </p:nvSpPr>
        <p:spPr>
          <a:xfrm flipH="1">
            <a:off x="0" y="0"/>
            <a:ext cx="12191760" cy="1573920"/>
          </a:xfrm>
          <a:prstGeom prst="rect">
            <a:avLst/>
          </a:prstGeom>
          <a:gradFill rotWithShape="0">
            <a:gsLst>
              <a:gs pos="22000">
                <a:srgbClr val="9C5FB5">
                  <a:alpha val="15294"/>
                </a:srgbClr>
              </a:gs>
              <a:gs pos="100000">
                <a:srgbClr val="000000">
                  <a:alpha val="63137"/>
                </a:srgbClr>
              </a:gs>
            </a:gsLst>
            <a:lin ang="60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8" name="TextShape 5"/>
          <p:cNvSpPr txBox="1"/>
          <p:nvPr/>
        </p:nvSpPr>
        <p:spPr>
          <a:xfrm>
            <a:off x="290880" y="158400"/>
            <a:ext cx="7063200" cy="1158840"/>
          </a:xfrm>
          <a:prstGeom prst="rect">
            <a:avLst/>
          </a:prstGeom>
          <a:noFill/>
          <a:ln>
            <a:noFill/>
          </a:ln>
        </p:spPr>
        <p:txBody>
          <a:bodyPr anchor="ctr">
            <a:normAutofit/>
          </a:bodyPr>
          <a:lstStyle/>
          <a:p>
            <a:pPr>
              <a:lnSpc>
                <a:spcPct val="90000"/>
              </a:lnSpc>
            </a:pPr>
            <a:r>
              <a:rPr lang="en-US" sz="2400" b="0" strike="noStrike" spc="-202">
                <a:solidFill>
                  <a:srgbClr val="FFFFFF"/>
                </a:solidFill>
                <a:latin typeface="Arial"/>
              </a:rPr>
              <a:t> </a:t>
            </a:r>
            <a:br/>
            <a:br/>
            <a:endParaRPr lang="en-US" sz="2400" b="0" strike="noStrike" spc="-1">
              <a:solidFill>
                <a:srgbClr val="203232"/>
              </a:solidFill>
              <a:latin typeface="Arial"/>
            </a:endParaRPr>
          </a:p>
        </p:txBody>
      </p:sp>
      <p:sp>
        <p:nvSpPr>
          <p:cNvPr id="109" name="TextShape 6"/>
          <p:cNvSpPr txBox="1"/>
          <p:nvPr/>
        </p:nvSpPr>
        <p:spPr>
          <a:xfrm>
            <a:off x="7354080" y="203882"/>
            <a:ext cx="4705437" cy="1158840"/>
          </a:xfrm>
          <a:prstGeom prst="rect">
            <a:avLst/>
          </a:prstGeom>
          <a:noFill/>
          <a:ln>
            <a:noFill/>
          </a:ln>
        </p:spPr>
        <p:txBody>
          <a:bodyPr anchor="ctr">
            <a:noAutofit/>
          </a:bodyPr>
          <a:lstStyle/>
          <a:p>
            <a:pPr>
              <a:lnSpc>
                <a:spcPts val="2880"/>
              </a:lnSpc>
              <a:spcAft>
                <a:spcPts val="992"/>
              </a:spcAft>
              <a:tabLst>
                <a:tab pos="0" algn="l"/>
              </a:tabLst>
            </a:pPr>
            <a:r>
              <a:rPr lang="en-GB" sz="3000" b="1" strike="noStrike" spc="-100" dirty="0">
                <a:solidFill>
                  <a:srgbClr val="FFFFFF"/>
                </a:solidFill>
                <a:latin typeface="Arial"/>
              </a:rPr>
              <a:t>Our RQ asks about Differences in means</a:t>
            </a:r>
            <a:endParaRPr lang="en-US" sz="3000" b="1" strike="noStrike" spc="-1" dirty="0">
              <a:latin typeface="Arial"/>
            </a:endParaRPr>
          </a:p>
        </p:txBody>
      </p:sp>
      <p:sp>
        <p:nvSpPr>
          <p:cNvPr id="110" name="TextShape 7"/>
          <p:cNvSpPr txBox="1"/>
          <p:nvPr/>
        </p:nvSpPr>
        <p:spPr>
          <a:xfrm>
            <a:off x="11704320" y="6455520"/>
            <a:ext cx="447840" cy="364680"/>
          </a:xfrm>
          <a:prstGeom prst="rect">
            <a:avLst/>
          </a:prstGeom>
          <a:noFill/>
          <a:ln>
            <a:noFill/>
          </a:ln>
        </p:spPr>
        <p:txBody>
          <a:bodyPr anchor="ctr">
            <a:normAutofit/>
          </a:bodyPr>
          <a:lstStyle/>
          <a:p>
            <a:pPr algn="r">
              <a:lnSpc>
                <a:spcPct val="100000"/>
              </a:lnSpc>
              <a:spcAft>
                <a:spcPts val="601"/>
              </a:spcAft>
            </a:pPr>
            <a:fld id="{29CEFF96-2F62-4B45-8A43-FC60A0A96C7C}" type="slidenum">
              <a:rPr lang="en-US" sz="1100" b="1" strike="noStrike" spc="-1">
                <a:solidFill>
                  <a:srgbClr val="7DABAB"/>
                </a:solidFill>
                <a:latin typeface="Arial"/>
              </a:rPr>
              <a:t>8</a:t>
            </a:fld>
            <a:endParaRPr lang="en-US" sz="1100" b="0" strike="noStrike" spc="-1">
              <a:latin typeface="Times New Roman"/>
            </a:endParaRPr>
          </a:p>
        </p:txBody>
      </p:sp>
      <p:sp>
        <p:nvSpPr>
          <p:cNvPr id="111" name="CustomShape 8"/>
          <p:cNvSpPr/>
          <p:nvPr/>
        </p:nvSpPr>
        <p:spPr>
          <a:xfrm>
            <a:off x="366120" y="197640"/>
            <a:ext cx="69883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GB" sz="2400" b="0" strike="noStrike" spc="-1" dirty="0">
                <a:solidFill>
                  <a:srgbClr val="FFFFFF"/>
                </a:solidFill>
                <a:latin typeface="Arial"/>
              </a:rPr>
              <a:t>Here is a </a:t>
            </a:r>
            <a:r>
              <a:rPr lang="en-GB" sz="2400" b="1" strike="noStrike" spc="-1" dirty="0">
                <a:solidFill>
                  <a:srgbClr val="FFFFFF"/>
                </a:solidFill>
                <a:latin typeface="Arial"/>
              </a:rPr>
              <a:t>Histogram </a:t>
            </a:r>
            <a:r>
              <a:rPr lang="en-GB" sz="2400" b="0" strike="noStrike" spc="-1" dirty="0">
                <a:solidFill>
                  <a:srgbClr val="FFFFFF"/>
                </a:solidFill>
                <a:latin typeface="Arial"/>
              </a:rPr>
              <a:t>showing the density of our dependent variable to include the normal curves overlay</a:t>
            </a:r>
            <a:endParaRPr lang="en-US" sz="1800" b="0" strike="noStrike" spc="-1" dirty="0">
              <a:latin typeface="Arial"/>
            </a:endParaRPr>
          </a:p>
        </p:txBody>
      </p:sp>
      <p:sp>
        <p:nvSpPr>
          <p:cNvPr id="112" name="CustomShape 9"/>
          <p:cNvSpPr/>
          <p:nvPr/>
        </p:nvSpPr>
        <p:spPr>
          <a:xfrm>
            <a:off x="290880" y="1627560"/>
            <a:ext cx="10865160" cy="4886280"/>
          </a:xfrm>
          <a:prstGeom prst="roundRect">
            <a:avLst>
              <a:gd name="adj" fmla="val 16667"/>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p:txBody>
      </p:sp>
      <p:sp>
        <p:nvSpPr>
          <p:cNvPr id="113" name="CustomShape 10"/>
          <p:cNvSpPr/>
          <p:nvPr/>
        </p:nvSpPr>
        <p:spPr>
          <a:xfrm>
            <a:off x="6074496" y="2945275"/>
            <a:ext cx="4475760" cy="2306870"/>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nchor="b">
            <a:spAutoFit/>
          </a:bodyPr>
          <a:lstStyle/>
          <a:p>
            <a:pPr>
              <a:lnSpc>
                <a:spcPct val="100000"/>
              </a:lnSpc>
            </a:pPr>
            <a:endParaRPr lang="en-GB" sz="1800" b="0" strike="noStrike" spc="-1" dirty="0">
              <a:solidFill>
                <a:srgbClr val="203232"/>
              </a:solidFill>
              <a:latin typeface="Arial"/>
            </a:endParaRPr>
          </a:p>
          <a:p>
            <a:pPr>
              <a:lnSpc>
                <a:spcPct val="100000"/>
              </a:lnSpc>
            </a:pPr>
            <a:endParaRPr lang="en-GB" spc="-1" dirty="0">
              <a:solidFill>
                <a:srgbClr val="203232"/>
              </a:solidFill>
              <a:latin typeface="Arial"/>
            </a:endParaRPr>
          </a:p>
          <a:p>
            <a:pPr>
              <a:lnSpc>
                <a:spcPct val="100000"/>
              </a:lnSpc>
            </a:pPr>
            <a:r>
              <a:rPr lang="en-GB" sz="1800" b="0" strike="noStrike" spc="-1" dirty="0">
                <a:solidFill>
                  <a:srgbClr val="203232"/>
                </a:solidFill>
                <a:latin typeface="Arial"/>
              </a:rPr>
              <a:t>The normal curve overlay </a:t>
            </a:r>
            <a:r>
              <a:rPr lang="en-GB" sz="1800" b="1" i="1" strike="noStrike" spc="-1" dirty="0">
                <a:solidFill>
                  <a:srgbClr val="203232"/>
                </a:solidFill>
                <a:latin typeface="Arial"/>
              </a:rPr>
              <a:t>follows</a:t>
            </a:r>
            <a:r>
              <a:rPr lang="en-GB" sz="1800" b="0" strike="noStrike" spc="-1" dirty="0">
                <a:solidFill>
                  <a:srgbClr val="203232"/>
                </a:solidFill>
                <a:latin typeface="Arial"/>
              </a:rPr>
              <a:t> the contours of the underlying data for Oat, and moderately for Rough Rice so we use the parametric test</a:t>
            </a:r>
            <a:r>
              <a:rPr lang="en-GB" sz="1800" b="0" strike="noStrike" spc="-1" dirty="0">
                <a:solidFill>
                  <a:srgbClr val="0073CF"/>
                </a:solidFill>
                <a:latin typeface="Arial"/>
              </a:rPr>
              <a:t>: t-test.</a:t>
            </a: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p:txBody>
      </p:sp>
      <p:pic>
        <p:nvPicPr>
          <p:cNvPr id="2" name="Picture 1">
            <a:extLst>
              <a:ext uri="{FF2B5EF4-FFF2-40B4-BE49-F238E27FC236}">
                <a16:creationId xmlns:a16="http://schemas.microsoft.com/office/drawing/2014/main" id="{32A3BDD4-5FD8-8989-FC0E-EEDCC337881E}"/>
              </a:ext>
            </a:extLst>
          </p:cNvPr>
          <p:cNvPicPr>
            <a:picLocks noChangeAspect="1"/>
          </p:cNvPicPr>
          <p:nvPr/>
        </p:nvPicPr>
        <p:blipFill>
          <a:blip r:embed="rId2"/>
          <a:stretch>
            <a:fillRect/>
          </a:stretch>
        </p:blipFill>
        <p:spPr>
          <a:xfrm>
            <a:off x="1163219" y="2314082"/>
            <a:ext cx="4009289" cy="36701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TextShape 1"/>
          <p:cNvSpPr txBox="1"/>
          <p:nvPr/>
        </p:nvSpPr>
        <p:spPr>
          <a:xfrm>
            <a:off x="965160" y="790920"/>
            <a:ext cx="7176600" cy="230400"/>
          </a:xfrm>
          <a:prstGeom prst="rect">
            <a:avLst/>
          </a:prstGeom>
          <a:noFill/>
          <a:ln>
            <a:noFill/>
          </a:ln>
        </p:spPr>
        <p:txBody>
          <a:bodyPr lIns="0" tIns="0" rIns="0" bIns="0">
            <a:noAutofit/>
          </a:bodyPr>
          <a:lstStyle/>
          <a:p>
            <a:pPr>
              <a:lnSpc>
                <a:spcPct val="100000"/>
              </a:lnSpc>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36" name="TextShape 2"/>
          <p:cNvSpPr txBox="1"/>
          <p:nvPr/>
        </p:nvSpPr>
        <p:spPr>
          <a:xfrm>
            <a:off x="10616400" y="790920"/>
            <a:ext cx="622440" cy="230400"/>
          </a:xfrm>
          <a:prstGeom prst="rect">
            <a:avLst/>
          </a:prstGeom>
          <a:noFill/>
          <a:ln>
            <a:noFill/>
          </a:ln>
        </p:spPr>
        <p:txBody>
          <a:bodyPr lIns="0" tIns="0" rIns="0" bIns="0">
            <a:noAutofit/>
          </a:bodyPr>
          <a:lstStyle/>
          <a:p>
            <a:pPr algn="r">
              <a:lnSpc>
                <a:spcPct val="100000"/>
              </a:lnSpc>
            </a:pPr>
            <a:fld id="{ADC5D68A-648F-4923-B6A1-749DE04AEFFA}" type="slidenum">
              <a:rPr lang="en-GB" sz="1500" b="1" strike="noStrike" spc="-1">
                <a:solidFill>
                  <a:srgbClr val="B3B9B9"/>
                </a:solidFill>
                <a:latin typeface="Arial"/>
              </a:rPr>
              <a:t>9</a:t>
            </a:fld>
            <a:endParaRPr lang="en-US" sz="1500" b="0" strike="noStrike" spc="-1">
              <a:latin typeface="Times New Roman"/>
            </a:endParaRPr>
          </a:p>
        </p:txBody>
      </p:sp>
      <p:sp>
        <p:nvSpPr>
          <p:cNvPr id="137" name="TextShape 3"/>
          <p:cNvSpPr txBox="1"/>
          <p:nvPr/>
        </p:nvSpPr>
        <p:spPr>
          <a:xfrm>
            <a:off x="952919" y="385588"/>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pPr>
            <a:r>
              <a:rPr lang="en-GB" sz="3600" b="1" strike="noStrike" spc="-100">
                <a:solidFill>
                  <a:srgbClr val="203232"/>
                </a:solidFill>
                <a:latin typeface="Arial"/>
              </a:rPr>
              <a:t>R Script and Results  (For ALL types of test) – The Analysis</a:t>
            </a:r>
            <a:endParaRPr lang="en-US" sz="3600" b="1" strike="noStrike" spc="-1">
              <a:latin typeface="Arial"/>
            </a:endParaRPr>
          </a:p>
          <a:p>
            <a:pPr>
              <a:lnSpc>
                <a:spcPct val="100000"/>
              </a:lnSpc>
              <a:spcAft>
                <a:spcPts val="992"/>
              </a:spcAft>
              <a:tabLst>
                <a:tab pos="0" algn="l"/>
              </a:tabLst>
            </a:pPr>
            <a:endParaRPr lang="en-US" sz="2400" b="0" strike="noStrike" spc="-1">
              <a:latin typeface="Arial"/>
            </a:endParaRPr>
          </a:p>
        </p:txBody>
      </p:sp>
      <p:sp>
        <p:nvSpPr>
          <p:cNvPr id="2" name="TextBox 1">
            <a:extLst>
              <a:ext uri="{FF2B5EF4-FFF2-40B4-BE49-F238E27FC236}">
                <a16:creationId xmlns:a16="http://schemas.microsoft.com/office/drawing/2014/main" id="{58BC67A1-346D-734F-321E-2098D1481674}"/>
              </a:ext>
            </a:extLst>
          </p:cNvPr>
          <p:cNvSpPr txBox="1"/>
          <p:nvPr/>
        </p:nvSpPr>
        <p:spPr>
          <a:xfrm>
            <a:off x="701458" y="1671663"/>
            <a:ext cx="11066988" cy="5205977"/>
          </a:xfrm>
          <a:prstGeom prst="rect">
            <a:avLst/>
          </a:prstGeom>
          <a:solidFill>
            <a:schemeClr val="bg1"/>
          </a:solidFill>
        </p:spPr>
        <p:txBody>
          <a:bodyPr wrap="square" rtlCol="0">
            <a:spAutoFit/>
          </a:bodyPr>
          <a:lstStyle/>
          <a:p>
            <a:pPr marL="285750" indent="-285750">
              <a:buFont typeface="Arial" panose="020B0604020202020204" pitchFamily="34" charset="0"/>
              <a:buChar char="•"/>
            </a:pPr>
            <a:endParaRPr kumimoji="0" lang="en-US" sz="3600" i="0" u="none" kern="1200" cap="none" spc="-202" normalizeH="0" baseline="0" noProof="0" dirty="0">
              <a:ln>
                <a:noFill/>
              </a:ln>
              <a:solidFill>
                <a:srgbClr val="203232"/>
              </a:solidFill>
              <a:effectLst/>
              <a:uLnTx/>
              <a:uFillTx/>
              <a:latin typeface="Arial"/>
              <a:ea typeface="+mn-ea"/>
              <a:cs typeface="+mn-cs"/>
            </a:endParaRPr>
          </a:p>
          <a:p>
            <a:pPr marL="285750" indent="-285750">
              <a:buFont typeface="Arial" panose="020B0604020202020204" pitchFamily="34" charset="0"/>
              <a:buChar char="•"/>
            </a:pPr>
            <a:endParaRPr kumimoji="0" lang="en-US" sz="2000" b="0" i="0" u="none" strike="noStrike" kern="1200" cap="none" spc="0" normalizeH="0" baseline="0" noProof="0" dirty="0">
              <a:ln>
                <a:noFill/>
              </a:ln>
              <a:solidFill>
                <a:srgbClr val="203232"/>
              </a:solidFill>
              <a:effectLst/>
              <a:uLnTx/>
              <a:uFillTx/>
              <a:latin typeface="Arial"/>
              <a:ea typeface="+mn-ea"/>
              <a:cs typeface="+mn-cs"/>
            </a:endParaRPr>
          </a:p>
          <a:p>
            <a:pPr marL="285750" indent="-285750">
              <a:buFont typeface="Arial" panose="020B0604020202020204" pitchFamily="34" charset="0"/>
              <a:buChar char="•"/>
            </a:pPr>
            <a:endParaRPr lang="en-US" sz="2000" dirty="0">
              <a:solidFill>
                <a:srgbClr val="203232"/>
              </a:solidFill>
              <a:latin typeface="Arial"/>
            </a:endParaRPr>
          </a:p>
          <a:p>
            <a:pPr marL="285750" indent="-285750">
              <a:buFont typeface="Arial" panose="020B0604020202020204" pitchFamily="34" charset="0"/>
              <a:buChar char="•"/>
            </a:pPr>
            <a:endParaRPr kumimoji="0" lang="en-US" sz="2000" b="0" i="0" u="none" strike="noStrike" kern="1200" cap="none" spc="0" normalizeH="0" baseline="0" noProof="0" dirty="0">
              <a:ln>
                <a:noFill/>
              </a:ln>
              <a:solidFill>
                <a:srgbClr val="203232"/>
              </a:solidFill>
              <a:effectLst/>
              <a:uLnTx/>
              <a:uFillTx/>
              <a:latin typeface="Arial"/>
              <a:ea typeface="+mn-ea"/>
              <a:cs typeface="+mn-cs"/>
            </a:endParaRPr>
          </a:p>
          <a:p>
            <a:pPr marL="285750" indent="-285750">
              <a:buFont typeface="Arial" panose="020B0604020202020204" pitchFamily="34" charset="0"/>
              <a:buChar char="•"/>
            </a:pPr>
            <a:endParaRPr lang="en-US" sz="2000" dirty="0">
              <a:solidFill>
                <a:srgbClr val="203232"/>
              </a:solidFill>
              <a:latin typeface="Arial"/>
            </a:endParaRPr>
          </a:p>
          <a:p>
            <a:pPr marL="285750" indent="-285750">
              <a:buFont typeface="Arial" panose="020B0604020202020204" pitchFamily="34" charset="0"/>
              <a:buChar char="•"/>
            </a:pPr>
            <a:endParaRPr kumimoji="0" lang="en-US" sz="2000" b="0" i="0" u="none" strike="noStrike" kern="1200" cap="none" spc="0" normalizeH="0" baseline="0" noProof="0" dirty="0">
              <a:ln>
                <a:noFill/>
              </a:ln>
              <a:solidFill>
                <a:srgbClr val="203232"/>
              </a:solidFill>
              <a:effectLst/>
              <a:uLnTx/>
              <a:uFillTx/>
              <a:latin typeface="Arial"/>
              <a:ea typeface="+mn-ea"/>
              <a:cs typeface="+mn-cs"/>
            </a:endParaRPr>
          </a:p>
          <a:p>
            <a:pPr marL="285750" indent="-285750">
              <a:buFont typeface="Arial" panose="020B0604020202020204" pitchFamily="34" charset="0"/>
              <a:buChar char="•"/>
            </a:pPr>
            <a:r>
              <a:rPr kumimoji="0" lang="en-US" sz="2000" b="0" i="0" u="none" strike="noStrike" kern="1200" cap="none" spc="0" normalizeH="0" baseline="0" noProof="0" dirty="0">
                <a:ln>
                  <a:noFill/>
                </a:ln>
                <a:solidFill>
                  <a:srgbClr val="203232"/>
                </a:solidFill>
                <a:effectLst/>
                <a:uLnTx/>
                <a:uFillTx/>
                <a:latin typeface="Arial"/>
                <a:ea typeface="+mn-ea"/>
                <a:cs typeface="+mn-cs"/>
              </a:rPr>
              <a:t>p-value &lt; 0.05</a:t>
            </a:r>
          </a:p>
          <a:p>
            <a:pPr marL="285750" marR="0" lvl="0" indent="-2857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203232"/>
                </a:solidFill>
                <a:effectLst/>
                <a:uLnTx/>
                <a:uFillTx/>
                <a:latin typeface="Arial"/>
                <a:ea typeface="+mn-ea"/>
                <a:cs typeface="+mn-cs"/>
              </a:rPr>
              <a:t>There is a difference in the mean closing price between the commodities rough rice and oat.</a:t>
            </a:r>
          </a:p>
          <a:p>
            <a:pPr marL="285750" marR="0" lvl="0" indent="-2857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203232"/>
                </a:solidFill>
                <a:effectLst/>
                <a:uLnTx/>
                <a:uFillTx/>
                <a:latin typeface="Arial"/>
                <a:ea typeface="+mn-ea"/>
                <a:cs typeface="+mn-cs"/>
              </a:rPr>
              <a:t>Therefore, we ‘fail to reject the null hypothesis’ </a:t>
            </a:r>
          </a:p>
          <a:p>
            <a:pPr marL="285750" marR="0" lvl="0" indent="-2857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203232"/>
                </a:solidFill>
                <a:effectLst/>
                <a:uLnTx/>
                <a:uFillTx/>
                <a:latin typeface="Arial"/>
                <a:ea typeface="+mn-ea"/>
                <a:cs typeface="+mn-cs"/>
              </a:rPr>
              <a:t>The obtained result indicates that the rough rice commodity maintains consistently higher (mean) market prices. It suggests different market conditions, demand and prices. For investors, analysts, or agricultural economists, this crop stands out as a </a:t>
            </a:r>
            <a:r>
              <a:rPr kumimoji="0" lang="en-US" sz="2000" b="1" i="0" u="none" strike="noStrike" kern="1200" cap="none" spc="0" normalizeH="0" baseline="0" noProof="0" dirty="0">
                <a:ln>
                  <a:noFill/>
                </a:ln>
                <a:solidFill>
                  <a:srgbClr val="203232"/>
                </a:solidFill>
                <a:effectLst/>
                <a:uLnTx/>
                <a:uFillTx/>
                <a:latin typeface="Arial"/>
                <a:ea typeface="+mn-ea"/>
                <a:cs typeface="+mn-cs"/>
              </a:rPr>
              <a:t>distinct price performer</a:t>
            </a:r>
            <a:r>
              <a:rPr kumimoji="0" lang="en-US" sz="2000" b="0" i="0" u="none" strike="noStrike" kern="1200" cap="none" spc="0" normalizeH="0" baseline="0" noProof="0" dirty="0">
                <a:ln>
                  <a:noFill/>
                </a:ln>
                <a:solidFill>
                  <a:srgbClr val="203232"/>
                </a:solidFill>
                <a:effectLst/>
                <a:uLnTx/>
                <a:uFillTx/>
                <a:latin typeface="Arial"/>
                <a:ea typeface="+mn-ea"/>
                <a:cs typeface="+mn-cs"/>
              </a:rPr>
              <a:t>. </a:t>
            </a:r>
          </a:p>
        </p:txBody>
      </p:sp>
      <p:pic>
        <p:nvPicPr>
          <p:cNvPr id="4" name="Picture 3">
            <a:extLst>
              <a:ext uri="{FF2B5EF4-FFF2-40B4-BE49-F238E27FC236}">
                <a16:creationId xmlns:a16="http://schemas.microsoft.com/office/drawing/2014/main" id="{3A54D47F-A803-F533-7E1D-B208A210482A}"/>
              </a:ext>
            </a:extLst>
          </p:cNvPr>
          <p:cNvPicPr>
            <a:picLocks noChangeAspect="1"/>
          </p:cNvPicPr>
          <p:nvPr/>
        </p:nvPicPr>
        <p:blipFill>
          <a:blip r:embed="rId3"/>
          <a:stretch>
            <a:fillRect/>
          </a:stretch>
        </p:blipFill>
        <p:spPr>
          <a:xfrm>
            <a:off x="1078992" y="1618488"/>
            <a:ext cx="4270248" cy="2030957"/>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8CBD48C1-4821-EFA7-375F-0CA5F88E10FA}"/>
                  </a:ext>
                </a:extLst>
              </p14:cNvPr>
              <p14:cNvContentPartPr/>
              <p14:nvPr/>
            </p14:nvContentPartPr>
            <p14:xfrm>
              <a:off x="2706336" y="2724912"/>
              <a:ext cx="1087560" cy="83520"/>
            </p14:xfrm>
          </p:contentPart>
        </mc:Choice>
        <mc:Fallback xmlns="">
          <p:pic>
            <p:nvPicPr>
              <p:cNvPr id="6" name="Ink 5">
                <a:extLst>
                  <a:ext uri="{FF2B5EF4-FFF2-40B4-BE49-F238E27FC236}">
                    <a16:creationId xmlns:a16="http://schemas.microsoft.com/office/drawing/2014/main" id="{8CBD48C1-4821-EFA7-375F-0CA5F88E10FA}"/>
                  </a:ext>
                </a:extLst>
              </p:cNvPr>
              <p:cNvPicPr/>
              <p:nvPr/>
            </p:nvPicPr>
            <p:blipFill>
              <a:blip r:embed="rId5"/>
              <a:stretch>
                <a:fillRect/>
              </a:stretch>
            </p:blipFill>
            <p:spPr>
              <a:xfrm>
                <a:off x="2652696" y="2617272"/>
                <a:ext cx="1195200" cy="2991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C74E8B5A-7714-3693-F085-5169F836054C}"/>
                  </a:ext>
                </a:extLst>
              </p14:cNvPr>
              <p14:cNvContentPartPr/>
              <p14:nvPr/>
            </p14:nvContentPartPr>
            <p14:xfrm>
              <a:off x="1143216" y="2742912"/>
              <a:ext cx="575280" cy="46440"/>
            </p14:xfrm>
          </p:contentPart>
        </mc:Choice>
        <mc:Fallback xmlns="">
          <p:pic>
            <p:nvPicPr>
              <p:cNvPr id="7" name="Ink 6">
                <a:extLst>
                  <a:ext uri="{FF2B5EF4-FFF2-40B4-BE49-F238E27FC236}">
                    <a16:creationId xmlns:a16="http://schemas.microsoft.com/office/drawing/2014/main" id="{C74E8B5A-7714-3693-F085-5169F836054C}"/>
                  </a:ext>
                </a:extLst>
              </p:cNvPr>
              <p:cNvPicPr/>
              <p:nvPr/>
            </p:nvPicPr>
            <p:blipFill>
              <a:blip r:embed="rId7"/>
              <a:stretch>
                <a:fillRect/>
              </a:stretch>
            </p:blipFill>
            <p:spPr>
              <a:xfrm>
                <a:off x="1089216" y="2634912"/>
                <a:ext cx="682920" cy="262080"/>
              </a:xfrm>
              <a:prstGeom prst="rect">
                <a:avLst/>
              </a:prstGeom>
            </p:spPr>
          </p:pic>
        </mc:Fallback>
      </mc:AlternateContent>
    </p:spTree>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50</TotalTime>
  <Words>730</Words>
  <Application>Microsoft Office PowerPoint</Application>
  <PresentationFormat>Widescreen</PresentationFormat>
  <Paragraphs>72</Paragraphs>
  <Slides>9</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Times New Roman</vt:lpstr>
      <vt:lpstr>Herts Theme</vt:lpstr>
      <vt:lpstr>PowerPoint Presentation</vt:lpstr>
      <vt:lpstr>How your RQ + distribution of data (Histogram) leads to a statistical test. Visualization requirements highlighted in yellow.</vt:lpstr>
      <vt:lpstr>Visualization and Analysis –  Tutorial Presentation for Feedback Date: 1/12/2025 </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Dhanashree Mahajan</cp:lastModifiedBy>
  <cp:revision>20</cp:revision>
  <dcterms:created xsi:type="dcterms:W3CDTF">2019-10-01T08:37:56Z</dcterms:created>
  <dcterms:modified xsi:type="dcterms:W3CDTF">2025-12-11T03:01:19Z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