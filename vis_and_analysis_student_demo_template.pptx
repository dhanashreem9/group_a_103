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0.xml" ContentType="application/inkml+xml"/>
  <Override PartName="/ppt/ink/ink1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337" r:id="rId5"/>
    <p:sldId id="346" r:id="rId6"/>
    <p:sldId id="289" r:id="rId7"/>
    <p:sldId id="341" r:id="rId8"/>
    <p:sldId id="329" r:id="rId9"/>
    <p:sldId id="340" r:id="rId10"/>
    <p:sldId id="347" r:id="rId11"/>
    <p:sldId id="259"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6T15:27:31.225"/>
    </inkml:context>
    <inkml:brush xml:id="br0">
      <inkml:brushProperty name="width" value="0.3" units="cm"/>
      <inkml:brushProperty name="height" value="0.6" units="cm"/>
      <inkml:brushProperty name="color" value="#FFFFC5"/>
      <inkml:brushProperty name="tip" value="rectangle"/>
      <inkml:brushProperty name="rasterOp" value="maskPen"/>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6T15:24:47.074"/>
    </inkml:context>
    <inkml:brush xml:id="br0">
      <inkml:brushProperty name="width" value="0.3" units="cm"/>
      <inkml:brushProperty name="height" value="0.6" units="cm"/>
      <inkml:brushProperty name="color" value="#FFFFC5"/>
      <inkml:brushProperty name="tip" value="rectangle"/>
      <inkml:brushProperty name="rasterOp" value="maskPen"/>
      <inkml:brushProperty name="ignorePressure" value="1"/>
    </inkml:brush>
  </inkml:definitions>
  <inkml:trace contextRef="#ctx0" brushRef="#br0">1 1,'5'1,"0"1,-1 0,1 1,-1-1,1 1,-1 0,0 0,0 1,7 6,-9-9,12 13,1-1,1 0,0-1,1-1,0-1,0 0,1-1,0-1,37 11,-41-15,-1 0,0 1,-1 1,20 11,-22-11,1 0,0-1,1 0,-1-1,1 0,13 3,-13-5,1-1,0 0,-1 0,1-1,0-1,22-4,-27 3,0 0,-1-1,1 0,-1 0,0-1,1 0,-2 0,1-1,0 1,-1-2,9-8,-4 4,-1 1,1 0,1 1,0 1,0 0,0 0,23-8,-9 4,-8 3,1 1,0 1,1 0,-1 2,1 0,0 2,0 0,38 1,502 3,-541-1,0 1,34 8,-33-6,1 0,24 1,7-4,-22-2,1 2,-1 2,41 7,-30-3,0-2,0-2,1-2,45-4,6 0,618 3,-689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06T15:24:53.743"/>
    </inkml:context>
    <inkml:brush xml:id="br0">
      <inkml:brushProperty name="width" value="0.3" units="cm"/>
      <inkml:brushProperty name="height" value="0.6" units="cm"/>
      <inkml:brushProperty name="color" value="#FFFFC5"/>
      <inkml:brushProperty name="tip" value="rectangle"/>
      <inkml:brushProperty name="rasterOp" value="maskPen"/>
      <inkml:brushProperty name="ignorePressure" value="1"/>
    </inkml:brush>
  </inkml:definitions>
  <inkml:trace contextRef="#ctx0" brushRef="#br0">0 128,'1068'0,"-1046"-1,0-1,30-7,30-3,-64 9,0 0,0-1,0-1,-1-1,25-10,29-10,-26 11,-30 9,1 0,0 2,21-4,-17 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9</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customXml" Target="../ink/ink9.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customXml" Target="../ink/ink11.xml"/><Relationship Id="rId5" Type="http://schemas.openxmlformats.org/officeDocument/2006/relationships/image" Target="../media/image26.png"/><Relationship Id="rId4" Type="http://schemas.openxmlformats.org/officeDocument/2006/relationships/customXml" Target="../ink/ink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a:xfrm>
            <a:off x="10616400" y="483548"/>
            <a:ext cx="622800" cy="230832"/>
          </a:xfrm>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a:endParaRPr>
          </a:p>
          <a:p>
            <a:endParaRPr lang="en-GB"/>
          </a:p>
          <a:p>
            <a:r>
              <a:rPr lang="en-GB"/>
              <a:t>We look forward to giving you feedback.  If your group is not presenting, still attend the tutorial as the feedback will help you too.</a:t>
            </a:r>
            <a:endParaRPr lang="en-GB">
              <a:cs typeface="Arial"/>
            </a:endParaRPr>
          </a:p>
        </p:txBody>
      </p:sp>
      <p:sp>
        <p:nvSpPr>
          <p:cNvPr id="3" name="TextBox 2">
            <a:extLst>
              <a:ext uri="{FF2B5EF4-FFF2-40B4-BE49-F238E27FC236}">
                <a16:creationId xmlns:a16="http://schemas.microsoft.com/office/drawing/2014/main" id="{D6C5DB9A-CB20-AA49-378E-33B58D8775BE}"/>
              </a:ext>
            </a:extLst>
          </p:cNvPr>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078-2006-2E40-AF72-55CCEEE6A460}"/>
              </a:ext>
            </a:extLst>
          </p:cNvPr>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a:extLst>
              <a:ext uri="{FF2B5EF4-FFF2-40B4-BE49-F238E27FC236}">
                <a16:creationId xmlns:a16="http://schemas.microsoft.com/office/drawing/2014/main" id="{1D590E03-8ECA-5BE6-CB34-C7AF162BF6B6}"/>
              </a:ext>
            </a:extLst>
          </p:cNvPr>
          <p:cNvPicPr>
            <a:picLocks noGrp="1" noChangeAspect="1"/>
          </p:cNvPicPr>
          <p:nvPr>
            <p:ph idx="1"/>
          </p:nvPr>
        </p:nvPicPr>
        <p:blipFill>
          <a:blip r:embed="rId2"/>
          <a:stretch>
            <a:fillRect/>
          </a:stretch>
        </p:blipFill>
        <p:spPr>
          <a:xfrm>
            <a:off x="2078182" y="1703508"/>
            <a:ext cx="8035636" cy="3744829"/>
          </a:xfrm>
        </p:spPr>
      </p:pic>
      <p:sp>
        <p:nvSpPr>
          <p:cNvPr id="10" name="TextBox 9">
            <a:extLst>
              <a:ext uri="{FF2B5EF4-FFF2-40B4-BE49-F238E27FC236}">
                <a16:creationId xmlns:a16="http://schemas.microsoft.com/office/drawing/2014/main" id="{67B8FAFF-9EFC-82FC-C196-779A7136586A}"/>
              </a:ext>
            </a:extLst>
          </p:cNvPr>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Decision tree – how Research Questions relate to Visualizations and Statistical Test.</a:t>
            </a:r>
          </a:p>
        </p:txBody>
      </p:sp>
      <p:sp>
        <p:nvSpPr>
          <p:cNvPr id="11" name="TextBox 10">
            <a:extLst>
              <a:ext uri="{FF2B5EF4-FFF2-40B4-BE49-F238E27FC236}">
                <a16:creationId xmlns:a16="http://schemas.microsoft.com/office/drawing/2014/main" id="{0EC63721-1431-2325-B04C-2CC649E44C04}"/>
              </a:ext>
            </a:extLst>
          </p:cNvPr>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3924CA5D-07A4-AA61-3FAE-BB5F24476ED6}"/>
                  </a:ext>
                </a:extLst>
              </p14:cNvPr>
              <p14:cNvContentPartPr/>
              <p14:nvPr/>
            </p14:nvContentPartPr>
            <p14:xfrm>
              <a:off x="2855862" y="2301478"/>
              <a:ext cx="7620" cy="7620"/>
            </p14:xfrm>
          </p:contentPart>
        </mc:Choice>
        <mc:Fallback xmlns="">
          <p:pic>
            <p:nvPicPr>
              <p:cNvPr id="12" name="Ink 11">
                <a:extLst>
                  <a:ext uri="{FF2B5EF4-FFF2-40B4-BE49-F238E27FC236}">
                    <a16:creationId xmlns:a16="http://schemas.microsoft.com/office/drawing/2014/main" id="{3924CA5D-07A4-AA61-3FAE-BB5F24476ED6}"/>
                  </a:ext>
                </a:extLst>
              </p:cNvPr>
              <p:cNvPicPr/>
              <p:nvPr/>
            </p:nvPicPr>
            <p:blipFill>
              <a:blip r:embed="rId4"/>
              <a:stretch>
                <a:fillRect/>
              </a:stretch>
            </p:blipFill>
            <p:spPr>
              <a:xfrm>
                <a:off x="1712862" y="15478"/>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2B4E2DA-3545-4F26-910D-A1F1FE72A47D}"/>
                  </a:ext>
                </a:extLst>
              </p14:cNvPr>
              <p14:cNvContentPartPr/>
              <p14:nvPr/>
            </p14:nvContentPartPr>
            <p14:xfrm>
              <a:off x="2855863" y="2231290"/>
              <a:ext cx="822540" cy="106054"/>
            </p14:xfrm>
          </p:contentPart>
        </mc:Choice>
        <mc:Fallback xmlns="">
          <p:pic>
            <p:nvPicPr>
              <p:cNvPr id="13" name="Ink 12">
                <a:extLst>
                  <a:ext uri="{FF2B5EF4-FFF2-40B4-BE49-F238E27FC236}">
                    <a16:creationId xmlns:a16="http://schemas.microsoft.com/office/drawing/2014/main" id="{42B4E2DA-3545-4F26-910D-A1F1FE72A47D}"/>
                  </a:ext>
                </a:extLst>
              </p:cNvPr>
              <p:cNvPicPr/>
              <p:nvPr/>
            </p:nvPicPr>
            <p:blipFill>
              <a:blip r:embed="rId6"/>
              <a:stretch>
                <a:fillRect/>
              </a:stretch>
            </p:blipFill>
            <p:spPr>
              <a:xfrm>
                <a:off x="2801891" y="2123803"/>
                <a:ext cx="930125" cy="3206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C28B2B8B-32E6-E1DC-2824-43836CE9592D}"/>
                  </a:ext>
                </a:extLst>
              </p14:cNvPr>
              <p14:cNvContentPartPr/>
              <p14:nvPr/>
            </p14:nvContentPartPr>
            <p14:xfrm>
              <a:off x="2827288" y="2415047"/>
              <a:ext cx="912316" cy="39245"/>
            </p14:xfrm>
          </p:contentPart>
        </mc:Choice>
        <mc:Fallback xmlns="">
          <p:pic>
            <p:nvPicPr>
              <p:cNvPr id="14" name="Ink 13">
                <a:extLst>
                  <a:ext uri="{FF2B5EF4-FFF2-40B4-BE49-F238E27FC236}">
                    <a16:creationId xmlns:a16="http://schemas.microsoft.com/office/drawing/2014/main" id="{C28B2B8B-32E6-E1DC-2824-43836CE9592D}"/>
                  </a:ext>
                </a:extLst>
              </p:cNvPr>
              <p:cNvPicPr/>
              <p:nvPr/>
            </p:nvPicPr>
            <p:blipFill>
              <a:blip r:embed="rId8"/>
              <a:stretch>
                <a:fillRect/>
              </a:stretch>
            </p:blipFill>
            <p:spPr>
              <a:xfrm>
                <a:off x="2773305" y="2308015"/>
                <a:ext cx="1019923" cy="252952"/>
              </a:xfrm>
              <a:prstGeom prst="rect">
                <a:avLst/>
              </a:prstGeom>
            </p:spPr>
          </p:pic>
        </mc:Fallback>
      </mc:AlternateContent>
      <p:sp>
        <p:nvSpPr>
          <p:cNvPr id="15" name="TextBox 14">
            <a:extLst>
              <a:ext uri="{FF2B5EF4-FFF2-40B4-BE49-F238E27FC236}">
                <a16:creationId xmlns:a16="http://schemas.microsoft.com/office/drawing/2014/main" id="{5B0C8B1B-7E1B-7A4E-48E5-1AC79152D134}"/>
              </a:ext>
            </a:extLst>
          </p:cNvPr>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and Boxplots</a:t>
            </a:r>
          </a:p>
        </p:txBody>
      </p:sp>
      <p:sp>
        <p:nvSpPr>
          <p:cNvPr id="18" name="TextBox 17">
            <a:extLst>
              <a:ext uri="{FF2B5EF4-FFF2-40B4-BE49-F238E27FC236}">
                <a16:creationId xmlns:a16="http://schemas.microsoft.com/office/drawing/2014/main" id="{9FF5E8DC-C47C-03F2-66AD-3721C5D6A78C}"/>
              </a:ext>
            </a:extLst>
          </p:cNvPr>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E710C2C-67A8-8083-7A21-4B4E128F5D61}"/>
                  </a:ext>
                </a:extLst>
              </p14:cNvPr>
              <p14:cNvContentPartPr/>
              <p14:nvPr/>
            </p14:nvContentPartPr>
            <p14:xfrm>
              <a:off x="3343620" y="4971248"/>
              <a:ext cx="836960" cy="117475"/>
            </p14:xfrm>
          </p:contentPart>
        </mc:Choice>
        <mc:Fallback xmlns="">
          <p:pic>
            <p:nvPicPr>
              <p:cNvPr id="23" name="Ink 22">
                <a:extLst>
                  <a:ext uri="{FF2B5EF4-FFF2-40B4-BE49-F238E27FC236}">
                    <a16:creationId xmlns:a16="http://schemas.microsoft.com/office/drawing/2014/main" id="{8E710C2C-67A8-8083-7A21-4B4E128F5D61}"/>
                  </a:ext>
                </a:extLst>
              </p:cNvPr>
              <p:cNvPicPr/>
              <p:nvPr/>
            </p:nvPicPr>
            <p:blipFill>
              <a:blip r:embed="rId10"/>
              <a:stretch>
                <a:fillRect/>
              </a:stretch>
            </p:blipFill>
            <p:spPr>
              <a:xfrm>
                <a:off x="3289646" y="4863473"/>
                <a:ext cx="944549" cy="33266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9D5AB4C3-0CDD-8D40-FE3C-0D26691C3E41}"/>
                  </a:ext>
                </a:extLst>
              </p14:cNvPr>
              <p14:cNvContentPartPr/>
              <p14:nvPr/>
            </p14:nvContentPartPr>
            <p14:xfrm>
              <a:off x="3495097" y="5326544"/>
              <a:ext cx="366611" cy="145562"/>
            </p14:xfrm>
          </p:contentPart>
        </mc:Choice>
        <mc:Fallback xmlns="">
          <p:pic>
            <p:nvPicPr>
              <p:cNvPr id="24" name="Ink 23">
                <a:extLst>
                  <a:ext uri="{FF2B5EF4-FFF2-40B4-BE49-F238E27FC236}">
                    <a16:creationId xmlns:a16="http://schemas.microsoft.com/office/drawing/2014/main" id="{9D5AB4C3-0CDD-8D40-FE3C-0D26691C3E41}"/>
                  </a:ext>
                </a:extLst>
              </p:cNvPr>
              <p:cNvPicPr/>
              <p:nvPr/>
            </p:nvPicPr>
            <p:blipFill>
              <a:blip r:embed="rId12"/>
              <a:stretch>
                <a:fillRect/>
              </a:stretch>
            </p:blipFill>
            <p:spPr>
              <a:xfrm>
                <a:off x="3441131" y="5218720"/>
                <a:ext cx="474184" cy="3608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D295DB2-15F6-8261-D98C-9BB0D8E48C45}"/>
                  </a:ext>
                </a:extLst>
              </p14:cNvPr>
              <p14:cNvContentPartPr/>
              <p14:nvPr/>
            </p14:nvContentPartPr>
            <p14:xfrm>
              <a:off x="2836812" y="3568303"/>
              <a:ext cx="7620" cy="7620"/>
            </p14:xfrm>
          </p:contentPart>
        </mc:Choice>
        <mc:Fallback xmlns="">
          <p:pic>
            <p:nvPicPr>
              <p:cNvPr id="25" name="Ink 24">
                <a:extLst>
                  <a:ext uri="{FF2B5EF4-FFF2-40B4-BE49-F238E27FC236}">
                    <a16:creationId xmlns:a16="http://schemas.microsoft.com/office/drawing/2014/main" id="{2D295DB2-15F6-8261-D98C-9BB0D8E48C45}"/>
                  </a:ext>
                </a:extLst>
              </p:cNvPr>
              <p:cNvPicPr/>
              <p:nvPr/>
            </p:nvPicPr>
            <p:blipFill>
              <a:blip r:embed="rId4"/>
              <a:stretch>
                <a:fillRect/>
              </a:stretch>
            </p:blipFill>
            <p:spPr>
              <a:xfrm>
                <a:off x="1693812" y="1282303"/>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BF419222-61F1-A278-036B-6186A7DBD041}"/>
                  </a:ext>
                </a:extLst>
              </p14:cNvPr>
              <p14:cNvContentPartPr/>
              <p14:nvPr/>
            </p14:nvContentPartPr>
            <p14:xfrm>
              <a:off x="2942697" y="3323665"/>
              <a:ext cx="997984" cy="334667"/>
            </p14:xfrm>
          </p:contentPart>
        </mc:Choice>
        <mc:Fallback xmlns="">
          <p:pic>
            <p:nvPicPr>
              <p:cNvPr id="26" name="Ink 25">
                <a:extLst>
                  <a:ext uri="{FF2B5EF4-FFF2-40B4-BE49-F238E27FC236}">
                    <a16:creationId xmlns:a16="http://schemas.microsoft.com/office/drawing/2014/main" id="{BF419222-61F1-A278-036B-6186A7DBD041}"/>
                  </a:ext>
                </a:extLst>
              </p:cNvPr>
              <p:cNvPicPr/>
              <p:nvPr/>
            </p:nvPicPr>
            <p:blipFill>
              <a:blip r:embed="rId15"/>
              <a:stretch>
                <a:fillRect/>
              </a:stretch>
            </p:blipFill>
            <p:spPr>
              <a:xfrm>
                <a:off x="2888713" y="3215708"/>
                <a:ext cx="1105592" cy="5502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58E89214-72D4-68F8-89D3-DB2438E58609}"/>
                  </a:ext>
                </a:extLst>
              </p14:cNvPr>
              <p14:cNvContentPartPr/>
              <p14:nvPr/>
            </p14:nvContentPartPr>
            <p14:xfrm>
              <a:off x="3495097" y="6237656"/>
              <a:ext cx="1265620" cy="97352"/>
            </p14:xfrm>
          </p:contentPart>
        </mc:Choice>
        <mc:Fallback xmlns="">
          <p:pic>
            <p:nvPicPr>
              <p:cNvPr id="28" name="Ink 27">
                <a:extLst>
                  <a:ext uri="{FF2B5EF4-FFF2-40B4-BE49-F238E27FC236}">
                    <a16:creationId xmlns:a16="http://schemas.microsoft.com/office/drawing/2014/main" id="{58E89214-72D4-68F8-89D3-DB2438E58609}"/>
                  </a:ext>
                </a:extLst>
              </p:cNvPr>
              <p:cNvPicPr/>
              <p:nvPr/>
            </p:nvPicPr>
            <p:blipFill>
              <a:blip r:embed="rId17"/>
              <a:stretch>
                <a:fillRect/>
              </a:stretch>
            </p:blipFill>
            <p:spPr>
              <a:xfrm>
                <a:off x="3441118" y="6130282"/>
                <a:ext cx="1373217" cy="311741"/>
              </a:xfrm>
              <a:prstGeom prst="rect">
                <a:avLst/>
              </a:prstGeom>
            </p:spPr>
          </p:pic>
        </mc:Fallback>
      </mc:AlternateContent>
    </p:spTree>
    <p:extLst>
      <p:ext uri="{BB962C8B-B14F-4D97-AF65-F5344CB8AC3E}">
        <p14:creationId xmlns:p14="http://schemas.microsoft.com/office/powerpoint/2010/main" val="88990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Visualization and Analysis – </a:t>
            </a:r>
            <a:br>
              <a:rPr lang="en-US" dirty="0"/>
            </a:br>
            <a:r>
              <a:rPr lang="en-US" sz="4000" dirty="0"/>
              <a:t>Tutorial Presentation for Feedback</a:t>
            </a:r>
            <a:br>
              <a:rPr lang="en-US" sz="4000" dirty="0"/>
            </a:br>
            <a:r>
              <a:rPr lang="en-US" sz="2200" dirty="0"/>
              <a:t>Date: 1/12/2025</a:t>
            </a:r>
            <a:br>
              <a:rPr lang="en-US" sz="8000" dirty="0"/>
            </a:br>
            <a:endParaRPr lang="en-US" dirty="0"/>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3</a:t>
            </a:fld>
            <a:endParaRPr lang="en-GB"/>
          </a:p>
        </p:txBody>
      </p:sp>
      <p:sp>
        <p:nvSpPr>
          <p:cNvPr id="6" name="Footer Placeholder 3">
            <a:extLst>
              <a:ext uri="{FF2B5EF4-FFF2-40B4-BE49-F238E27FC236}">
                <a16:creationId xmlns:a16="http://schemas.microsoft.com/office/drawing/2014/main" id="{1703AA78-8B84-1E0B-EE02-8E877CBE4697}"/>
              </a:ext>
            </a:extLst>
          </p:cNvPr>
          <p:cNvSpPr>
            <a:spLocks noGrp="1"/>
          </p:cNvSpPr>
          <p:nvPr>
            <p:ph type="ftr" sz="quarter" idx="11"/>
          </p:nvPr>
        </p:nvSpPr>
        <p:spPr>
          <a:xfrm>
            <a:off x="965289" y="274320"/>
            <a:ext cx="10455567" cy="736245"/>
          </a:xfrm>
        </p:spPr>
        <p:txBody>
          <a:bodyPr/>
          <a:lstStyle/>
          <a:p>
            <a:pPr algn="r"/>
            <a:r>
              <a:rPr lang="en-GB" dirty="0"/>
              <a:t>7COM1079-2025  Student Group No: group A 103         Names of Student Attendees : Dhanashree, Meghana, Moulika, Jaswanth, Surendra</a:t>
            </a:r>
          </a:p>
        </p:txBody>
      </p:sp>
      <p:sp>
        <p:nvSpPr>
          <p:cNvPr id="9" name="Subtitle 2">
            <a:extLst>
              <a:ext uri="{FF2B5EF4-FFF2-40B4-BE49-F238E27FC236}">
                <a16:creationId xmlns:a16="http://schemas.microsoft.com/office/drawing/2014/main" id="{BDCC648D-7D03-7D8F-690A-39C744805D0A}"/>
              </a:ext>
            </a:extLst>
          </p:cNvPr>
          <p:cNvSpPr txBox="1">
            <a:spLocks/>
          </p:cNvSpPr>
          <p:nvPr/>
        </p:nvSpPr>
        <p:spPr>
          <a:xfrm>
            <a:off x="954000" y="1734552"/>
            <a:ext cx="10192536" cy="360000"/>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bg1"/>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t>Group Name: A 103                                                           Name of Student Presenting: Dhanashree</a:t>
            </a:r>
          </a:p>
        </p:txBody>
      </p:sp>
    </p:spTree>
    <p:extLst>
      <p:ext uri="{BB962C8B-B14F-4D97-AF65-F5344CB8AC3E}">
        <p14:creationId xmlns:p14="http://schemas.microsoft.com/office/powerpoint/2010/main" val="414853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541795"/>
            <a:ext cx="7200000" cy="360000"/>
          </a:xfrm>
        </p:spPr>
        <p:txBody>
          <a:bodyPr/>
          <a:lstStyle/>
          <a:p>
            <a:r>
              <a:rPr lang="en-US" dirty="0"/>
              <a:t>Part 1: VISUALISATION</a:t>
            </a:r>
            <a:endParaRPr lang="en-GB" dirty="0"/>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a:xfrm>
            <a:off x="965289" y="132654"/>
            <a:ext cx="7176911" cy="230832"/>
          </a:xfrm>
        </p:spPr>
        <p:txBody>
          <a:bodyPr/>
          <a:lstStyle/>
          <a:p>
            <a:r>
              <a:rPr lang="en-US" sz="1600" dirty="0"/>
              <a:t>Visualization and Analysis – Tutorial Presentation For Feedback</a:t>
            </a:r>
            <a:endParaRPr lang="en-GB" sz="1600" dirty="0"/>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pic>
        <p:nvPicPr>
          <p:cNvPr id="6" name="Picture 5">
            <a:extLst>
              <a:ext uri="{FF2B5EF4-FFF2-40B4-BE49-F238E27FC236}">
                <a16:creationId xmlns:a16="http://schemas.microsoft.com/office/drawing/2014/main" id="{DCF66C0D-E743-BB3F-950E-D5B08D4DE534}"/>
              </a:ext>
            </a:extLst>
          </p:cNvPr>
          <p:cNvPicPr>
            <a:picLocks noChangeAspect="1"/>
          </p:cNvPicPr>
          <p:nvPr/>
        </p:nvPicPr>
        <p:blipFill>
          <a:blip r:embed="rId2"/>
          <a:stretch>
            <a:fillRect/>
          </a:stretch>
        </p:blipFill>
        <p:spPr>
          <a:xfrm>
            <a:off x="1204525" y="1493301"/>
            <a:ext cx="4706742" cy="3450210"/>
          </a:xfrm>
          <a:prstGeom prst="rect">
            <a:avLst/>
          </a:prstGeom>
        </p:spPr>
      </p:pic>
      <p:pic>
        <p:nvPicPr>
          <p:cNvPr id="7" name="Picture 6">
            <a:extLst>
              <a:ext uri="{FF2B5EF4-FFF2-40B4-BE49-F238E27FC236}">
                <a16:creationId xmlns:a16="http://schemas.microsoft.com/office/drawing/2014/main" id="{81BBA3A1-8AAB-8235-B27E-9074579FE9AF}"/>
              </a:ext>
            </a:extLst>
          </p:cNvPr>
          <p:cNvPicPr>
            <a:picLocks noChangeAspect="1"/>
          </p:cNvPicPr>
          <p:nvPr/>
        </p:nvPicPr>
        <p:blipFill>
          <a:blip r:embed="rId3"/>
          <a:stretch>
            <a:fillRect/>
          </a:stretch>
        </p:blipFill>
        <p:spPr>
          <a:xfrm>
            <a:off x="6478615" y="1367909"/>
            <a:ext cx="3905956" cy="3575602"/>
          </a:xfrm>
          <a:prstGeom prst="rect">
            <a:avLst/>
          </a:prstGeom>
        </p:spPr>
      </p:pic>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56144" y="980053"/>
            <a:ext cx="10110240" cy="588024"/>
          </a:xfrm>
        </p:spPr>
        <p:txBody>
          <a:bodyPr/>
          <a:lstStyle/>
          <a:p>
            <a:r>
              <a:rPr lang="en-US" sz="2400" b="0" dirty="0">
                <a:latin typeface="Calibri" panose="020F0502020204030204" pitchFamily="34" charset="0"/>
                <a:cs typeface="Calibri" panose="020F0502020204030204" pitchFamily="34" charset="0"/>
              </a:rPr>
              <a:t>We are using the dataset</a:t>
            </a:r>
            <a:r>
              <a:rPr lang="en-US" sz="2400" b="0" dirty="0">
                <a:solidFill>
                  <a:srgbClr val="FF0000"/>
                </a:solidFill>
                <a:latin typeface="Calibri" panose="020F0502020204030204" pitchFamily="34" charset="0"/>
                <a:cs typeface="Calibri" panose="020F0502020204030204" pitchFamily="34" charset="0"/>
              </a:rPr>
              <a:t>  </a:t>
            </a:r>
            <a:r>
              <a:rPr lang="en-US" sz="2400" dirty="0">
                <a:solidFill>
                  <a:srgbClr val="FF0000"/>
                </a:solidFill>
                <a:latin typeface="Calibri" panose="020F0502020204030204" pitchFamily="34" charset="0"/>
                <a:cs typeface="Calibri" panose="020F0502020204030204" pitchFamily="34" charset="0"/>
              </a:rPr>
              <a:t>ds118 – all_grains_data.csv</a:t>
            </a:r>
            <a:r>
              <a:rPr lang="en-US" sz="2400" b="0" dirty="0">
                <a:solidFill>
                  <a:schemeClr val="tx1"/>
                </a:solidFill>
                <a:latin typeface="Calibri" panose="020F0502020204030204" pitchFamily="34" charset="0"/>
                <a:cs typeface="Calibri" panose="020F0502020204030204" pitchFamily="34" charset="0"/>
              </a:rPr>
              <a:t> to answer our Research Question  </a:t>
            </a:r>
          </a:p>
          <a:p>
            <a:r>
              <a:rPr lang="en-US" sz="2400" b="0" dirty="0">
                <a:solidFill>
                  <a:srgbClr val="FF0000"/>
                </a:solidFill>
                <a:latin typeface="Calibri" panose="020F0502020204030204" pitchFamily="34" charset="0"/>
                <a:cs typeface="Calibri" panose="020F0502020204030204" pitchFamily="34" charset="0"/>
              </a:rPr>
              <a:t>“</a:t>
            </a:r>
            <a:r>
              <a:rPr lang="en-IE" sz="2400" b="0" spc="-150" dirty="0">
                <a:latin typeface="Calibri"/>
                <a:ea typeface="Calibri" panose="020F0502020204030204" pitchFamily="34" charset="0"/>
                <a:cs typeface="Times New Roman"/>
              </a:rPr>
              <a:t>Is there a difference in the average of </a:t>
            </a:r>
            <a:r>
              <a:rPr lang="en-IE" sz="2400" b="0" spc="-150" dirty="0">
                <a:solidFill>
                  <a:srgbClr val="0070C0"/>
                </a:solidFill>
                <a:latin typeface="Calibri"/>
                <a:ea typeface="Calibri" panose="020F0502020204030204" pitchFamily="34" charset="0"/>
                <a:cs typeface="Times New Roman"/>
              </a:rPr>
              <a:t>closing price </a:t>
            </a:r>
            <a:r>
              <a:rPr lang="en-IE" sz="2400" b="0" spc="-150" dirty="0">
                <a:latin typeface="Calibri"/>
                <a:ea typeface="Calibri" panose="020F0502020204030204" pitchFamily="34" charset="0"/>
                <a:cs typeface="Times New Roman"/>
              </a:rPr>
              <a:t>between </a:t>
            </a:r>
            <a:r>
              <a:rPr lang="en-IE" sz="2400" b="0" spc="-150" dirty="0">
                <a:solidFill>
                  <a:srgbClr val="0070C0"/>
                </a:solidFill>
                <a:latin typeface="Calibri"/>
                <a:ea typeface="Calibri" panose="020F0502020204030204" pitchFamily="34" charset="0"/>
                <a:cs typeface="Times New Roman"/>
              </a:rPr>
              <a:t>the crops produced </a:t>
            </a:r>
            <a:r>
              <a:rPr lang="en-IE" sz="2400" b="0" spc="-150" dirty="0">
                <a:latin typeface="Calibri"/>
                <a:ea typeface="Calibri" panose="020F0502020204030204" pitchFamily="34" charset="0"/>
                <a:cs typeface="Times New Roman"/>
              </a:rPr>
              <a:t>like</a:t>
            </a:r>
            <a:r>
              <a:rPr lang="en-IE" sz="2400" b="0" spc="-150" dirty="0">
                <a:solidFill>
                  <a:srgbClr val="0070C0"/>
                </a:solidFill>
                <a:latin typeface="Calibri"/>
                <a:ea typeface="Calibri" panose="020F0502020204030204" pitchFamily="34" charset="0"/>
                <a:cs typeface="Times New Roman"/>
              </a:rPr>
              <a:t> </a:t>
            </a:r>
            <a:r>
              <a:rPr lang="en-IE" sz="2400" b="0" i="1" spc="-150" dirty="0">
                <a:latin typeface="Calibri"/>
                <a:ea typeface="Calibri" panose="020F0502020204030204" pitchFamily="34" charset="0"/>
                <a:cs typeface="Times New Roman"/>
              </a:rPr>
              <a:t>rough rice </a:t>
            </a:r>
            <a:r>
              <a:rPr lang="en-IE" sz="2400" b="0" spc="-150" dirty="0">
                <a:latin typeface="Calibri"/>
                <a:ea typeface="Calibri" panose="020F0502020204030204" pitchFamily="34" charset="0"/>
                <a:cs typeface="Times New Roman"/>
              </a:rPr>
              <a:t>and </a:t>
            </a:r>
            <a:r>
              <a:rPr lang="en-IE" sz="2400" b="0" i="1" spc="-150" dirty="0">
                <a:latin typeface="Calibri"/>
                <a:ea typeface="Calibri" panose="020F0502020204030204" pitchFamily="34" charset="0"/>
                <a:cs typeface="Times New Roman"/>
              </a:rPr>
              <a:t>oats </a:t>
            </a:r>
            <a:r>
              <a:rPr lang="en-IE" sz="2400" b="0" spc="-150" dirty="0">
                <a:latin typeface="Calibri"/>
                <a:ea typeface="Calibri" panose="020F0502020204030204" pitchFamily="34" charset="0"/>
                <a:cs typeface="Times New Roman"/>
              </a:rPr>
              <a:t>grown in a particular country from 2000 to 2024?</a:t>
            </a:r>
            <a:r>
              <a:rPr lang="en-US" sz="2400" b="0" dirty="0">
                <a:solidFill>
                  <a:srgbClr val="FF0000"/>
                </a:solidFill>
                <a:latin typeface="Calibri" panose="020F0502020204030204" pitchFamily="34" charset="0"/>
                <a:cs typeface="Calibri" panose="020F0502020204030204" pitchFamily="34" charset="0"/>
              </a:rPr>
              <a:t>”</a:t>
            </a:r>
            <a:endParaRPr lang="en-US" sz="2400" baseline="30000" dirty="0">
              <a:solidFill>
                <a:schemeClr val="tx1"/>
              </a:solidFill>
              <a:latin typeface="Calibri" panose="020F0502020204030204" pitchFamily="34" charset="0"/>
              <a:cs typeface="Calibri" panose="020F0502020204030204" pitchFamily="34" charset="0"/>
            </a:endParaRPr>
          </a:p>
          <a:p>
            <a:br>
              <a:rPr lang="en-US" sz="2400" b="0" dirty="0">
                <a:solidFill>
                  <a:srgbClr val="FF0000"/>
                </a:solidFill>
                <a:latin typeface="Calibri" panose="020F0502020204030204" pitchFamily="34" charset="0"/>
                <a:cs typeface="Calibri" panose="020F0502020204030204" pitchFamily="34" charset="0"/>
              </a:rPr>
            </a:br>
            <a:endParaRPr lang="en-US" sz="2400" dirty="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397830"/>
            <a:ext cx="10110240" cy="86802"/>
          </a:xfrm>
        </p:spPr>
        <p:txBody>
          <a:bodyPr/>
          <a:lstStyle/>
          <a:p>
            <a:pPr algn="r"/>
            <a:r>
              <a:rPr lang="en-GB" dirty="0"/>
              <a:t>7COM1079-2025  Student Group No:   A 103                 Names of Student Group Attendees: Dhanashree, Meghana, Moulika, Jaswanth, Surendra</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5</a:t>
            </a:fld>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589799" y="2838194"/>
            <a:ext cx="4860975" cy="1938992"/>
          </a:xfrm>
          <a:prstGeom prst="rect">
            <a:avLst/>
          </a:prstGeom>
          <a:noFill/>
        </p:spPr>
        <p:txBody>
          <a:bodyPr wrap="square" rtlCol="0">
            <a:spAutoFit/>
          </a:bodyPr>
          <a:lstStyle/>
          <a:p>
            <a:r>
              <a:rPr lang="en-GB" sz="2400" dirty="0">
                <a:solidFill>
                  <a:srgbClr val="FF0000"/>
                </a:solidFill>
              </a:rPr>
              <a:t>“The dataset has </a:t>
            </a:r>
            <a:r>
              <a:rPr lang="en-GB" sz="2400" b="1" dirty="0">
                <a:solidFill>
                  <a:srgbClr val="FF0000"/>
                </a:solidFill>
              </a:rPr>
              <a:t>36041</a:t>
            </a:r>
            <a:r>
              <a:rPr lang="en-GB" sz="2400" dirty="0">
                <a:solidFill>
                  <a:srgbClr val="FF0000"/>
                </a:solidFill>
              </a:rPr>
              <a:t> rows and the variables we use are </a:t>
            </a:r>
            <a:r>
              <a:rPr lang="en-GB" sz="2400" b="1" dirty="0">
                <a:solidFill>
                  <a:srgbClr val="FF0000"/>
                </a:solidFill>
              </a:rPr>
              <a:t>close </a:t>
            </a:r>
            <a:r>
              <a:rPr lang="en-GB" sz="2400" dirty="0">
                <a:solidFill>
                  <a:srgbClr val="FF0000"/>
                </a:solidFill>
              </a:rPr>
              <a:t>(dependent variable) and </a:t>
            </a:r>
            <a:r>
              <a:rPr lang="en-GB" sz="2400" b="1" dirty="0">
                <a:solidFill>
                  <a:srgbClr val="FF0000"/>
                </a:solidFill>
              </a:rPr>
              <a:t>commodity</a:t>
            </a:r>
            <a:r>
              <a:rPr lang="en-GB" sz="2400" dirty="0">
                <a:solidFill>
                  <a:srgbClr val="FF0000"/>
                </a:solidFill>
              </a:rPr>
              <a:t> (independent variable).”</a:t>
            </a:r>
          </a:p>
        </p:txBody>
      </p:sp>
      <p:cxnSp>
        <p:nvCxnSpPr>
          <p:cNvPr id="30" name="Straight Arrow Connector 29">
            <a:extLst>
              <a:ext uri="{FF2B5EF4-FFF2-40B4-BE49-F238E27FC236}">
                <a16:creationId xmlns:a16="http://schemas.microsoft.com/office/drawing/2014/main" id="{A174ADF1-9076-4B41-8EBE-E2A8E1BB8369}"/>
              </a:ext>
            </a:extLst>
          </p:cNvPr>
          <p:cNvCxnSpPr/>
          <p:nvPr/>
        </p:nvCxnSpPr>
        <p:spPr>
          <a:xfrm>
            <a:off x="4938976" y="3802777"/>
            <a:ext cx="631599"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5A092443-6DDC-4C76-7BE5-51726746C4EB}"/>
              </a:ext>
            </a:extLst>
          </p:cNvPr>
          <p:cNvPicPr>
            <a:picLocks noChangeAspect="1"/>
          </p:cNvPicPr>
          <p:nvPr/>
        </p:nvPicPr>
        <p:blipFill>
          <a:blip r:embed="rId3"/>
          <a:stretch>
            <a:fillRect/>
          </a:stretch>
        </p:blipFill>
        <p:spPr>
          <a:xfrm>
            <a:off x="5642208" y="2971800"/>
            <a:ext cx="6006888" cy="1883661"/>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D1AC0377-B4A5-E54B-8698-17AD9D175961}"/>
                  </a:ext>
                </a:extLst>
              </p14:cNvPr>
              <p14:cNvContentPartPr/>
              <p14:nvPr/>
            </p14:nvContentPartPr>
            <p14:xfrm>
              <a:off x="-411624" y="685656"/>
              <a:ext cx="360" cy="360"/>
            </p14:xfrm>
          </p:contentPart>
        </mc:Choice>
        <mc:Fallback>
          <p:pic>
            <p:nvPicPr>
              <p:cNvPr id="6" name="Ink 5">
                <a:extLst>
                  <a:ext uri="{FF2B5EF4-FFF2-40B4-BE49-F238E27FC236}">
                    <a16:creationId xmlns:a16="http://schemas.microsoft.com/office/drawing/2014/main" id="{D1AC0377-B4A5-E54B-8698-17AD9D175961}"/>
                  </a:ext>
                </a:extLst>
              </p:cNvPr>
              <p:cNvPicPr/>
              <p:nvPr/>
            </p:nvPicPr>
            <p:blipFill>
              <a:blip r:embed="rId5"/>
              <a:stretch>
                <a:fillRect/>
              </a:stretch>
            </p:blipFill>
            <p:spPr>
              <a:xfrm>
                <a:off x="-465624" y="577656"/>
                <a:ext cx="108000" cy="216000"/>
              </a:xfrm>
              <a:prstGeom prst="rect">
                <a:avLst/>
              </a:prstGeom>
            </p:spPr>
          </p:pic>
        </mc:Fallback>
      </mc:AlternateContent>
    </p:spTree>
    <p:extLst>
      <p:ext uri="{BB962C8B-B14F-4D97-AF65-F5344CB8AC3E}">
        <p14:creationId xmlns:p14="http://schemas.microsoft.com/office/powerpoint/2010/main" val="171800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65289" y="353630"/>
            <a:ext cx="10273911" cy="668224"/>
          </a:xfrm>
          <a:solidFill>
            <a:schemeClr val="bg2"/>
          </a:solidFill>
        </p:spPr>
        <p:txBody>
          <a:bodyPr/>
          <a:lstStyle/>
          <a:p>
            <a:pPr>
              <a:lnSpc>
                <a:spcPct val="100000"/>
              </a:lnSpc>
            </a:pPr>
            <a:r>
              <a:rPr lang="en-GB" b="0" dirty="0">
                <a:solidFill>
                  <a:srgbClr val="FF0000"/>
                </a:solidFill>
              </a:rPr>
              <a:t> </a:t>
            </a:r>
            <a:r>
              <a:rPr lang="en-GB" dirty="0"/>
              <a:t>Comparison of means/medians</a:t>
            </a:r>
            <a:r>
              <a:rPr lang="en-GB" b="0" dirty="0"/>
              <a:t>: </a:t>
            </a:r>
            <a:endParaRPr lang="en-GB" b="0" i="1" dirty="0"/>
          </a:p>
        </p:txBody>
      </p:sp>
      <p:pic>
        <p:nvPicPr>
          <p:cNvPr id="10" name="Picture 9">
            <a:extLst>
              <a:ext uri="{FF2B5EF4-FFF2-40B4-BE49-F238E27FC236}">
                <a16:creationId xmlns:a16="http://schemas.microsoft.com/office/drawing/2014/main" id="{3E81E0C4-7EDD-CAC2-E96A-19F989C14091}"/>
              </a:ext>
            </a:extLst>
          </p:cNvPr>
          <p:cNvPicPr>
            <a:picLocks noChangeAspect="1"/>
          </p:cNvPicPr>
          <p:nvPr/>
        </p:nvPicPr>
        <p:blipFill>
          <a:blip r:embed="rId3"/>
          <a:stretch>
            <a:fillRect/>
          </a:stretch>
        </p:blipFill>
        <p:spPr>
          <a:xfrm>
            <a:off x="965289" y="1152794"/>
            <a:ext cx="4009288" cy="3670194"/>
          </a:xfrm>
          <a:prstGeom prst="rect">
            <a:avLst/>
          </a:prstGeom>
        </p:spPr>
      </p:pic>
      <p:pic>
        <p:nvPicPr>
          <p:cNvPr id="11" name="Picture 10">
            <a:extLst>
              <a:ext uri="{FF2B5EF4-FFF2-40B4-BE49-F238E27FC236}">
                <a16:creationId xmlns:a16="http://schemas.microsoft.com/office/drawing/2014/main" id="{96FBA6BF-12A3-C894-7B50-E291803AEE10}"/>
              </a:ext>
            </a:extLst>
          </p:cNvPr>
          <p:cNvPicPr>
            <a:picLocks noChangeAspect="1"/>
          </p:cNvPicPr>
          <p:nvPr/>
        </p:nvPicPr>
        <p:blipFill>
          <a:blip r:embed="rId4"/>
          <a:stretch>
            <a:fillRect/>
          </a:stretch>
        </p:blipFill>
        <p:spPr>
          <a:xfrm>
            <a:off x="6137555" y="1152794"/>
            <a:ext cx="4009289" cy="3670195"/>
          </a:xfrm>
          <a:prstGeom prst="rect">
            <a:avLst/>
          </a:prstGeom>
        </p:spPr>
      </p:pic>
    </p:spTree>
    <p:extLst>
      <p:ext uri="{BB962C8B-B14F-4D97-AF65-F5344CB8AC3E}">
        <p14:creationId xmlns:p14="http://schemas.microsoft.com/office/powerpoint/2010/main" val="272335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103608" y="445443"/>
            <a:ext cx="10285200" cy="551829"/>
          </a:xfrm>
        </p:spPr>
        <p:txBody>
          <a:bodyPr/>
          <a:lstStyle/>
          <a:p>
            <a:r>
              <a:rPr lang="en-US" dirty="0"/>
              <a:t>Part 2: Analysis (building on your Visualizations)</a:t>
            </a:r>
            <a:endParaRPr lang="en-GB" dirty="0"/>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7</a:t>
            </a:fld>
            <a:endParaRPr lang="en-GB"/>
          </a:p>
        </p:txBody>
      </p:sp>
      <p:pic>
        <p:nvPicPr>
          <p:cNvPr id="8" name="Picture 7">
            <a:extLst>
              <a:ext uri="{FF2B5EF4-FFF2-40B4-BE49-F238E27FC236}">
                <a16:creationId xmlns:a16="http://schemas.microsoft.com/office/drawing/2014/main" id="{E96F9A62-82AA-DCDF-42A9-F57D7A791451}"/>
              </a:ext>
            </a:extLst>
          </p:cNvPr>
          <p:cNvPicPr>
            <a:picLocks noChangeAspect="1"/>
          </p:cNvPicPr>
          <p:nvPr/>
        </p:nvPicPr>
        <p:blipFill>
          <a:blip r:embed="rId2"/>
          <a:srcRect r="6478" b="14965"/>
          <a:stretch>
            <a:fillRect/>
          </a:stretch>
        </p:blipFill>
        <p:spPr>
          <a:xfrm>
            <a:off x="4930441" y="909828"/>
            <a:ext cx="4268424" cy="2327148"/>
          </a:xfrm>
          <a:prstGeom prst="rect">
            <a:avLst/>
          </a:prstGeom>
        </p:spPr>
      </p:pic>
      <p:pic>
        <p:nvPicPr>
          <p:cNvPr id="12" name="Picture 11">
            <a:extLst>
              <a:ext uri="{FF2B5EF4-FFF2-40B4-BE49-F238E27FC236}">
                <a16:creationId xmlns:a16="http://schemas.microsoft.com/office/drawing/2014/main" id="{7C903F73-BC68-EB51-2ECF-9CFBB5092B66}"/>
              </a:ext>
            </a:extLst>
          </p:cNvPr>
          <p:cNvPicPr>
            <a:picLocks noChangeAspect="1"/>
          </p:cNvPicPr>
          <p:nvPr/>
        </p:nvPicPr>
        <p:blipFill>
          <a:blip r:embed="rId3"/>
          <a:srcRect t="5558" r="6786" b="15541"/>
          <a:stretch>
            <a:fillRect/>
          </a:stretch>
        </p:blipFill>
        <p:spPr>
          <a:xfrm>
            <a:off x="179832" y="988128"/>
            <a:ext cx="4564081" cy="2409444"/>
          </a:xfrm>
          <a:prstGeom prst="rect">
            <a:avLst/>
          </a:prstGeom>
        </p:spPr>
      </p:pic>
      <p:pic>
        <p:nvPicPr>
          <p:cNvPr id="13" name="Picture 12">
            <a:extLst>
              <a:ext uri="{FF2B5EF4-FFF2-40B4-BE49-F238E27FC236}">
                <a16:creationId xmlns:a16="http://schemas.microsoft.com/office/drawing/2014/main" id="{572BE37E-A73A-2043-B8F6-F8908D8BBA6D}"/>
              </a:ext>
            </a:extLst>
          </p:cNvPr>
          <p:cNvPicPr>
            <a:picLocks noChangeAspect="1"/>
          </p:cNvPicPr>
          <p:nvPr/>
        </p:nvPicPr>
        <p:blipFill>
          <a:blip r:embed="rId4"/>
          <a:srcRect t="5623" r="8872" b="3543"/>
          <a:stretch>
            <a:fillRect/>
          </a:stretch>
        </p:blipFill>
        <p:spPr>
          <a:xfrm>
            <a:off x="8741665" y="3776472"/>
            <a:ext cx="3355848" cy="2880360"/>
          </a:xfrm>
          <a:prstGeom prst="rect">
            <a:avLst/>
          </a:prstGeom>
        </p:spPr>
      </p:pic>
      <p:pic>
        <p:nvPicPr>
          <p:cNvPr id="14" name="Picture 13">
            <a:extLst>
              <a:ext uri="{FF2B5EF4-FFF2-40B4-BE49-F238E27FC236}">
                <a16:creationId xmlns:a16="http://schemas.microsoft.com/office/drawing/2014/main" id="{984421B3-CA5B-707F-C8D2-5D247B6CB62D}"/>
              </a:ext>
            </a:extLst>
          </p:cNvPr>
          <p:cNvPicPr>
            <a:picLocks noChangeAspect="1"/>
          </p:cNvPicPr>
          <p:nvPr/>
        </p:nvPicPr>
        <p:blipFill>
          <a:blip r:embed="rId5"/>
          <a:srcRect l="6421" t="3997" b="35610"/>
          <a:stretch>
            <a:fillRect/>
          </a:stretch>
        </p:blipFill>
        <p:spPr>
          <a:xfrm>
            <a:off x="9400031" y="1609344"/>
            <a:ext cx="2734057" cy="1865376"/>
          </a:xfrm>
          <a:prstGeom prst="rect">
            <a:avLst/>
          </a:prstGeom>
        </p:spPr>
      </p:pic>
      <p:pic>
        <p:nvPicPr>
          <p:cNvPr id="5" name="Picture 4">
            <a:extLst>
              <a:ext uri="{FF2B5EF4-FFF2-40B4-BE49-F238E27FC236}">
                <a16:creationId xmlns:a16="http://schemas.microsoft.com/office/drawing/2014/main" id="{EF928033-CC30-025D-EFD5-456328FD8800}"/>
              </a:ext>
            </a:extLst>
          </p:cNvPr>
          <p:cNvPicPr>
            <a:picLocks noChangeAspect="1"/>
          </p:cNvPicPr>
          <p:nvPr/>
        </p:nvPicPr>
        <p:blipFill>
          <a:blip r:embed="rId6"/>
          <a:stretch>
            <a:fillRect/>
          </a:stretch>
        </p:blipFill>
        <p:spPr>
          <a:xfrm>
            <a:off x="328300" y="3113533"/>
            <a:ext cx="4234556" cy="2409444"/>
          </a:xfrm>
          <a:prstGeom prst="rect">
            <a:avLst/>
          </a:prstGeom>
        </p:spPr>
      </p:pic>
      <p:pic>
        <p:nvPicPr>
          <p:cNvPr id="10" name="Picture 9">
            <a:extLst>
              <a:ext uri="{FF2B5EF4-FFF2-40B4-BE49-F238E27FC236}">
                <a16:creationId xmlns:a16="http://schemas.microsoft.com/office/drawing/2014/main" id="{4C6A64C5-77DB-6E9E-0EFC-86D5D8E76895}"/>
              </a:ext>
            </a:extLst>
          </p:cNvPr>
          <p:cNvPicPr>
            <a:picLocks noChangeAspect="1"/>
          </p:cNvPicPr>
          <p:nvPr/>
        </p:nvPicPr>
        <p:blipFill>
          <a:blip r:embed="rId7"/>
          <a:srcRect t="6437" r="6495" b="4041"/>
          <a:stretch>
            <a:fillRect/>
          </a:stretch>
        </p:blipFill>
        <p:spPr>
          <a:xfrm>
            <a:off x="5056846" y="3326142"/>
            <a:ext cx="3355847" cy="2644442"/>
          </a:xfrm>
          <a:prstGeom prst="rect">
            <a:avLst/>
          </a:prstGeom>
        </p:spPr>
      </p:pic>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a:xfrm>
            <a:off x="87465" y="86934"/>
            <a:ext cx="7176911" cy="230832"/>
          </a:xfrm>
        </p:spPr>
        <p:txBody>
          <a:bodyPr/>
          <a:lstStyle/>
          <a:p>
            <a:r>
              <a:rPr lang="en-US" sz="1600" dirty="0"/>
              <a:t>Visualization and Analysis – Tutorial Presentation For Feedback</a:t>
            </a:r>
            <a:endParaRPr lang="en-GB" sz="1600" dirty="0"/>
          </a:p>
        </p:txBody>
      </p:sp>
    </p:spTree>
    <p:extLst>
      <p:ext uri="{BB962C8B-B14F-4D97-AF65-F5344CB8AC3E}">
        <p14:creationId xmlns:p14="http://schemas.microsoft.com/office/powerpoint/2010/main" val="1248763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dirty="0">
                <a:solidFill>
                  <a:srgbClr val="FFFFFF"/>
                </a:solidFill>
                <a:latin typeface="Arial"/>
              </a:rPr>
              <a:t>Our RQ asks about Differences in means</a:t>
            </a:r>
            <a:endParaRPr lang="en-US" sz="3000" b="1" strike="noStrike" spc="-1" dirty="0">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8</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dirty="0">
                <a:solidFill>
                  <a:srgbClr val="FFFFFF"/>
                </a:solidFill>
                <a:latin typeface="Arial"/>
              </a:rPr>
              <a:t>Here is a </a:t>
            </a:r>
            <a:r>
              <a:rPr lang="en-GB" sz="2400" b="1" strike="noStrike" spc="-1" dirty="0">
                <a:solidFill>
                  <a:srgbClr val="FFFFFF"/>
                </a:solidFill>
                <a:latin typeface="Arial"/>
              </a:rPr>
              <a:t>Histogram </a:t>
            </a:r>
            <a:r>
              <a:rPr lang="en-GB" sz="2400" b="0" strike="noStrike" spc="-1" dirty="0">
                <a:solidFill>
                  <a:srgbClr val="FFFFFF"/>
                </a:solidFill>
                <a:latin typeface="Arial"/>
              </a:rPr>
              <a:t>showing the density of our dependent variable to include the normal curves overlay</a:t>
            </a:r>
            <a:endParaRPr lang="en-US" sz="1800" b="0" strike="noStrike" spc="-1" dirty="0">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sp>
        <p:nvSpPr>
          <p:cNvPr id="113" name="CustomShape 10"/>
          <p:cNvSpPr/>
          <p:nvPr/>
        </p:nvSpPr>
        <p:spPr>
          <a:xfrm>
            <a:off x="6074496" y="2945275"/>
            <a:ext cx="4475760" cy="2306870"/>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b">
            <a:spAutoFit/>
          </a:bodyPr>
          <a:lstStyle/>
          <a:p>
            <a:pPr>
              <a:lnSpc>
                <a:spcPct val="100000"/>
              </a:lnSpc>
            </a:pPr>
            <a:endParaRPr lang="en-GB" sz="1800" b="0" strike="noStrike" spc="-1" dirty="0">
              <a:solidFill>
                <a:srgbClr val="203232"/>
              </a:solidFill>
              <a:latin typeface="Arial"/>
            </a:endParaRPr>
          </a:p>
          <a:p>
            <a:pPr>
              <a:lnSpc>
                <a:spcPct val="100000"/>
              </a:lnSpc>
            </a:pPr>
            <a:endParaRPr lang="en-GB" spc="-1" dirty="0">
              <a:solidFill>
                <a:srgbClr val="203232"/>
              </a:solidFill>
              <a:latin typeface="Arial"/>
            </a:endParaRPr>
          </a:p>
          <a:p>
            <a:pPr>
              <a:lnSpc>
                <a:spcPct val="100000"/>
              </a:lnSpc>
            </a:pPr>
            <a:r>
              <a:rPr lang="en-GB" sz="1800" b="0" strike="noStrike" spc="-1" dirty="0">
                <a:solidFill>
                  <a:srgbClr val="203232"/>
                </a:solidFill>
                <a:latin typeface="Arial"/>
              </a:rPr>
              <a:t>The normal curve overlay </a:t>
            </a:r>
            <a:r>
              <a:rPr lang="en-GB" sz="1800" b="1" i="1" strike="noStrike" spc="-1" dirty="0">
                <a:solidFill>
                  <a:srgbClr val="203232"/>
                </a:solidFill>
                <a:latin typeface="Arial"/>
              </a:rPr>
              <a:t>follows</a:t>
            </a:r>
            <a:r>
              <a:rPr lang="en-GB" sz="1800" b="0" strike="noStrike" spc="-1" dirty="0">
                <a:solidFill>
                  <a:srgbClr val="203232"/>
                </a:solidFill>
                <a:latin typeface="Arial"/>
              </a:rPr>
              <a:t> the contours of the underlying data for Oat, and moderately for Rough Rice so we use the parametric test</a:t>
            </a:r>
            <a:r>
              <a:rPr lang="en-GB" sz="1800" b="0" strike="noStrike" spc="-1" dirty="0">
                <a:solidFill>
                  <a:srgbClr val="0073CF"/>
                </a:solidFill>
                <a:latin typeface="Arial"/>
              </a:rPr>
              <a:t>: t-test.</a:t>
            </a:r>
          </a:p>
          <a:p>
            <a:pPr>
              <a:lnSpc>
                <a:spcPct val="100000"/>
              </a:lnSpc>
            </a:pPr>
            <a:endParaRPr lang="en-US" sz="1800" b="0" strike="noStrike" spc="-1" dirty="0">
              <a:latin typeface="Arial"/>
            </a:endParaRPr>
          </a:p>
          <a:p>
            <a:pPr>
              <a:lnSpc>
                <a:spcPct val="100000"/>
              </a:lnSpc>
            </a:pPr>
            <a:endParaRPr lang="en-US" sz="1800" b="0" strike="noStrike" spc="-1" dirty="0">
              <a:latin typeface="Arial"/>
            </a:endParaRPr>
          </a:p>
        </p:txBody>
      </p:sp>
      <p:pic>
        <p:nvPicPr>
          <p:cNvPr id="2" name="Picture 1">
            <a:extLst>
              <a:ext uri="{FF2B5EF4-FFF2-40B4-BE49-F238E27FC236}">
                <a16:creationId xmlns:a16="http://schemas.microsoft.com/office/drawing/2014/main" id="{32A3BDD4-5FD8-8989-FC0E-EEDCC337881E}"/>
              </a:ext>
            </a:extLst>
          </p:cNvPr>
          <p:cNvPicPr>
            <a:picLocks noChangeAspect="1"/>
          </p:cNvPicPr>
          <p:nvPr/>
        </p:nvPicPr>
        <p:blipFill>
          <a:blip r:embed="rId2"/>
          <a:stretch>
            <a:fillRect/>
          </a:stretch>
        </p:blipFill>
        <p:spPr>
          <a:xfrm>
            <a:off x="1163219" y="2314082"/>
            <a:ext cx="4009289" cy="36701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9</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5205977"/>
          </a:xfrm>
          <a:prstGeom prst="rect">
            <a:avLst/>
          </a:prstGeom>
          <a:solidFill>
            <a:schemeClr val="bg1"/>
          </a:solidFill>
        </p:spPr>
        <p:txBody>
          <a:bodyPr wrap="square" rtlCol="0">
            <a:spAutoFit/>
          </a:bodyPr>
          <a:lstStyle/>
          <a:p>
            <a:pPr marL="285750" indent="-285750">
              <a:buFont typeface="Arial" panose="020B0604020202020204" pitchFamily="34" charset="0"/>
              <a:buChar char="•"/>
            </a:pPr>
            <a:endParaRPr kumimoji="0" lang="en-US" sz="3600" i="0" u="none" kern="1200" cap="none" spc="-202" normalizeH="0" baseline="0" noProof="0" dirty="0">
              <a:ln>
                <a:noFill/>
              </a:ln>
              <a:solidFill>
                <a:srgbClr val="203232"/>
              </a:solidFill>
              <a:effectLst/>
              <a:uLnTx/>
              <a:uFillTx/>
              <a:latin typeface="Arial"/>
              <a:ea typeface="+mn-ea"/>
              <a:cs typeface="+mn-cs"/>
            </a:endParaRPr>
          </a:p>
          <a:p>
            <a:pPr marL="285750" indent="-285750">
              <a:buFont typeface="Arial" panose="020B0604020202020204" pitchFamily="34" charset="0"/>
              <a:buChar char="•"/>
            </a:pPr>
            <a:endParaRPr kumimoji="0" lang="en-US" sz="2000" b="0" i="0" u="none" strike="noStrike" kern="1200" cap="none" spc="0" normalizeH="0" baseline="0" noProof="0" dirty="0">
              <a:ln>
                <a:noFill/>
              </a:ln>
              <a:solidFill>
                <a:srgbClr val="203232"/>
              </a:solidFill>
              <a:effectLst/>
              <a:uLnTx/>
              <a:uFillTx/>
              <a:latin typeface="Arial"/>
              <a:ea typeface="+mn-ea"/>
              <a:cs typeface="+mn-cs"/>
            </a:endParaRPr>
          </a:p>
          <a:p>
            <a:pPr marL="285750" indent="-285750">
              <a:buFont typeface="Arial" panose="020B0604020202020204" pitchFamily="34" charset="0"/>
              <a:buChar char="•"/>
            </a:pPr>
            <a:endParaRPr lang="en-US" sz="2000" dirty="0">
              <a:solidFill>
                <a:srgbClr val="203232"/>
              </a:solidFill>
              <a:latin typeface="Arial"/>
            </a:endParaRPr>
          </a:p>
          <a:p>
            <a:pPr marL="285750" indent="-285750">
              <a:buFont typeface="Arial" panose="020B0604020202020204" pitchFamily="34" charset="0"/>
              <a:buChar char="•"/>
            </a:pPr>
            <a:endParaRPr kumimoji="0" lang="en-US" sz="2000" b="0" i="0" u="none" strike="noStrike" kern="1200" cap="none" spc="0" normalizeH="0" baseline="0" noProof="0" dirty="0">
              <a:ln>
                <a:noFill/>
              </a:ln>
              <a:solidFill>
                <a:srgbClr val="203232"/>
              </a:solidFill>
              <a:effectLst/>
              <a:uLnTx/>
              <a:uFillTx/>
              <a:latin typeface="Arial"/>
              <a:ea typeface="+mn-ea"/>
              <a:cs typeface="+mn-cs"/>
            </a:endParaRPr>
          </a:p>
          <a:p>
            <a:pPr marL="285750" indent="-285750">
              <a:buFont typeface="Arial" panose="020B0604020202020204" pitchFamily="34" charset="0"/>
              <a:buChar char="•"/>
            </a:pPr>
            <a:endParaRPr lang="en-US" sz="2000" dirty="0">
              <a:solidFill>
                <a:srgbClr val="203232"/>
              </a:solidFill>
              <a:latin typeface="Arial"/>
            </a:endParaRPr>
          </a:p>
          <a:p>
            <a:pPr marL="285750" indent="-285750">
              <a:buFont typeface="Arial" panose="020B0604020202020204" pitchFamily="34" charset="0"/>
              <a:buChar char="•"/>
            </a:pPr>
            <a:endParaRPr kumimoji="0" lang="en-US" sz="2000" b="0" i="0" u="none" strike="noStrike" kern="1200" cap="none" spc="0" normalizeH="0" baseline="0" noProof="0" dirty="0">
              <a:ln>
                <a:noFill/>
              </a:ln>
              <a:solidFill>
                <a:srgbClr val="203232"/>
              </a:solidFill>
              <a:effectLst/>
              <a:uLnTx/>
              <a:uFillTx/>
              <a:latin typeface="Arial"/>
              <a:ea typeface="+mn-ea"/>
              <a:cs typeface="+mn-cs"/>
            </a:endParaRPr>
          </a:p>
          <a:p>
            <a:pPr marL="285750" indent="-285750">
              <a:buFont typeface="Arial" panose="020B0604020202020204" pitchFamily="34" charset="0"/>
              <a:buChar char="•"/>
            </a:pPr>
            <a:r>
              <a:rPr kumimoji="0" lang="en-US" sz="2000" b="0" i="0" u="none" strike="noStrike" kern="1200" cap="none" spc="0" normalizeH="0" baseline="0" noProof="0" dirty="0">
                <a:ln>
                  <a:noFill/>
                </a:ln>
                <a:solidFill>
                  <a:srgbClr val="203232"/>
                </a:solidFill>
                <a:effectLst/>
                <a:uLnTx/>
                <a:uFillTx/>
                <a:latin typeface="Arial"/>
                <a:ea typeface="+mn-ea"/>
                <a:cs typeface="+mn-cs"/>
              </a:rPr>
              <a:t>p-value &lt; 0.05</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03232"/>
                </a:solidFill>
                <a:effectLst/>
                <a:uLnTx/>
                <a:uFillTx/>
                <a:latin typeface="Arial"/>
                <a:ea typeface="+mn-ea"/>
                <a:cs typeface="+mn-cs"/>
              </a:rPr>
              <a:t>There is a difference in the mean closing price between the commodities rough rice and oat.</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03232"/>
                </a:solidFill>
                <a:effectLst/>
                <a:uLnTx/>
                <a:uFillTx/>
                <a:latin typeface="Arial"/>
                <a:ea typeface="+mn-ea"/>
                <a:cs typeface="+mn-cs"/>
              </a:rPr>
              <a:t>Therefore, we ‘fail to reject the null hypothesis’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03232"/>
                </a:solidFill>
                <a:effectLst/>
                <a:uLnTx/>
                <a:uFillTx/>
                <a:latin typeface="Arial"/>
                <a:ea typeface="+mn-ea"/>
                <a:cs typeface="+mn-cs"/>
              </a:rPr>
              <a:t>The obtained result indicates that the rough rice commodity maintains consistently higher (mean) market prices. It suggests different market conditions, demand and prices. For investors, analysts, or agricultural economists, this crop stands out as a </a:t>
            </a:r>
            <a:r>
              <a:rPr kumimoji="0" lang="en-US" sz="2000" b="1" i="0" u="none" strike="noStrike" kern="1200" cap="none" spc="0" normalizeH="0" baseline="0" noProof="0" dirty="0">
                <a:ln>
                  <a:noFill/>
                </a:ln>
                <a:solidFill>
                  <a:srgbClr val="203232"/>
                </a:solidFill>
                <a:effectLst/>
                <a:uLnTx/>
                <a:uFillTx/>
                <a:latin typeface="Arial"/>
                <a:ea typeface="+mn-ea"/>
                <a:cs typeface="+mn-cs"/>
              </a:rPr>
              <a:t>distinct price performer</a:t>
            </a:r>
            <a:r>
              <a:rPr kumimoji="0" lang="en-US" sz="2000" b="0" i="0" u="none" strike="noStrike" kern="1200" cap="none" spc="0" normalizeH="0" baseline="0" noProof="0" dirty="0">
                <a:ln>
                  <a:noFill/>
                </a:ln>
                <a:solidFill>
                  <a:srgbClr val="203232"/>
                </a:solidFill>
                <a:effectLst/>
                <a:uLnTx/>
                <a:uFillTx/>
                <a:latin typeface="Arial"/>
                <a:ea typeface="+mn-ea"/>
                <a:cs typeface="+mn-cs"/>
              </a:rPr>
              <a:t>. </a:t>
            </a:r>
          </a:p>
        </p:txBody>
      </p:sp>
      <p:pic>
        <p:nvPicPr>
          <p:cNvPr id="4" name="Picture 3">
            <a:extLst>
              <a:ext uri="{FF2B5EF4-FFF2-40B4-BE49-F238E27FC236}">
                <a16:creationId xmlns:a16="http://schemas.microsoft.com/office/drawing/2014/main" id="{3A54D47F-A803-F533-7E1D-B208A210482A}"/>
              </a:ext>
            </a:extLst>
          </p:cNvPr>
          <p:cNvPicPr>
            <a:picLocks noChangeAspect="1"/>
          </p:cNvPicPr>
          <p:nvPr/>
        </p:nvPicPr>
        <p:blipFill>
          <a:blip r:embed="rId3"/>
          <a:stretch>
            <a:fillRect/>
          </a:stretch>
        </p:blipFill>
        <p:spPr>
          <a:xfrm>
            <a:off x="1078992" y="1618488"/>
            <a:ext cx="4270248" cy="2030957"/>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8CBD48C1-4821-EFA7-375F-0CA5F88E10FA}"/>
                  </a:ext>
                </a:extLst>
              </p14:cNvPr>
              <p14:cNvContentPartPr/>
              <p14:nvPr/>
            </p14:nvContentPartPr>
            <p14:xfrm>
              <a:off x="2706336" y="2724912"/>
              <a:ext cx="1087560" cy="83520"/>
            </p14:xfrm>
          </p:contentPart>
        </mc:Choice>
        <mc:Fallback>
          <p:pic>
            <p:nvPicPr>
              <p:cNvPr id="6" name="Ink 5">
                <a:extLst>
                  <a:ext uri="{FF2B5EF4-FFF2-40B4-BE49-F238E27FC236}">
                    <a16:creationId xmlns:a16="http://schemas.microsoft.com/office/drawing/2014/main" id="{8CBD48C1-4821-EFA7-375F-0CA5F88E10FA}"/>
                  </a:ext>
                </a:extLst>
              </p:cNvPr>
              <p:cNvPicPr/>
              <p:nvPr/>
            </p:nvPicPr>
            <p:blipFill>
              <a:blip r:embed="rId5"/>
              <a:stretch>
                <a:fillRect/>
              </a:stretch>
            </p:blipFill>
            <p:spPr>
              <a:xfrm>
                <a:off x="2652696" y="2617272"/>
                <a:ext cx="119520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C74E8B5A-7714-3693-F085-5169F836054C}"/>
                  </a:ext>
                </a:extLst>
              </p14:cNvPr>
              <p14:cNvContentPartPr/>
              <p14:nvPr/>
            </p14:nvContentPartPr>
            <p14:xfrm>
              <a:off x="1143216" y="2742912"/>
              <a:ext cx="575280" cy="46440"/>
            </p14:xfrm>
          </p:contentPart>
        </mc:Choice>
        <mc:Fallback>
          <p:pic>
            <p:nvPicPr>
              <p:cNvPr id="7" name="Ink 6">
                <a:extLst>
                  <a:ext uri="{FF2B5EF4-FFF2-40B4-BE49-F238E27FC236}">
                    <a16:creationId xmlns:a16="http://schemas.microsoft.com/office/drawing/2014/main" id="{C74E8B5A-7714-3693-F085-5169F836054C}"/>
                  </a:ext>
                </a:extLst>
              </p:cNvPr>
              <p:cNvPicPr/>
              <p:nvPr/>
            </p:nvPicPr>
            <p:blipFill>
              <a:blip r:embed="rId7"/>
              <a:stretch>
                <a:fillRect/>
              </a:stretch>
            </p:blipFill>
            <p:spPr>
              <a:xfrm>
                <a:off x="1089216" y="2634912"/>
                <a:ext cx="682920" cy="262080"/>
              </a:xfrm>
              <a:prstGeom prst="rect">
                <a:avLst/>
              </a:prstGeom>
            </p:spPr>
          </p:pic>
        </mc:Fallback>
      </mc:AlternateContent>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47</TotalTime>
  <Words>730</Words>
  <Application>Microsoft Office PowerPoint</Application>
  <PresentationFormat>Widescreen</PresentationFormat>
  <Paragraphs>72</Paragraphs>
  <Slides>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1/12/2025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Dhanashree Mahajan</cp:lastModifiedBy>
  <cp:revision>19</cp:revision>
  <dcterms:created xsi:type="dcterms:W3CDTF">2019-10-01T08:37:56Z</dcterms:created>
  <dcterms:modified xsi:type="dcterms:W3CDTF">2025-12-06T15:28:55Z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