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337" r:id="rId5"/>
    <p:sldId id="289" r:id="rId6"/>
    <p:sldId id="340" r:id="rId7"/>
    <p:sldId id="329" r:id="rId8"/>
    <p:sldId id="336" r:id="rId9"/>
    <p:sldId id="34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95D8"/>
    <a:srgbClr val="A97CBE"/>
    <a:srgbClr val="85509A"/>
    <a:srgbClr val="714484"/>
    <a:srgbClr val="0073CF"/>
    <a:srgbClr val="203232"/>
    <a:srgbClr val="30454F"/>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06/12/2025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06/12/2025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A29D8FC-E32A-5566-0930-02B99F5763A6}"/>
              </a:ext>
            </a:extLst>
          </p:cNvPr>
          <p:cNvSpPr>
            <a:spLocks noGrp="1"/>
          </p:cNvSpPr>
          <p:nvPr>
            <p:ph type="subTitle" idx="1"/>
          </p:nvPr>
        </p:nvSpPr>
        <p:spPr>
          <a:xfrm>
            <a:off x="952800" y="699736"/>
            <a:ext cx="10273911" cy="533111"/>
          </a:xfrm>
        </p:spPr>
        <p:txBody>
          <a:bodyPr/>
          <a:lstStyle/>
          <a:p>
            <a:r>
              <a:rPr lang="en-GB"/>
              <a:t>Instructions for the Research Question Demos</a:t>
            </a:r>
          </a:p>
        </p:txBody>
      </p:sp>
      <p:sp>
        <p:nvSpPr>
          <p:cNvPr id="4" name="Slide Number Placeholder 3">
            <a:extLst>
              <a:ext uri="{FF2B5EF4-FFF2-40B4-BE49-F238E27FC236}">
                <a16:creationId xmlns:a16="http://schemas.microsoft.com/office/drawing/2014/main" id="{E143B824-C7FA-8427-0A8B-E8B5D7787B83}"/>
              </a:ext>
            </a:extLst>
          </p:cNvPr>
          <p:cNvSpPr>
            <a:spLocks noGrp="1"/>
          </p:cNvSpPr>
          <p:nvPr>
            <p:ph type="sldNum" sz="quarter" idx="12"/>
          </p:nvPr>
        </p:nvSpPr>
        <p:spPr/>
        <p:txBody>
          <a:bodyPr/>
          <a:lstStyle/>
          <a:p>
            <a:fld id="{E4D355CA-84B7-41B1-B164-8BB439CC7C6B}" type="slidenum">
              <a:rPr lang="en-GB" smtClean="0"/>
              <a:pPr/>
              <a:t>1</a:t>
            </a:fld>
            <a:endParaRPr lang="en-GB"/>
          </a:p>
        </p:txBody>
      </p:sp>
      <p:sp>
        <p:nvSpPr>
          <p:cNvPr id="6" name="TextBox 5">
            <a:extLst>
              <a:ext uri="{FF2B5EF4-FFF2-40B4-BE49-F238E27FC236}">
                <a16:creationId xmlns:a16="http://schemas.microsoft.com/office/drawing/2014/main" id="{6DD9461E-8553-F8C3-E23F-FB71330E931F}"/>
              </a:ext>
            </a:extLst>
          </p:cNvPr>
          <p:cNvSpPr txBox="1"/>
          <p:nvPr/>
        </p:nvSpPr>
        <p:spPr>
          <a:xfrm>
            <a:off x="388578" y="1310979"/>
            <a:ext cx="11486747" cy="5355312"/>
          </a:xfrm>
          <a:prstGeom prst="rect">
            <a:avLst/>
          </a:prstGeom>
          <a:solidFill>
            <a:schemeClr val="bg1"/>
          </a:solidFill>
        </p:spPr>
        <p:txBody>
          <a:bodyPr wrap="square" lIns="91440" tIns="45720" rIns="91440" bIns="45720" rtlCol="0" anchor="t">
            <a:spAutoFit/>
          </a:bodyPr>
          <a:lstStyle/>
          <a:p>
            <a:r>
              <a:rPr lang="en-GB" dirty="0"/>
              <a:t>You have 5 minutes to present – be ready to share your screen, present slides in "full screen / presentation mode". Practice first. We can only offer you one opportunity to present your Research Question, so please make the most of this opportunity to help you pass coursework 2. </a:t>
            </a:r>
          </a:p>
          <a:p>
            <a:endParaRPr lang="en-GB" dirty="0"/>
          </a:p>
          <a:p>
            <a:r>
              <a:rPr lang="en-GB" dirty="0">
                <a:solidFill>
                  <a:srgbClr val="FF0000"/>
                </a:solidFill>
              </a:rPr>
              <a:t>Research Questions are dependent on the variables and datatypes you have in your assigned dataset. Before you define your Research Question, your dataset dsXXXX must match your assigned Dataset, I.e., did you receive confirmation email about your allocation? Your group number must be assigned to the dataset you are referencing here.</a:t>
            </a:r>
            <a:endParaRPr lang="en-GB" dirty="0">
              <a:solidFill>
                <a:srgbClr val="FF0000"/>
              </a:solidFill>
              <a:cs typeface="Arial"/>
            </a:endParaRPr>
          </a:p>
          <a:p>
            <a:endParaRPr lang="en-GB" dirty="0">
              <a:solidFill>
                <a:srgbClr val="203232"/>
              </a:solidFill>
              <a:cs typeface="Arial" panose="020B0604020202020204"/>
            </a:endParaRPr>
          </a:p>
          <a:p>
            <a:r>
              <a:rPr lang="en-GB" dirty="0"/>
              <a:t>The next slides give you three alternatives for defining your research question and hypotheses. Select only </a:t>
            </a:r>
            <a:r>
              <a:rPr lang="en-GB" b="1" dirty="0"/>
              <a:t>one type </a:t>
            </a:r>
            <a:r>
              <a:rPr lang="en-GB" dirty="0"/>
              <a:t>of research question. </a:t>
            </a:r>
          </a:p>
          <a:p>
            <a:r>
              <a:rPr lang="en-GB" dirty="0"/>
              <a:t>Before presenting DELETE all text that is either an instruction or an </a:t>
            </a:r>
            <a:r>
              <a:rPr lang="en-GB" dirty="0" err="1"/>
              <a:t>optionyou</a:t>
            </a:r>
            <a:r>
              <a:rPr lang="en-GB" dirty="0"/>
              <a:t> do not use (including this slide).   You can then enlarge your selection. Instructions for group sign up of presentation slots will be announced on Canvas and Slack. DO NOT SIGN UP unless you can attend. Ideally, all group members should attend; select one person to present, while others take notes. All group be ready to answer questions.  Any group not presenting will miss the opportunity to check a critical part of coursework 2.   Practice presenting on Teams first.</a:t>
            </a:r>
          </a:p>
          <a:p>
            <a:r>
              <a:rPr lang="en-GB" b="1" i="1" dirty="0"/>
              <a:t>We look forward to giving you feedback.  You will not be graded on this presentation but if you do not attend and you booked a space you are preventing someone else presenting and are going against our module values</a:t>
            </a:r>
            <a:r>
              <a:rPr lang="en-GB" dirty="0"/>
              <a:t>.  This will be reflected in your peer evaluation.</a:t>
            </a:r>
          </a:p>
        </p:txBody>
      </p:sp>
    </p:spTree>
    <p:extLst>
      <p:ext uri="{BB962C8B-B14F-4D97-AF65-F5344CB8AC3E}">
        <p14:creationId xmlns:p14="http://schemas.microsoft.com/office/powerpoint/2010/main" val="384748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a:t>
            </a:r>
            <a:r>
              <a:rPr lang="en-US" sz="2200"/>
              <a:t>: 17/11/2025</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54000" y="1890000"/>
            <a:ext cx="10192536" cy="360000"/>
          </a:xfrm>
        </p:spPr>
        <p:txBody>
          <a:bodyPr/>
          <a:lstStyle/>
          <a:p>
            <a:r>
              <a:rPr lang="en-US" sz="2000" dirty="0"/>
              <a:t>Group Name: A 103                                                           Name of Student Presenting: Dhanashree</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pPr algn="r"/>
            <a:r>
              <a:rPr lang="en-GB" dirty="0"/>
              <a:t>7COM1079-2025  Student Group No: group A 103         Names of Student Attendees : Dhanashree, Meghana, Moulika, Jaswanth, Surendra</a:t>
            </a:r>
          </a:p>
        </p:txBody>
      </p:sp>
    </p:spTree>
    <p:extLst>
      <p:ext uri="{BB962C8B-B14F-4D97-AF65-F5344CB8AC3E}">
        <p14:creationId xmlns:p14="http://schemas.microsoft.com/office/powerpoint/2010/main" val="4148532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754446"/>
            <a:ext cx="9753625" cy="230832"/>
          </a:xfrm>
        </p:spPr>
        <p:txBody>
          <a:bodyPr vert="horz" lIns="0" tIns="0" rIns="0" bIns="0" rtlCol="0" anchor="t">
            <a:noAutofit/>
          </a:bodyPr>
          <a:lstStyle/>
          <a:p>
            <a:pPr>
              <a:spcAft>
                <a:spcPts val="0"/>
              </a:spcAft>
            </a:pPr>
            <a:r>
              <a:rPr lang="en-GB" dirty="0">
                <a:solidFill>
                  <a:srgbClr val="203232"/>
                </a:solidFill>
                <a:cs typeface="Arial"/>
              </a:rPr>
              <a:t>Here is a sample of our dataset: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a:xfrm>
            <a:off x="1001865" y="297246"/>
            <a:ext cx="7176911" cy="230832"/>
          </a:xfrm>
        </p:spPr>
        <p:txBody>
          <a:bodyPr/>
          <a:lstStyle/>
          <a:p>
            <a:r>
              <a:rPr lang="en-GB" dirty="0"/>
              <a:t>PRE 7COM1079-2025  Student Group No:  A103</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5288" y="1239078"/>
            <a:ext cx="10273911" cy="4155882"/>
          </a:xfrm>
        </p:spPr>
        <p:txBody>
          <a:bodyPr>
            <a:normAutofit fontScale="90000"/>
          </a:bodyPr>
          <a:lstStyle/>
          <a:p>
            <a:pPr>
              <a:lnSpc>
                <a:spcPts val="2880"/>
              </a:lnSpc>
              <a:spcBef>
                <a:spcPts val="0"/>
              </a:spcBef>
            </a:pPr>
            <a:r>
              <a:rPr lang="en-GB" sz="2000" b="0" spc="0" dirty="0">
                <a:solidFill>
                  <a:srgbClr val="FF0000"/>
                </a:solidFill>
                <a:cs typeface="Arial"/>
              </a:rPr>
              <a:t>The dataset contains 36041 daily records of commodity prices and trading volume, a fairly large time series suitable for trend analysis and forecasting.</a:t>
            </a:r>
            <a:br>
              <a:rPr lang="en-GB" sz="2000" b="0" spc="0" dirty="0">
                <a:solidFill>
                  <a:srgbClr val="FF0000"/>
                </a:solidFill>
                <a:cs typeface="Arial"/>
              </a:rPr>
            </a:br>
            <a:r>
              <a:rPr lang="en-GB" sz="2000" b="0" spc="0" dirty="0">
                <a:solidFill>
                  <a:srgbClr val="FF0000"/>
                </a:solidFill>
                <a:cs typeface="Arial"/>
              </a:rPr>
              <a:t>Independent variables : ticker, commodity, date</a:t>
            </a:r>
            <a:br>
              <a:rPr lang="en-GB" sz="2000" b="0" spc="0" dirty="0">
                <a:solidFill>
                  <a:srgbClr val="FF0000"/>
                </a:solidFill>
                <a:cs typeface="Arial"/>
              </a:rPr>
            </a:br>
            <a:r>
              <a:rPr lang="en-GB" sz="2000" b="0" spc="0" dirty="0">
                <a:solidFill>
                  <a:srgbClr val="FF0000"/>
                </a:solidFill>
                <a:cs typeface="Arial"/>
              </a:rPr>
              <a:t>Dependent variables : open, high, low, close, volume</a:t>
            </a:r>
            <a:br>
              <a:rPr lang="en-GB" sz="2000" b="0" spc="0" dirty="0">
                <a:solidFill>
                  <a:srgbClr val="FF0000"/>
                </a:solidFill>
                <a:cs typeface="Arial"/>
              </a:rPr>
            </a:br>
            <a:endParaRPr lang="en-US" sz="2000" b="0" spc="0" dirty="0">
              <a:solidFill>
                <a:srgbClr val="FF0000"/>
              </a:solidFill>
              <a:cs typeface="Arial"/>
            </a:endParaRPr>
          </a:p>
          <a:p>
            <a:pPr>
              <a:lnSpc>
                <a:spcPts val="2880"/>
              </a:lnSpc>
              <a:spcBef>
                <a:spcPts val="0"/>
              </a:spcBef>
              <a:spcAft>
                <a:spcPts val="992"/>
              </a:spcAft>
            </a:pPr>
            <a:r>
              <a:rPr lang="en-GB" sz="3100" spc="-150" dirty="0">
                <a:solidFill>
                  <a:srgbClr val="FF0000"/>
                </a:solidFill>
                <a:cs typeface="Arial"/>
              </a:rPr>
              <a:t>1. close, commodity</a:t>
            </a:r>
            <a:endParaRPr lang="en-US" sz="3100" spc="-150" dirty="0">
              <a:solidFill>
                <a:srgbClr val="FF0000"/>
              </a:solidFill>
              <a:cs typeface="Arial"/>
            </a:endParaRPr>
          </a:p>
          <a:p>
            <a:pPr>
              <a:lnSpc>
                <a:spcPts val="2880"/>
              </a:lnSpc>
              <a:spcBef>
                <a:spcPts val="0"/>
              </a:spcBef>
              <a:spcAft>
                <a:spcPts val="992"/>
              </a:spcAft>
            </a:pPr>
            <a:r>
              <a:rPr lang="en-US" sz="3100" spc="-150" dirty="0">
                <a:solidFill>
                  <a:srgbClr val="FF0000"/>
                </a:solidFill>
                <a:cs typeface="Arial"/>
              </a:rPr>
              <a:t>2.</a:t>
            </a:r>
            <a:br>
              <a:rPr lang="en-US" sz="3100" spc="-150" dirty="0">
                <a:solidFill>
                  <a:srgbClr val="FF0000"/>
                </a:solidFill>
                <a:cs typeface="Arial"/>
              </a:rPr>
            </a:br>
            <a:br>
              <a:rPr lang="en-US" sz="3100" spc="-150" dirty="0">
                <a:solidFill>
                  <a:srgbClr val="FF0000"/>
                </a:solidFill>
                <a:cs typeface="Arial"/>
              </a:rPr>
            </a:br>
            <a:endParaRPr lang="en-US" sz="3100" spc="-150" dirty="0">
              <a:solidFill>
                <a:srgbClr val="FF0000"/>
              </a:solidFill>
              <a:cs typeface="Arial"/>
            </a:endParaRPr>
          </a:p>
          <a:p>
            <a:pPr>
              <a:lnSpc>
                <a:spcPts val="2880"/>
              </a:lnSpc>
              <a:spcBef>
                <a:spcPts val="0"/>
              </a:spcBef>
              <a:spcAft>
                <a:spcPts val="992"/>
              </a:spcAft>
            </a:pPr>
            <a:r>
              <a:rPr lang="en-GB" sz="3100" spc="-150" dirty="0">
                <a:solidFill>
                  <a:srgbClr val="FF0000"/>
                </a:solidFill>
                <a:cs typeface="Arial"/>
              </a:rPr>
              <a:t>3. Number of rows = 36041</a:t>
            </a:r>
            <a:br>
              <a:rPr lang="en-GB" sz="3600" dirty="0">
                <a:solidFill>
                  <a:srgbClr val="FF0000"/>
                </a:solidFill>
                <a:cs typeface="Arial"/>
              </a:rPr>
            </a:br>
            <a:endParaRPr lang="en-GB" sz="3600" dirty="0">
              <a:solidFill>
                <a:srgbClr val="FF0000"/>
              </a:solidFill>
              <a:cs typeface="Arial"/>
            </a:endParaRPr>
          </a:p>
          <a:p>
            <a:endParaRPr lang="en-US" sz="800" dirty="0">
              <a:solidFill>
                <a:srgbClr val="FF0000"/>
              </a:solidFill>
              <a:cs typeface="Arial"/>
            </a:endParaRPr>
          </a:p>
        </p:txBody>
      </p:sp>
      <p:pic>
        <p:nvPicPr>
          <p:cNvPr id="15" name="Picture 14">
            <a:extLst>
              <a:ext uri="{FF2B5EF4-FFF2-40B4-BE49-F238E27FC236}">
                <a16:creationId xmlns:a16="http://schemas.microsoft.com/office/drawing/2014/main" id="{83F6CC8C-3C66-68FD-D2DF-A05021D1B828}"/>
              </a:ext>
            </a:extLst>
          </p:cNvPr>
          <p:cNvPicPr>
            <a:picLocks noChangeAspect="1"/>
          </p:cNvPicPr>
          <p:nvPr/>
        </p:nvPicPr>
        <p:blipFill>
          <a:blip r:embed="rId3"/>
          <a:stretch>
            <a:fillRect/>
          </a:stretch>
        </p:blipFill>
        <p:spPr>
          <a:xfrm>
            <a:off x="1342205" y="3632415"/>
            <a:ext cx="6006523" cy="957873"/>
          </a:xfrm>
          <a:prstGeom prst="rect">
            <a:avLst/>
          </a:prstGeom>
        </p:spPr>
      </p:pic>
      <p:sp>
        <p:nvSpPr>
          <p:cNvPr id="16" name="Rectangle 15">
            <a:extLst>
              <a:ext uri="{FF2B5EF4-FFF2-40B4-BE49-F238E27FC236}">
                <a16:creationId xmlns:a16="http://schemas.microsoft.com/office/drawing/2014/main" id="{CACA569E-50DC-B1B4-8452-33B36A4E7333}"/>
              </a:ext>
            </a:extLst>
          </p:cNvPr>
          <p:cNvSpPr/>
          <p:nvPr/>
        </p:nvSpPr>
        <p:spPr>
          <a:xfrm>
            <a:off x="2020824" y="3563111"/>
            <a:ext cx="865632" cy="1170433"/>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7983E8FD-89D4-CEEE-7641-2F02D10B2B8C}"/>
              </a:ext>
            </a:extLst>
          </p:cNvPr>
          <p:cNvSpPr/>
          <p:nvPr/>
        </p:nvSpPr>
        <p:spPr>
          <a:xfrm>
            <a:off x="5861304" y="3563112"/>
            <a:ext cx="758952" cy="1170432"/>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13092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48516"/>
            <a:ext cx="10110240" cy="588024"/>
          </a:xfrm>
        </p:spPr>
        <p:txBody>
          <a:bodyPr vert="horz" lIns="0" tIns="0" rIns="0" bIns="0" rtlCol="0" anchor="t">
            <a:noAutofit/>
          </a:bodyPr>
          <a:lstStyle/>
          <a:p>
            <a:r>
              <a:rPr lang="en-US" dirty="0"/>
              <a:t>Dataset </a:t>
            </a:r>
            <a:r>
              <a:rPr lang="en-US" dirty="0">
                <a:solidFill>
                  <a:srgbClr val="203232"/>
                </a:solidFill>
              </a:rPr>
              <a:t>ID</a:t>
            </a:r>
            <a:r>
              <a:rPr kumimoji="0" lang="en-US" sz="1600" b="1" i="0" u="none" strike="noStrike" kern="3000" cap="none" spc="-100" normalizeH="0" baseline="0" noProof="0" dirty="0">
                <a:ln>
                  <a:noFill/>
                </a:ln>
                <a:solidFill>
                  <a:srgbClr val="FF0000"/>
                </a:solidFill>
                <a:effectLst/>
                <a:uLnTx/>
                <a:uFillTx/>
                <a:latin typeface="Arial" panose="020B0604020202020204"/>
                <a:ea typeface="+mn-ea"/>
                <a:cs typeface="+mn-cs"/>
              </a:rPr>
              <a:t> :   </a:t>
            </a:r>
            <a:r>
              <a:rPr kumimoji="0" lang="en-US" sz="2400" b="1" i="0" u="none" strike="noStrike" kern="3000" cap="none" spc="-100" normalizeH="0" baseline="0" noProof="0" dirty="0">
                <a:ln>
                  <a:noFill/>
                </a:ln>
                <a:solidFill>
                  <a:srgbClr val="FF0000"/>
                </a:solidFill>
                <a:effectLst/>
                <a:uLnTx/>
                <a:uFillTx/>
                <a:latin typeface="Arial" panose="020B0604020202020204"/>
                <a:ea typeface="+mn-ea"/>
                <a:cs typeface="+mn-cs"/>
              </a:rPr>
              <a:t>DS118 - all_grains_data.csv</a:t>
            </a:r>
            <a:endParaRPr lang="en-US" sz="3200" dirty="0">
              <a:solidFill>
                <a:srgbClr val="FF0000"/>
              </a:solidFill>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388686"/>
            <a:ext cx="10290976" cy="230832"/>
          </a:xfrm>
        </p:spPr>
        <p:txBody>
          <a:bodyPr/>
          <a:lstStyle/>
          <a:p>
            <a:pPr algn="r"/>
            <a:r>
              <a:rPr lang="en-GB" dirty="0"/>
              <a:t>7COM1079-2025  Student Group No: group A 103         Names of Student Attendees : Dhanashree, Meghana, Moulika, Jaswanth, Surendra</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964557"/>
            <a:ext cx="10974945" cy="3256667"/>
          </a:xfrm>
        </p:spPr>
        <p:txBody>
          <a:bodyPr>
            <a:noAutofit/>
          </a:bodyPr>
          <a:lstStyle/>
          <a:p>
            <a:pPr>
              <a:lnSpc>
                <a:spcPct val="100000"/>
              </a:lnSpc>
            </a:pPr>
            <a:r>
              <a:rPr lang="en-US" sz="2400" b="0" dirty="0">
                <a:latin typeface="Calibri"/>
                <a:cs typeface="Calibri"/>
              </a:rPr>
              <a:t>This dataset is interesting to us because</a:t>
            </a:r>
            <a:r>
              <a:rPr lang="en-US" sz="2400" b="0" dirty="0">
                <a:solidFill>
                  <a:srgbClr val="FF0000"/>
                </a:solidFill>
                <a:latin typeface="Calibri"/>
                <a:cs typeface="Calibri"/>
              </a:rPr>
              <a:t>:</a:t>
            </a:r>
            <a:br>
              <a:rPr lang="en-US" sz="2400" b="0" dirty="0">
                <a:solidFill>
                  <a:srgbClr val="FF0000"/>
                </a:solidFill>
                <a:latin typeface="Calibri"/>
                <a:cs typeface="Calibri"/>
              </a:rPr>
            </a:br>
            <a:r>
              <a:rPr lang="en-US" sz="2400" b="0" spc="-150" dirty="0">
                <a:solidFill>
                  <a:srgbClr val="FF0000"/>
                </a:solidFill>
                <a:latin typeface="Calibri"/>
                <a:cs typeface="Calibri"/>
              </a:rPr>
              <a:t>It captures the daily historical trading data for commodities (like Corn, Oat, KC HRW Wheat, Rough Rice, Soybean Oil, Soybean) allowing analysis of market trends, price volatility, and trading volume over time.</a:t>
            </a:r>
            <a:br>
              <a:rPr lang="en-US" sz="2400" b="0" spc="-15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a:t>
            </a:r>
            <a:r>
              <a:rPr lang="en-US" sz="2400" b="0" dirty="0">
                <a:solidFill>
                  <a:srgbClr val="FF0000"/>
                </a:solidFill>
                <a:latin typeface="Calibri"/>
                <a:cs typeface="Calibri"/>
              </a:rPr>
              <a:t>(</a:t>
            </a:r>
            <a:r>
              <a:rPr lang="en-US" sz="2400" b="0" spc="-150" dirty="0">
                <a:solidFill>
                  <a:srgbClr val="FF0000"/>
                </a:solidFill>
                <a:latin typeface="Calibri"/>
                <a:cs typeface="Calibri"/>
              </a:rPr>
              <a:t>commodity</a:t>
            </a:r>
            <a:r>
              <a:rPr lang="en-US" sz="2400" b="0" dirty="0">
                <a:solidFill>
                  <a:srgbClr val="FF0000"/>
                </a:solidFill>
                <a:latin typeface="Calibri"/>
                <a:cs typeface="Calibri"/>
              </a:rPr>
              <a:t>) </a:t>
            </a:r>
            <a:r>
              <a:rPr lang="en-US" sz="2400" b="0" i="1" dirty="0">
                <a:latin typeface="Calibri"/>
                <a:cs typeface="Calibri"/>
              </a:rPr>
              <a:t>– Type of crop produced</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Independent variable datatype is: </a:t>
            </a:r>
            <a:r>
              <a:rPr lang="en-US" sz="2400" b="0" spc="-150" dirty="0">
                <a:solidFill>
                  <a:srgbClr val="FF0000"/>
                </a:solidFill>
                <a:latin typeface="Calibri"/>
                <a:cs typeface="Calibri"/>
              </a:rPr>
              <a:t>Nominal/categorial</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a:t>
            </a:r>
            <a:r>
              <a:rPr lang="en-US" sz="2400" b="0" dirty="0">
                <a:solidFill>
                  <a:srgbClr val="FF0000"/>
                </a:solidFill>
                <a:latin typeface="Calibri"/>
                <a:cs typeface="Calibri"/>
              </a:rPr>
              <a:t>(</a:t>
            </a:r>
            <a:r>
              <a:rPr lang="en-US" sz="2400" b="0" spc="-150" dirty="0">
                <a:solidFill>
                  <a:srgbClr val="FF0000"/>
                </a:solidFill>
                <a:latin typeface="Calibri"/>
                <a:cs typeface="Calibri"/>
              </a:rPr>
              <a:t>close</a:t>
            </a:r>
            <a:r>
              <a:rPr lang="en-US" sz="2400" b="0" dirty="0">
                <a:solidFill>
                  <a:srgbClr val="FF0000"/>
                </a:solidFill>
                <a:latin typeface="Calibri"/>
                <a:cs typeface="Calibri"/>
              </a:rPr>
              <a:t>) </a:t>
            </a:r>
            <a:r>
              <a:rPr lang="en-US" sz="2400" b="0" i="1" dirty="0">
                <a:latin typeface="Calibri"/>
                <a:cs typeface="Calibri"/>
              </a:rPr>
              <a:t>– closing price</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Dependent variable datatype is: </a:t>
            </a:r>
            <a:r>
              <a:rPr lang="en-US" sz="2400" b="0" spc="-150" dirty="0">
                <a:solidFill>
                  <a:srgbClr val="FF0000"/>
                </a:solidFill>
                <a:latin typeface="Calibri"/>
                <a:cs typeface="Calibri"/>
              </a:rPr>
              <a:t>Interval/measurement data (ratio)</a:t>
            </a:r>
            <a:br>
              <a:rPr lang="en-US" sz="2400" b="0" dirty="0">
                <a:latin typeface="Calibri"/>
                <a:cs typeface="Calibri"/>
              </a:rPr>
            </a:br>
            <a:endParaRPr lang="en-US" sz="2400" b="0" dirty="0">
              <a:solidFill>
                <a:srgbClr val="FF0000"/>
              </a:solidFill>
              <a:latin typeface="Calibri"/>
              <a:cs typeface="Calibri"/>
            </a:endParaRPr>
          </a:p>
        </p:txBody>
      </p:sp>
    </p:spTree>
    <p:extLst>
      <p:ext uri="{BB962C8B-B14F-4D97-AF65-F5344CB8AC3E}">
        <p14:creationId xmlns:p14="http://schemas.microsoft.com/office/powerpoint/2010/main" val="1718004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A103</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4"/>
            <a:ext cx="10640594" cy="2678085"/>
          </a:xfrm>
        </p:spPr>
        <p:txBody>
          <a:bodyPr>
            <a:noAutofit/>
          </a:bodyPr>
          <a:lstStyle/>
          <a:p>
            <a:pPr>
              <a:lnSpc>
                <a:spcPct val="100000"/>
              </a:lnSpc>
            </a:pP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r>
              <a:rPr lang="en-IE" sz="2400" spc="-150" dirty="0">
                <a:effectLst/>
                <a:latin typeface="Calibri"/>
                <a:ea typeface="Calibri" panose="020F0502020204030204" pitchFamily="34" charset="0"/>
                <a:cs typeface="Times New Roman"/>
              </a:rPr>
              <a:t>Template</a:t>
            </a:r>
            <a:r>
              <a:rPr lang="en-IE" sz="2400" spc="-150" baseline="30000" dirty="0">
                <a:effectLst/>
                <a:latin typeface="Calibri"/>
                <a:ea typeface="Calibri" panose="020F0502020204030204" pitchFamily="34" charset="0"/>
                <a:cs typeface="Times New Roman"/>
              </a:rPr>
              <a:t>2</a:t>
            </a:r>
            <a:r>
              <a:rPr lang="en-IE" sz="2400" spc="-150" dirty="0">
                <a:effectLst/>
                <a:latin typeface="Calibri"/>
                <a:ea typeface="Calibri" panose="020F0502020204030204" pitchFamily="34" charset="0"/>
                <a:cs typeface="Times New Roman"/>
              </a:rPr>
              <a:t> : </a:t>
            </a:r>
            <a:r>
              <a:rPr lang="en-IE" sz="2400" b="0" spc="-150" dirty="0">
                <a:effectLst/>
                <a:latin typeface="Calibri"/>
                <a:ea typeface="Calibri" panose="020F0502020204030204" pitchFamily="34" charset="0"/>
                <a:cs typeface="Times New Roman"/>
              </a:rPr>
              <a:t>Interval vs Nominal. data </a:t>
            </a:r>
            <a:br>
              <a:rPr lang="en-IE" sz="2400" b="0" spc="-150" dirty="0">
                <a:effectLst/>
                <a:latin typeface="Calibri"/>
                <a:ea typeface="Calibri" panose="020F0502020204030204" pitchFamily="34" charset="0"/>
                <a:cs typeface="Times New Roman"/>
              </a:rPr>
            </a:br>
            <a:r>
              <a:rPr lang="en-IE" sz="2400" b="0" spc="-150" dirty="0">
                <a:effectLst/>
                <a:latin typeface="Calibri"/>
                <a:ea typeface="Calibri" panose="020F0502020204030204" pitchFamily="34" charset="0"/>
                <a:cs typeface="Times New Roman"/>
              </a:rPr>
              <a:t>“Is there a difference in the average of </a:t>
            </a:r>
            <a:r>
              <a:rPr lang="en-IE" sz="2400" b="0" spc="-150" dirty="0">
                <a:solidFill>
                  <a:srgbClr val="0070C0"/>
                </a:solidFill>
                <a:effectLst/>
                <a:latin typeface="Calibri"/>
                <a:ea typeface="Calibri" panose="020F0502020204030204" pitchFamily="34" charset="0"/>
                <a:cs typeface="Times New Roman"/>
              </a:rPr>
              <a:t>closing price </a:t>
            </a:r>
            <a:r>
              <a:rPr lang="en-IE" sz="2400" b="0" spc="-150" dirty="0">
                <a:latin typeface="Calibri"/>
                <a:ea typeface="Calibri" panose="020F0502020204030204" pitchFamily="34" charset="0"/>
                <a:cs typeface="Times New Roman"/>
              </a:rPr>
              <a:t>between</a:t>
            </a:r>
            <a:r>
              <a:rPr lang="en-IE" sz="2400" b="0" spc="-150" dirty="0">
                <a:effectLst/>
                <a:latin typeface="Calibri"/>
                <a:ea typeface="Calibri" panose="020F0502020204030204" pitchFamily="34" charset="0"/>
                <a:cs typeface="Times New Roman"/>
              </a:rPr>
              <a:t> </a:t>
            </a:r>
            <a:r>
              <a:rPr lang="en-IE" sz="2400" b="0" spc="-150" dirty="0">
                <a:solidFill>
                  <a:srgbClr val="0070C0"/>
                </a:solidFill>
                <a:latin typeface="Calibri"/>
                <a:ea typeface="Calibri" panose="020F0502020204030204" pitchFamily="34" charset="0"/>
                <a:cs typeface="Times New Roman"/>
              </a:rPr>
              <a:t>the crops produced </a:t>
            </a:r>
            <a:r>
              <a:rPr lang="en-IE" sz="2400" b="0" spc="-150" dirty="0">
                <a:latin typeface="Calibri"/>
                <a:ea typeface="Calibri" panose="020F0502020204030204" pitchFamily="34" charset="0"/>
                <a:cs typeface="Times New Roman"/>
              </a:rPr>
              <a:t>like</a:t>
            </a:r>
            <a:r>
              <a:rPr lang="en-IE" sz="2400" b="0" spc="-150" dirty="0">
                <a:solidFill>
                  <a:srgbClr val="0070C0"/>
                </a:solidFill>
                <a:latin typeface="Calibri"/>
                <a:ea typeface="Calibri" panose="020F0502020204030204" pitchFamily="34" charset="0"/>
                <a:cs typeface="Times New Roman"/>
              </a:rPr>
              <a:t> </a:t>
            </a:r>
            <a:r>
              <a:rPr lang="en-IE" sz="2400" b="0" i="1" spc="-150" dirty="0">
                <a:latin typeface="Calibri"/>
                <a:ea typeface="Calibri" panose="020F0502020204030204" pitchFamily="34" charset="0"/>
                <a:cs typeface="Times New Roman"/>
              </a:rPr>
              <a:t>rough rice </a:t>
            </a:r>
            <a:r>
              <a:rPr lang="en-IE" sz="2400" b="0" spc="-150" dirty="0">
                <a:latin typeface="Calibri"/>
                <a:ea typeface="Calibri" panose="020F0502020204030204" pitchFamily="34" charset="0"/>
                <a:cs typeface="Times New Roman"/>
              </a:rPr>
              <a:t>and </a:t>
            </a:r>
            <a:r>
              <a:rPr lang="en-IE" sz="2400" b="0" i="1" spc="-150" dirty="0">
                <a:latin typeface="Calibri"/>
                <a:ea typeface="Calibri" panose="020F0502020204030204" pitchFamily="34" charset="0"/>
                <a:cs typeface="Times New Roman"/>
              </a:rPr>
              <a:t>oats </a:t>
            </a:r>
            <a:r>
              <a:rPr lang="en-IE" sz="2400" b="0" spc="-150" dirty="0">
                <a:latin typeface="Calibri"/>
                <a:ea typeface="Calibri" panose="020F0502020204030204" pitchFamily="34" charset="0"/>
                <a:cs typeface="Times New Roman"/>
              </a:rPr>
              <a:t>grown in a particular country from 2000 to 2024</a:t>
            </a:r>
            <a:r>
              <a:rPr lang="en-IE" sz="2400" b="0" spc="-150" dirty="0">
                <a:effectLst/>
                <a:latin typeface="Calibri"/>
                <a:ea typeface="Calibri" panose="020F0502020204030204" pitchFamily="34" charset="0"/>
                <a:cs typeface="Times New Roman"/>
              </a:rPr>
              <a:t>?”</a:t>
            </a:r>
            <a:br>
              <a:rPr lang="en-GB" sz="2400" b="0" dirty="0">
                <a:effectLst/>
                <a:latin typeface="Calibri" panose="020F0502020204030204" pitchFamily="34" charset="0"/>
                <a:ea typeface="Calibri" panose="020F0502020204030204" pitchFamily="34" charset="0"/>
                <a:cs typeface="Times New Roman" panose="02020603050405020304" pitchFamily="18" charset="0"/>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
        <p:nvSpPr>
          <p:cNvPr id="7" name="TextBox 6">
            <a:extLst>
              <a:ext uri="{FF2B5EF4-FFF2-40B4-BE49-F238E27FC236}">
                <a16:creationId xmlns:a16="http://schemas.microsoft.com/office/drawing/2014/main" id="{F7FEA660-7B39-BC91-3B96-7298CCF66DE1}"/>
              </a:ext>
            </a:extLst>
          </p:cNvPr>
          <p:cNvSpPr txBox="1"/>
          <p:nvPr/>
        </p:nvSpPr>
        <p:spPr>
          <a:xfrm>
            <a:off x="623945" y="5297755"/>
            <a:ext cx="11440040" cy="646331"/>
          </a:xfrm>
          <a:prstGeom prst="rect">
            <a:avLst/>
          </a:prstGeom>
          <a:solidFill>
            <a:schemeClr val="bg1">
              <a:lumMod val="95000"/>
            </a:schemeClr>
          </a:solidFill>
        </p:spPr>
        <p:txBody>
          <a:bodyPr wrap="square" lIns="91440" tIns="45720" rIns="91440" bIns="45720" rtlCol="0" anchor="t">
            <a:spAutoFit/>
          </a:bodyPr>
          <a:lstStyle/>
          <a:p>
            <a:r>
              <a:rPr lang="en-IE" sz="1800" b="1" baseline="30000" dirty="0">
                <a:effectLst/>
                <a:latin typeface="Calibri" panose="020F0502020204030204" pitchFamily="34" charset="0"/>
                <a:ea typeface="Calibri" panose="020F0502020204030204" pitchFamily="34" charset="0"/>
                <a:cs typeface="Times New Roman" panose="02020603050405020304" pitchFamily="18" charset="0"/>
              </a:rPr>
              <a:t>2</a:t>
            </a:r>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dirty="0">
                <a:effectLst/>
                <a:latin typeface="Calibri" panose="020F0502020204030204" pitchFamily="34" charset="0"/>
                <a:ea typeface="Calibri" panose="020F0502020204030204" pitchFamily="34" charset="0"/>
                <a:cs typeface="Times New Roman" panose="02020603050405020304" pitchFamily="18" charset="0"/>
              </a:rPr>
              <a:t> (or medians): Analysis of the difference between the mean (or median) value of a characteristic shared by members of two different populations.</a:t>
            </a:r>
          </a:p>
        </p:txBody>
      </p:sp>
    </p:spTree>
    <p:extLst>
      <p:ext uri="{BB962C8B-B14F-4D97-AF65-F5344CB8AC3E}">
        <p14:creationId xmlns:p14="http://schemas.microsoft.com/office/powerpoint/2010/main" val="32494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640991"/>
            <a:ext cx="10406581" cy="1391600"/>
          </a:xfrm>
        </p:spPr>
        <p:txBody>
          <a:bodyPr vert="horz" lIns="0" tIns="0" rIns="0" bIns="0" rtlCol="0" anchor="t">
            <a:noAutofit/>
          </a:bodyPr>
          <a:lstStyle/>
          <a:p>
            <a:pPr>
              <a:lnSpc>
                <a:spcPct val="100000"/>
              </a:lnSpc>
            </a:pPr>
            <a:r>
              <a:rPr lang="en-GB" sz="2400" dirty="0">
                <a:latin typeface="Calibri"/>
                <a:cs typeface="Calibri"/>
              </a:rPr>
              <a:t>Hypotheses:</a:t>
            </a:r>
          </a:p>
          <a:p>
            <a:pPr>
              <a:lnSpc>
                <a:spcPct val="100000"/>
              </a:lnSpc>
            </a:pPr>
            <a:endParaRPr lang="en-GB" sz="2400" b="0" dirty="0">
              <a:latin typeface="Calibri"/>
              <a:cs typeface="Calibri"/>
            </a:endParaRPr>
          </a:p>
          <a:p>
            <a:pPr marL="457200" indent="-457200">
              <a:lnSpc>
                <a:spcPct val="100000"/>
              </a:lnSpc>
              <a:buAutoNum type="arabicPeriod"/>
            </a:pPr>
            <a:r>
              <a:rPr lang="en-GB" sz="2000" b="0" dirty="0">
                <a:latin typeface="Arial"/>
                <a:cs typeface="Arial"/>
              </a:rPr>
              <a:t>Null hypothesis (H</a:t>
            </a:r>
            <a:r>
              <a:rPr lang="en-GB" sz="2000" b="0" baseline="-25000" dirty="0">
                <a:latin typeface="Arial"/>
                <a:cs typeface="Arial"/>
              </a:rPr>
              <a:t>0</a:t>
            </a:r>
            <a:r>
              <a:rPr lang="en-GB" sz="2000" b="0" dirty="0">
                <a:latin typeface="Arial"/>
                <a:cs typeface="Arial"/>
              </a:rPr>
              <a:t>): There is </a:t>
            </a:r>
            <a:r>
              <a:rPr lang="en-GB" sz="2000" dirty="0">
                <a:latin typeface="Arial"/>
                <a:cs typeface="Arial"/>
              </a:rPr>
              <a:t>no </a:t>
            </a:r>
            <a:r>
              <a:rPr lang="en-GB" sz="2000" b="0" dirty="0">
                <a:latin typeface="Arial"/>
                <a:cs typeface="Arial"/>
              </a:rPr>
              <a:t>effect on the population :  </a:t>
            </a:r>
          </a:p>
          <a:p>
            <a:pPr>
              <a:lnSpc>
                <a:spcPct val="100000"/>
              </a:lnSpc>
            </a:pPr>
            <a:r>
              <a:rPr lang="en-GB" sz="2000" b="0" dirty="0">
                <a:solidFill>
                  <a:srgbClr val="FF0000"/>
                </a:solidFill>
                <a:latin typeface="Arial"/>
                <a:cs typeface="Arial"/>
              </a:rPr>
              <a:t>Null hypothesis (H</a:t>
            </a:r>
            <a:r>
              <a:rPr lang="en-GB" sz="2000" b="0" baseline="-25000" dirty="0">
                <a:solidFill>
                  <a:srgbClr val="FF0000"/>
                </a:solidFill>
                <a:latin typeface="Arial"/>
                <a:cs typeface="Arial"/>
              </a:rPr>
              <a:t>0</a:t>
            </a:r>
            <a:r>
              <a:rPr lang="en-GB" sz="2000" b="0" dirty="0">
                <a:solidFill>
                  <a:srgbClr val="FF0000"/>
                </a:solidFill>
                <a:latin typeface="Arial"/>
                <a:cs typeface="Arial"/>
              </a:rPr>
              <a:t>): </a:t>
            </a:r>
            <a:r>
              <a:rPr lang="en-US" sz="2000" b="0" dirty="0">
                <a:solidFill>
                  <a:srgbClr val="FF0000"/>
                </a:solidFill>
                <a:latin typeface="Arial"/>
                <a:cs typeface="Arial"/>
              </a:rPr>
              <a:t>There is </a:t>
            </a:r>
            <a:r>
              <a:rPr lang="en-US" sz="2000" dirty="0">
                <a:solidFill>
                  <a:srgbClr val="FF0000"/>
                </a:solidFill>
                <a:latin typeface="Arial"/>
                <a:cs typeface="Arial"/>
              </a:rPr>
              <a:t>no</a:t>
            </a:r>
            <a:r>
              <a:rPr lang="en-US" sz="2000" b="0" dirty="0">
                <a:solidFill>
                  <a:srgbClr val="FF0000"/>
                </a:solidFill>
                <a:latin typeface="Arial"/>
                <a:cs typeface="Arial"/>
              </a:rPr>
              <a:t> difference in the average closing price between the crops produced, like rough rice and oats, grown in a particular country from 2000 to 2024.</a:t>
            </a:r>
            <a:r>
              <a:rPr lang="en-GB" sz="2000" b="0" dirty="0">
                <a:solidFill>
                  <a:srgbClr val="FF0000"/>
                </a:solidFill>
                <a:latin typeface="Arial"/>
                <a:cs typeface="Arial"/>
              </a:rPr>
              <a:t>             </a:t>
            </a:r>
          </a:p>
          <a:p>
            <a:pPr>
              <a:lnSpc>
                <a:spcPct val="100000"/>
              </a:lnSpc>
            </a:pPr>
            <a:endParaRPr lang="en-GB" sz="2000" b="0" dirty="0">
              <a:solidFill>
                <a:schemeClr val="tx1"/>
              </a:solidFill>
              <a:latin typeface="Arial"/>
              <a:cs typeface="Arial"/>
            </a:endParaRPr>
          </a:p>
          <a:p>
            <a:pPr>
              <a:lnSpc>
                <a:spcPct val="100000"/>
              </a:lnSpc>
            </a:pPr>
            <a:r>
              <a:rPr lang="en-GB" sz="2000" b="0" dirty="0">
                <a:latin typeface="Arial"/>
                <a:cs typeface="Arial"/>
              </a:rPr>
              <a:t>2. Alternative hypothesis (H</a:t>
            </a:r>
            <a:r>
              <a:rPr lang="en-GB" sz="2000" b="0" baseline="-25000" dirty="0">
                <a:latin typeface="Arial"/>
                <a:cs typeface="Arial"/>
              </a:rPr>
              <a:t>1</a:t>
            </a:r>
            <a:r>
              <a:rPr lang="en-GB" sz="2000" b="0" dirty="0">
                <a:latin typeface="Arial"/>
                <a:cs typeface="Arial"/>
              </a:rPr>
              <a:t>):  There appears to be an effect on the population :</a:t>
            </a:r>
          </a:p>
          <a:p>
            <a:pPr>
              <a:lnSpc>
                <a:spcPct val="100000"/>
              </a:lnSpc>
            </a:pPr>
            <a:r>
              <a:rPr lang="en-GB" sz="2000" b="0" dirty="0">
                <a:solidFill>
                  <a:srgbClr val="FF0000"/>
                </a:solidFill>
                <a:latin typeface="Arial"/>
                <a:cs typeface="Arial"/>
              </a:rPr>
              <a:t>Alt hypothesis (H</a:t>
            </a:r>
            <a:r>
              <a:rPr lang="en-GB" sz="2000" b="0" baseline="-25000" dirty="0">
                <a:solidFill>
                  <a:srgbClr val="FF0000"/>
                </a:solidFill>
                <a:latin typeface="Arial"/>
                <a:cs typeface="Arial"/>
              </a:rPr>
              <a:t>1</a:t>
            </a:r>
            <a:r>
              <a:rPr lang="en-GB" sz="2000" b="0" dirty="0">
                <a:solidFill>
                  <a:srgbClr val="FF0000"/>
                </a:solidFill>
                <a:latin typeface="Arial"/>
                <a:cs typeface="Arial"/>
              </a:rPr>
              <a:t>): There </a:t>
            </a:r>
            <a:r>
              <a:rPr lang="en-GB" sz="2000" dirty="0">
                <a:solidFill>
                  <a:srgbClr val="FF0000"/>
                </a:solidFill>
                <a:latin typeface="Arial"/>
                <a:cs typeface="Arial"/>
              </a:rPr>
              <a:t>is </a:t>
            </a:r>
            <a:r>
              <a:rPr lang="en-US" sz="2000" b="0" dirty="0">
                <a:solidFill>
                  <a:srgbClr val="FF0000"/>
                </a:solidFill>
                <a:cs typeface="Arial"/>
              </a:rPr>
              <a:t>a difference in the average closing price between the crops produced, like rough rice and oats, grown in a particular country from 2000 to 2024.</a:t>
            </a:r>
            <a:endParaRPr lang="en-GB" sz="2000" b="0" dirty="0">
              <a:solidFill>
                <a:srgbClr val="FF0000"/>
              </a:solidFill>
              <a:latin typeface="Arial"/>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118</TotalTime>
  <Words>934</Words>
  <Application>Microsoft Office PowerPoint</Application>
  <PresentationFormat>Widescreen</PresentationFormat>
  <Paragraphs>43</Paragraphs>
  <Slides>6</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Herts Theme</vt:lpstr>
      <vt:lpstr>PowerPoint Presentation</vt:lpstr>
      <vt:lpstr>Research Question –  Tutorial Presentation for Feedback Date: 17/11/2025 </vt:lpstr>
      <vt:lpstr>The dataset contains 36041 daily records of commodity prices and trading volume, a fairly large time series suitable for trend analysis and forecasting. Independent variables : ticker, commodity, date Dependent variables : open, high, low, close, volume  1. close, commodity 2.   3. Number of rows = 36041  </vt:lpstr>
      <vt:lpstr>This dataset is interesting to us because: It captures the daily historical trading data for commodities (like Corn, Oat, KC HRW Wheat, Rough Rice, Soybean Oil, Soybean) allowing analysis of market trends, price volatility, and trading volume over time.  Our  Independent variable is: (commodity) – Type of crop produced                    This  Independent variable datatype is: Nominal/categorial Our Dependent variable is: (close) – closing price                    This Dependent variable datatype is: Interval/measurement data (ratio) </vt:lpstr>
      <vt:lpstr>  Template2 : Interval vs Nominal. data  “Is there a difference in the average of closing price between the crops produced like rough rice and oats grown in a particular country from 2000 to 2024?”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Dhanashree Mahajan</cp:lastModifiedBy>
  <cp:revision>159</cp:revision>
  <dcterms:created xsi:type="dcterms:W3CDTF">2019-10-01T08:37:56Z</dcterms:created>
  <dcterms:modified xsi:type="dcterms:W3CDTF">2025-12-06T15:31:16Z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