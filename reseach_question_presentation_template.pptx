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1"/>
  </p:notesMasterIdLst>
  <p:handoutMasterIdLst>
    <p:handoutMasterId r:id="rId12"/>
  </p:handoutMasterIdLst>
  <p:sldIdLst>
    <p:sldId id="337" r:id="rId5"/>
    <p:sldId id="289" r:id="rId6"/>
    <p:sldId id="340" r:id="rId7"/>
    <p:sldId id="329" r:id="rId8"/>
    <p:sldId id="336" r:id="rId9"/>
    <p:sldId id="341"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3249" userDrawn="1">
          <p15:clr>
            <a:srgbClr val="A4A3A4"/>
          </p15:clr>
        </p15:guide>
        <p15:guide id="4" pos="7068" userDrawn="1">
          <p15:clr>
            <a:srgbClr val="A4A3A4"/>
          </p15:clr>
        </p15:guide>
        <p15:guide id="5" orient="horz" pos="13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97CBE"/>
    <a:srgbClr val="85509A"/>
    <a:srgbClr val="714484"/>
    <a:srgbClr val="0073CF"/>
    <a:srgbClr val="203232"/>
    <a:srgbClr val="30454F"/>
    <a:srgbClr val="1295D8"/>
    <a:srgbClr val="004A5C"/>
    <a:srgbClr val="0093B6"/>
    <a:srgbClr val="00B9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7B1EB13-4B4A-3A65-7705-B39B10420BC6}" v="11" dt="2025-11-07T13:21:13.889"/>
    <p1510:client id="{94404E7A-4EB2-D0DE-A758-3B2FEF7E6025}" v="1178" dt="2025-11-07T14:31:40.79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48" d="100"/>
          <a:sy n="48" d="100"/>
        </p:scale>
        <p:origin x="53" y="706"/>
      </p:cViewPr>
      <p:guideLst>
        <p:guide orient="horz" pos="2160"/>
        <p:guide pos="3840"/>
        <p:guide orient="horz" pos="3249"/>
        <p:guide pos="7068"/>
        <p:guide orient="horz" pos="138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handoutMaster" Target="handoutMasters/handoutMaster1.xml"/><Relationship Id="rId17"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theme" Target="theme/theme1.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98966F2-21A1-4B2B-ADA6-AD0BB447B7C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1468BB-CDF2-4507-B4EF-7B369D307A4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3FAAC3A-BD1F-4A00-9099-74B95789FE00}" type="datetimeFigureOut">
              <a:rPr lang="en-GB" smtClean="0"/>
              <a:pPr/>
              <a:t>03/12/2025</a:t>
            </a:fld>
            <a:endParaRPr lang="en-GB"/>
          </a:p>
        </p:txBody>
      </p:sp>
      <p:sp>
        <p:nvSpPr>
          <p:cNvPr id="4" name="Footer Placeholder 3">
            <a:extLst>
              <a:ext uri="{FF2B5EF4-FFF2-40B4-BE49-F238E27FC236}">
                <a16:creationId xmlns:a16="http://schemas.microsoft.com/office/drawing/2014/main" id="{904BCF7D-6037-48D3-84E5-56B8B055214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D619E732-656C-4BB5-ACCB-1568C5C66DD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9F51D9-0FEB-436E-9280-D6033F603547}" type="slidenum">
              <a:rPr lang="en-GB" smtClean="0"/>
              <a:pPr/>
              <a:t>‹#›</a:t>
            </a:fld>
            <a:endParaRPr lang="en-GB"/>
          </a:p>
        </p:txBody>
      </p:sp>
    </p:spTree>
    <p:extLst>
      <p:ext uri="{BB962C8B-B14F-4D97-AF65-F5344CB8AC3E}">
        <p14:creationId xmlns:p14="http://schemas.microsoft.com/office/powerpoint/2010/main" val="22705840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359C8A-39F6-4045-9163-4042C4C26B15}" type="datetimeFigureOut">
              <a:rPr lang="en-GB" smtClean="0"/>
              <a:pPr/>
              <a:t>03/12/2025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370952-48CC-46D7-9FCD-59FAD40CC025}" type="slidenum">
              <a:rPr lang="en-GB" smtClean="0"/>
              <a:pPr/>
              <a:t>‹#›</a:t>
            </a:fld>
            <a:endParaRPr lang="en-GB"/>
          </a:p>
        </p:txBody>
      </p:sp>
    </p:spTree>
    <p:extLst>
      <p:ext uri="{BB962C8B-B14F-4D97-AF65-F5344CB8AC3E}">
        <p14:creationId xmlns:p14="http://schemas.microsoft.com/office/powerpoint/2010/main" val="30102317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3</a:t>
            </a:fld>
            <a:endParaRPr lang="en-GB"/>
          </a:p>
        </p:txBody>
      </p:sp>
    </p:spTree>
    <p:extLst>
      <p:ext uri="{BB962C8B-B14F-4D97-AF65-F5344CB8AC3E}">
        <p14:creationId xmlns:p14="http://schemas.microsoft.com/office/powerpoint/2010/main" val="39567185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Before specifying your Research Question you must define the type of data you are analysing.  Are the variables you select interval data (measurement data you can divide, multiple, etc),  OR are they ordinal (there is a definite order but the intervals between each variable are not necessarily equal, or the terms might be subjective like in a </a:t>
            </a:r>
            <a:r>
              <a:rPr lang="en-GB" err="1"/>
              <a:t>likert</a:t>
            </a:r>
            <a:r>
              <a:rPr lang="en-GB"/>
              <a:t> scale); OR are they just categorical/nominal (Items such as film names, cities, etc., that you can count numbers of occurrences?   You also need to understand whether the variable is either dependent or independent and this will vary according to the context. Independent variables may cause an effect, whereas the dependent variable might be effected by the independent variable.  Check the lecture notes on the RQ for more information and examples.  </a:t>
            </a:r>
          </a:p>
          <a:p>
            <a:endParaRPr lang="en-GB"/>
          </a:p>
          <a:p>
            <a:r>
              <a:rPr lang="en-GB"/>
              <a:t>You will get only one opportunity to present your Research Question ahead of the submission date.  Have your questions ready, and be ready to take notes on feedback.</a:t>
            </a:r>
          </a:p>
        </p:txBody>
      </p:sp>
      <p:sp>
        <p:nvSpPr>
          <p:cNvPr id="4" name="Slide Number Placeholder 3"/>
          <p:cNvSpPr>
            <a:spLocks noGrp="1"/>
          </p:cNvSpPr>
          <p:nvPr>
            <p:ph type="sldNum" sz="quarter" idx="5"/>
          </p:nvPr>
        </p:nvSpPr>
        <p:spPr/>
        <p:txBody>
          <a:bodyPr/>
          <a:lstStyle/>
          <a:p>
            <a:fld id="{30370952-48CC-46D7-9FCD-59FAD40CC025}" type="slidenum">
              <a:rPr lang="en-GB" smtClean="0"/>
              <a:pPr/>
              <a:t>4</a:t>
            </a:fld>
            <a:endParaRPr lang="en-GB"/>
          </a:p>
        </p:txBody>
      </p:sp>
    </p:spTree>
    <p:extLst>
      <p:ext uri="{BB962C8B-B14F-4D97-AF65-F5344CB8AC3E}">
        <p14:creationId xmlns:p14="http://schemas.microsoft.com/office/powerpoint/2010/main" val="29059414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5</a:t>
            </a:fld>
            <a:endParaRPr lang="en-GB"/>
          </a:p>
        </p:txBody>
      </p:sp>
    </p:spTree>
    <p:extLst>
      <p:ext uri="{BB962C8B-B14F-4D97-AF65-F5344CB8AC3E}">
        <p14:creationId xmlns:p14="http://schemas.microsoft.com/office/powerpoint/2010/main" val="26679849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6</a:t>
            </a:fld>
            <a:endParaRPr lang="en-GB"/>
          </a:p>
        </p:txBody>
      </p:sp>
    </p:spTree>
    <p:extLst>
      <p:ext uri="{BB962C8B-B14F-4D97-AF65-F5344CB8AC3E}">
        <p14:creationId xmlns:p14="http://schemas.microsoft.com/office/powerpoint/2010/main" val="393942928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Picture 3" descr="University of Hertfordshire logo">
            <a:extLst>
              <a:ext uri="{FF2B5EF4-FFF2-40B4-BE49-F238E27FC236}">
                <a16:creationId xmlns:a16="http://schemas.microsoft.com/office/drawing/2014/main" id="{16E4BB13-0D32-AA4A-BF91-2B76A7C18242}"/>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2844000" y="2854800"/>
            <a:ext cx="6501600" cy="1153633"/>
          </a:xfrm>
          <a:prstGeom prst="rect">
            <a:avLst/>
          </a:prstGeom>
        </p:spPr>
      </p:pic>
    </p:spTree>
    <p:extLst>
      <p:ext uri="{BB962C8B-B14F-4D97-AF65-F5344CB8AC3E}">
        <p14:creationId xmlns:p14="http://schemas.microsoft.com/office/powerpoint/2010/main" val="27581673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Section divi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B53D-9933-445F-9B68-E730EB38A5A9}"/>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bg1"/>
                </a:solidFill>
              </a:defRPr>
            </a:lvl1pPr>
          </a:lstStyle>
          <a:p>
            <a:r>
              <a:rPr lang="en-US"/>
              <a:t>Click to edit master title</a:t>
            </a:r>
            <a:endParaRPr lang="en-GB"/>
          </a:p>
        </p:txBody>
      </p:sp>
      <p:sp>
        <p:nvSpPr>
          <p:cNvPr id="3" name="Subtitle 2">
            <a:extLst>
              <a:ext uri="{FF2B5EF4-FFF2-40B4-BE49-F238E27FC236}">
                <a16:creationId xmlns:a16="http://schemas.microsoft.com/office/drawing/2014/main" id="{E2C6B9F5-608F-4534-96F0-C3A5E1A638A6}"/>
              </a:ext>
            </a:extLst>
          </p:cNvPr>
          <p:cNvSpPr>
            <a:spLocks noGrp="1"/>
          </p:cNvSpPr>
          <p:nvPr>
            <p:ph type="subTitle" idx="1" hasCustomPrompt="1"/>
          </p:nvPr>
        </p:nvSpPr>
        <p:spPr>
          <a:xfrm>
            <a:off x="954000" y="1890000"/>
            <a:ext cx="10031156" cy="360000"/>
          </a:xfrm>
        </p:spPr>
        <p:txBody>
          <a:bodyPr lIns="0" tIns="0" rIns="0" bIns="0">
            <a:noAutofit/>
          </a:bodyPr>
          <a:lstStyle>
            <a:lvl1pPr marL="0" indent="0" algn="l">
              <a:buNone/>
              <a:defRPr sz="3600" b="1" kern="3000" spc="-10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pic>
        <p:nvPicPr>
          <p:cNvPr id="8" name="Picture 7" descr="A picture containing drawing&#10;&#10;Description automatically generated">
            <a:extLst>
              <a:ext uri="{FF2B5EF4-FFF2-40B4-BE49-F238E27FC236}">
                <a16:creationId xmlns:a16="http://schemas.microsoft.com/office/drawing/2014/main" id="{BCCF2CA0-CCE3-4304-8F31-4D1CC50BCBD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4000" y="5511600"/>
            <a:ext cx="2242800" cy="397959"/>
          </a:xfrm>
          <a:prstGeom prst="rect">
            <a:avLst/>
          </a:prstGeom>
        </p:spPr>
      </p:pic>
    </p:spTree>
    <p:extLst>
      <p:ext uri="{BB962C8B-B14F-4D97-AF65-F5344CB8AC3E}">
        <p14:creationId xmlns:p14="http://schemas.microsoft.com/office/powerpoint/2010/main" val="1713616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age">
    <p:bg>
      <p:bgPr>
        <a:solidFill>
          <a:schemeClr val="bg1"/>
        </a:solidFill>
        <a:effectLst/>
      </p:bgPr>
    </p:bg>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E2C6B9F5-608F-4534-96F0-C3A5E1A638A6}"/>
              </a:ext>
            </a:extLst>
          </p:cNvPr>
          <p:cNvSpPr>
            <a:spLocks noGrp="1"/>
          </p:cNvSpPr>
          <p:nvPr>
            <p:ph type="subTitle" idx="1"/>
          </p:nvPr>
        </p:nvSpPr>
        <p:spPr>
          <a:xfrm>
            <a:off x="954000" y="1890000"/>
            <a:ext cx="7200000" cy="360000"/>
          </a:xfrm>
        </p:spPr>
        <p:txBody>
          <a:bodyPr lIns="0" tIns="0" rIns="0" bIns="0">
            <a:noAutofit/>
          </a:bodyPr>
          <a:lstStyle>
            <a:lvl1pPr marL="0" indent="0" algn="l">
              <a:buNone/>
              <a:defRPr sz="3600" b="1" kern="3000" spc="-100"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91022"/>
            <a:ext cx="7176911" cy="230832"/>
          </a:xfrm>
        </p:spPr>
        <p:txBody>
          <a:bodyPr>
            <a:noAutofit/>
          </a:bodyPr>
          <a:lstStyle>
            <a:lvl1pPr>
              <a:defRPr>
                <a:solidFill>
                  <a:srgbClr val="8F9898"/>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91022"/>
            <a:ext cx="622800" cy="230832"/>
          </a:xfrm>
        </p:spPr>
        <p:txBody>
          <a:bodyPr wrap="square">
            <a:noAutofit/>
          </a:bodyPr>
          <a:lstStyle>
            <a:lvl1pPr>
              <a:defRPr>
                <a:solidFill>
                  <a:srgbClr val="8F9898"/>
                </a:solidFill>
              </a:defRPr>
            </a:lvl1pPr>
          </a:lstStyle>
          <a:p>
            <a:fld id="{E4D355CA-84B7-41B1-B164-8BB439CC7C6B}" type="slidenum">
              <a:rPr lang="en-GB" smtClean="0"/>
              <a:pPr/>
              <a:t>‹#›</a:t>
            </a:fld>
            <a:endParaRPr lang="en-GB"/>
          </a:p>
        </p:txBody>
      </p:sp>
      <p:sp>
        <p:nvSpPr>
          <p:cNvPr id="9" name="Title 1">
            <a:extLst>
              <a:ext uri="{FF2B5EF4-FFF2-40B4-BE49-F238E27FC236}">
                <a16:creationId xmlns:a16="http://schemas.microsoft.com/office/drawing/2014/main" id="{E9449821-0D0D-644D-97A3-D56097A9C6DA}"/>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tx1"/>
                </a:solidFill>
              </a:defRPr>
            </a:lvl1pPr>
          </a:lstStyle>
          <a:p>
            <a:r>
              <a:rPr lang="en-US"/>
              <a:t>Click to edit master title</a:t>
            </a:r>
            <a:endParaRPr lang="en-GB"/>
          </a:p>
        </p:txBody>
      </p:sp>
      <p:sp>
        <p:nvSpPr>
          <p:cNvPr id="10" name="Rectangle 9">
            <a:extLst>
              <a:ext uri="{FF2B5EF4-FFF2-40B4-BE49-F238E27FC236}">
                <a16:creationId xmlns:a16="http://schemas.microsoft.com/office/drawing/2014/main" id="{44F6EB17-8019-7B4E-B53C-76B057A7C31F}"/>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pic>
        <p:nvPicPr>
          <p:cNvPr id="11" name="Picture 10">
            <a:extLst>
              <a:ext uri="{FF2B5EF4-FFF2-40B4-BE49-F238E27FC236}">
                <a16:creationId xmlns:a16="http://schemas.microsoft.com/office/drawing/2014/main" id="{0503EF50-F00F-9643-BE53-F0A5272FC4B2}"/>
              </a:ext>
            </a:extLst>
          </p:cNvPr>
          <p:cNvPicPr>
            <a:picLocks noChangeAspect="1"/>
          </p:cNvPicPr>
          <p:nvPr userDrawn="1"/>
        </p:nvPicPr>
        <p:blipFill>
          <a:blip r:embed="rId2"/>
          <a:stretch>
            <a:fillRect/>
          </a:stretch>
        </p:blipFill>
        <p:spPr>
          <a:xfrm>
            <a:off x="953998" y="5517266"/>
            <a:ext cx="2244881" cy="396903"/>
          </a:xfrm>
          <a:prstGeom prst="rect">
            <a:avLst/>
          </a:prstGeom>
        </p:spPr>
      </p:pic>
    </p:spTree>
    <p:extLst>
      <p:ext uri="{BB962C8B-B14F-4D97-AF65-F5344CB8AC3E}">
        <p14:creationId xmlns:p14="http://schemas.microsoft.com/office/powerpoint/2010/main" val="41082078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and Two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81FBDFA-876B-4255-A301-F62F1EDD8D66}"/>
              </a:ext>
            </a:extLst>
          </p:cNvPr>
          <p:cNvSpPr>
            <a:spLocks noGrp="1"/>
          </p:cNvSpPr>
          <p:nvPr>
            <p:ph sz="half" idx="1" hasCustomPrompt="1"/>
          </p:nvPr>
        </p:nvSpPr>
        <p:spPr>
          <a:xfrm>
            <a:off x="973668" y="2717444"/>
            <a:ext cx="4903200"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lvl="0"/>
            <a:r>
              <a:rPr lang="en-GB"/>
              <a:t>Add Text</a:t>
            </a:r>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6336000" y="2717444"/>
            <a:ext cx="4456800" cy="3175200"/>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62A19DAE-53D8-4F04-A4B9-B6EDFC23886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spTree>
    <p:extLst>
      <p:ext uri="{BB962C8B-B14F-4D97-AF65-F5344CB8AC3E}">
        <p14:creationId xmlns:p14="http://schemas.microsoft.com/office/powerpoint/2010/main" val="1288463762"/>
      </p:ext>
    </p:extLst>
  </p:cSld>
  <p:clrMapOvr>
    <a:masterClrMapping/>
  </p:clrMapOvr>
  <p:extLst>
    <p:ext uri="{DCECCB84-F9BA-43D5-87BE-67443E8EF086}">
      <p15:sldGuideLst xmlns:p15="http://schemas.microsoft.com/office/powerpoint/2012/main">
        <p15:guide id="2" pos="6805" userDrawn="1">
          <p15:clr>
            <a:srgbClr val="FBAE40"/>
          </p15:clr>
        </p15:guide>
        <p15:guide id="3" pos="3989" userDrawn="1">
          <p15:clr>
            <a:srgbClr val="FBAE40"/>
          </p15:clr>
        </p15:guide>
        <p15:guide id="4" pos="3705"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2717600"/>
            <a:ext cx="10251722"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213221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Content Lar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hasCustomPrompt="1"/>
          </p:nvPr>
        </p:nvSpPr>
        <p:spPr>
          <a:xfrm>
            <a:off x="954000" y="775255"/>
            <a:ext cx="7361569" cy="365125"/>
          </a:xfrm>
        </p:spPr>
        <p:txBody>
          <a:bodyPr/>
          <a:lstStyle/>
          <a:p>
            <a:r>
              <a:rPr lang="en-US"/>
              <a:t>Click to add title.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0557305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Large blue">
    <p:bg>
      <p:bgPr>
        <a:solidFill>
          <a:schemeClr val="accent1"/>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lvl1pPr>
              <a:defRPr>
                <a:solidFill>
                  <a:schemeClr val="bg1"/>
                </a:solidFill>
              </a:defRPr>
            </a:lvl1pPr>
          </a:lstStyle>
          <a:p>
            <a:fld id="{E4D355CA-84B7-41B1-B164-8BB439CC7C6B}" type="slidenum">
              <a:rPr lang="en-GB" smtClean="0"/>
              <a:pPr/>
              <a:t>‹#›</a:t>
            </a:fld>
            <a:endParaRPr lang="en-GB"/>
          </a:p>
        </p:txBody>
      </p:sp>
      <p:sp>
        <p:nvSpPr>
          <p:cNvPr id="8" name="Content Placeholder 2">
            <a:extLst>
              <a:ext uri="{FF2B5EF4-FFF2-40B4-BE49-F238E27FC236}">
                <a16:creationId xmlns:a16="http://schemas.microsoft.com/office/drawing/2014/main" id="{B09D4C03-E8B1-644E-949B-F7AF91181833}"/>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chemeClr val="bg1"/>
                </a:solidFill>
              </a:defRPr>
            </a:lvl1pPr>
            <a:lvl2pPr>
              <a:defRPr lang="en-US" dirty="0" smtClean="0">
                <a:solidFill>
                  <a:schemeClr val="bg1"/>
                </a:solidFill>
              </a:defRPr>
            </a:lvl2pPr>
            <a:lvl3pPr>
              <a:defRPr lang="en-GB" dirty="0">
                <a:solidFill>
                  <a:schemeClr val="bg1"/>
                </a:solidFill>
              </a:defRPr>
            </a:lvl3pPr>
            <a:lvl4pPr>
              <a:defRPr>
                <a:solidFill>
                  <a:schemeClr val="bg1"/>
                </a:solidFill>
              </a:defRPr>
            </a:lvl4pPr>
            <a:lvl5pPr>
              <a:defRPr>
                <a:solidFill>
                  <a:schemeClr val="bg1"/>
                </a:solidFill>
              </a:defRPr>
            </a:lvl5pPr>
          </a:lstStyle>
          <a:p>
            <a:pPr lvl="0"/>
            <a:r>
              <a:rPr lang="en-US"/>
              <a:t>Add Text</a:t>
            </a:r>
            <a:endParaRPr lang="en-GB"/>
          </a:p>
        </p:txBody>
      </p:sp>
      <p:sp>
        <p:nvSpPr>
          <p:cNvPr id="5" name="Title 1">
            <a:extLst>
              <a:ext uri="{FF2B5EF4-FFF2-40B4-BE49-F238E27FC236}">
                <a16:creationId xmlns:a16="http://schemas.microsoft.com/office/drawing/2014/main" id="{02EDA17D-AAE6-954F-93C6-90B8D7B80BD1}"/>
              </a:ext>
            </a:extLst>
          </p:cNvPr>
          <p:cNvSpPr>
            <a:spLocks noGrp="1"/>
          </p:cNvSpPr>
          <p:nvPr>
            <p:ph type="title" hasCustomPrompt="1"/>
          </p:nvPr>
        </p:nvSpPr>
        <p:spPr>
          <a:xfrm>
            <a:off x="954000" y="775255"/>
            <a:ext cx="7361569" cy="365125"/>
          </a:xfrm>
        </p:spPr>
        <p:txBody>
          <a:bodyPr/>
          <a:lstStyle>
            <a:lvl1pPr>
              <a:defRPr>
                <a:solidFill>
                  <a:schemeClr val="bg1"/>
                </a:solidFill>
              </a:defRPr>
            </a:lvl1pPr>
          </a:lstStyle>
          <a:p>
            <a:r>
              <a:rPr lang="en-US"/>
              <a:t>Click to add title.</a:t>
            </a:r>
            <a:endParaRPr lang="en-GB"/>
          </a:p>
        </p:txBody>
      </p:sp>
    </p:spTree>
    <p:extLst>
      <p:ext uri="{BB962C8B-B14F-4D97-AF65-F5344CB8AC3E}">
        <p14:creationId xmlns:p14="http://schemas.microsoft.com/office/powerpoint/2010/main" val="1840620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 Image +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7835952" y="2728800"/>
            <a:ext cx="2959200"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GB" spc="-100" baseline="0" dirty="0"/>
            </a:lvl4pPr>
            <a:lvl5pPr>
              <a:defRPr spc="-100" baseline="0">
                <a:solidFill>
                  <a:schemeClr val="accent4"/>
                </a:solidFill>
              </a:defRPr>
            </a:lvl5pPr>
          </a:lstStyle>
          <a:p>
            <a:pPr lvl="0"/>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10" name="Picture Placeholder 9">
            <a:extLst>
              <a:ext uri="{FF2B5EF4-FFF2-40B4-BE49-F238E27FC236}">
                <a16:creationId xmlns:a16="http://schemas.microsoft.com/office/drawing/2014/main" id="{874043F1-6F14-49BD-83CA-12B559ABC101}"/>
              </a:ext>
            </a:extLst>
          </p:cNvPr>
          <p:cNvSpPr>
            <a:spLocks noGrp="1"/>
          </p:cNvSpPr>
          <p:nvPr>
            <p:ph type="pic" sz="quarter" idx="13"/>
          </p:nvPr>
        </p:nvSpPr>
        <p:spPr>
          <a:xfrm>
            <a:off x="954088" y="2728913"/>
            <a:ext cx="6400800" cy="4129087"/>
          </a:xfrm>
        </p:spPr>
        <p:txBody>
          <a:bodyPr/>
          <a:lstStyle/>
          <a:p>
            <a:endParaRPr lang="en-GB"/>
          </a:p>
        </p:txBody>
      </p:sp>
      <p:sp>
        <p:nvSpPr>
          <p:cNvPr id="11" name="Rectangle 10">
            <a:extLst>
              <a:ext uri="{FF2B5EF4-FFF2-40B4-BE49-F238E27FC236}">
                <a16:creationId xmlns:a16="http://schemas.microsoft.com/office/drawing/2014/main" id="{4B51C537-0174-43E5-8B81-C80AF1D06831}"/>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5341137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 Content + 2 Image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039FCF96-B7D6-4CCD-A4AE-46A67249D3B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Content Placeholder 9">
            <a:extLst>
              <a:ext uri="{FF2B5EF4-FFF2-40B4-BE49-F238E27FC236}">
                <a16:creationId xmlns:a16="http://schemas.microsoft.com/office/drawing/2014/main" id="{741F3B7A-B2BF-40FC-8EB2-F1C37D316488}"/>
              </a:ext>
            </a:extLst>
          </p:cNvPr>
          <p:cNvSpPr>
            <a:spLocks noGrp="1"/>
          </p:cNvSpPr>
          <p:nvPr>
            <p:ph sz="quarter" idx="13" hasCustomPrompt="1"/>
          </p:nvPr>
        </p:nvSpPr>
        <p:spPr>
          <a:xfrm>
            <a:off x="953999"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9" name="Content Placeholder 9">
            <a:extLst>
              <a:ext uri="{FF2B5EF4-FFF2-40B4-BE49-F238E27FC236}">
                <a16:creationId xmlns:a16="http://schemas.microsoft.com/office/drawing/2014/main" id="{75B7A667-B99F-7A41-AAC3-ED24B9B1D92E}"/>
              </a:ext>
            </a:extLst>
          </p:cNvPr>
          <p:cNvSpPr>
            <a:spLocks noGrp="1"/>
          </p:cNvSpPr>
          <p:nvPr>
            <p:ph sz="quarter" idx="14" hasCustomPrompt="1"/>
          </p:nvPr>
        </p:nvSpPr>
        <p:spPr>
          <a:xfrm>
            <a:off x="8278804"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11" name="Content Placeholder 9">
            <a:extLst>
              <a:ext uri="{FF2B5EF4-FFF2-40B4-BE49-F238E27FC236}">
                <a16:creationId xmlns:a16="http://schemas.microsoft.com/office/drawing/2014/main" id="{93C1FF47-695D-B348-AF37-1ADF5736FA9E}"/>
              </a:ext>
            </a:extLst>
          </p:cNvPr>
          <p:cNvSpPr>
            <a:spLocks noGrp="1"/>
          </p:cNvSpPr>
          <p:nvPr>
            <p:ph sz="quarter" idx="15" hasCustomPrompt="1"/>
          </p:nvPr>
        </p:nvSpPr>
        <p:spPr>
          <a:xfrm>
            <a:off x="4613975"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Tree>
    <p:extLst>
      <p:ext uri="{BB962C8B-B14F-4D97-AF65-F5344CB8AC3E}">
        <p14:creationId xmlns:p14="http://schemas.microsoft.com/office/powerpoint/2010/main" val="896047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ull Bleed Image">
    <p:bg>
      <p:bgPr>
        <a:solidFill>
          <a:schemeClr val="accent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A307C322-846C-9045-AD91-A93C82FC5AAF}"/>
              </a:ext>
            </a:extLst>
          </p:cNvPr>
          <p:cNvSpPr>
            <a:spLocks noGrp="1"/>
          </p:cNvSpPr>
          <p:nvPr>
            <p:ph type="pic" sz="quarter" idx="10" hasCustomPrompt="1"/>
          </p:nvPr>
        </p:nvSpPr>
        <p:spPr>
          <a:xfrm>
            <a:off x="0" y="0"/>
            <a:ext cx="12192000" cy="6858000"/>
          </a:xfrm>
        </p:spPr>
        <p:txBody>
          <a:bodyPr/>
          <a:lstStyle>
            <a:lvl1pPr>
              <a:defRPr>
                <a:solidFill>
                  <a:schemeClr val="bg1"/>
                </a:solidFill>
              </a:defRPr>
            </a:lvl1pPr>
          </a:lstStyle>
          <a:p>
            <a:r>
              <a:rPr lang="en-US"/>
              <a:t>Picture</a:t>
            </a:r>
          </a:p>
        </p:txBody>
      </p:sp>
    </p:spTree>
    <p:extLst>
      <p:ext uri="{BB962C8B-B14F-4D97-AF65-F5344CB8AC3E}">
        <p14:creationId xmlns:p14="http://schemas.microsoft.com/office/powerpoint/2010/main" val="29203521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Video">
    <p:bg>
      <p:bgPr>
        <a:solidFill>
          <a:schemeClr val="accent1"/>
        </a:solidFill>
        <a:effectLst/>
      </p:bgPr>
    </p:bg>
    <p:spTree>
      <p:nvGrpSpPr>
        <p:cNvPr id="1" name=""/>
        <p:cNvGrpSpPr/>
        <p:nvPr/>
      </p:nvGrpSpPr>
      <p:grpSpPr>
        <a:xfrm>
          <a:off x="0" y="0"/>
          <a:ext cx="0" cy="0"/>
          <a:chOff x="0" y="0"/>
          <a:chExt cx="0" cy="0"/>
        </a:xfrm>
      </p:grpSpPr>
      <p:sp>
        <p:nvSpPr>
          <p:cNvPr id="9" name="Media Placeholder 8">
            <a:extLst>
              <a:ext uri="{FF2B5EF4-FFF2-40B4-BE49-F238E27FC236}">
                <a16:creationId xmlns:a16="http://schemas.microsoft.com/office/drawing/2014/main" id="{9ABCF9A5-761F-434B-BBB5-D788CB1E79D8}"/>
              </a:ext>
            </a:extLst>
          </p:cNvPr>
          <p:cNvSpPr>
            <a:spLocks noGrp="1"/>
          </p:cNvSpPr>
          <p:nvPr>
            <p:ph type="media" sz="quarter" idx="10"/>
          </p:nvPr>
        </p:nvSpPr>
        <p:spPr>
          <a:xfrm>
            <a:off x="140400" y="140400"/>
            <a:ext cx="11916000" cy="6580800"/>
          </a:xfrm>
          <a:solidFill>
            <a:schemeClr val="bg1"/>
          </a:solidFill>
        </p:spPr>
        <p:txBody>
          <a:bodyPr/>
          <a:lstStyle/>
          <a:p>
            <a:endParaRPr lang="en-GB"/>
          </a:p>
        </p:txBody>
      </p:sp>
    </p:spTree>
    <p:extLst>
      <p:ext uri="{BB962C8B-B14F-4D97-AF65-F5344CB8AC3E}">
        <p14:creationId xmlns:p14="http://schemas.microsoft.com/office/powerpoint/2010/main" val="32028098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cons and text">
    <p:bg>
      <p:bgPr>
        <a:solidFill>
          <a:schemeClr val="bg1"/>
        </a:solidFill>
        <a:effectLst/>
      </p:bgPr>
    </p:bg>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Content Placeholder 2">
            <a:extLst>
              <a:ext uri="{FF2B5EF4-FFF2-40B4-BE49-F238E27FC236}">
                <a16:creationId xmlns:a16="http://schemas.microsoft.com/office/drawing/2014/main" id="{699880E3-4DE3-A642-9738-DF49DDCC9AC5}"/>
              </a:ext>
            </a:extLst>
          </p:cNvPr>
          <p:cNvSpPr>
            <a:spLocks noGrp="1"/>
          </p:cNvSpPr>
          <p:nvPr>
            <p:ph idx="18" hasCustomPrompt="1"/>
          </p:nvPr>
        </p:nvSpPr>
        <p:spPr>
          <a:xfrm>
            <a:off x="970139" y="4079342"/>
            <a:ext cx="3144661" cy="2252134"/>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17" name="Content Placeholder 2">
            <a:extLst>
              <a:ext uri="{FF2B5EF4-FFF2-40B4-BE49-F238E27FC236}">
                <a16:creationId xmlns:a16="http://schemas.microsoft.com/office/drawing/2014/main" id="{CF37D495-D835-8E4B-A177-5E12F893DDCA}"/>
              </a:ext>
            </a:extLst>
          </p:cNvPr>
          <p:cNvSpPr>
            <a:spLocks noGrp="1"/>
          </p:cNvSpPr>
          <p:nvPr>
            <p:ph idx="19" hasCustomPrompt="1"/>
          </p:nvPr>
        </p:nvSpPr>
        <p:spPr>
          <a:xfrm>
            <a:off x="8077200"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endParaRPr lang="en-GB"/>
          </a:p>
        </p:txBody>
      </p:sp>
      <p:sp>
        <p:nvSpPr>
          <p:cNvPr id="18" name="Content Placeholder 2">
            <a:extLst>
              <a:ext uri="{FF2B5EF4-FFF2-40B4-BE49-F238E27FC236}">
                <a16:creationId xmlns:a16="http://schemas.microsoft.com/office/drawing/2014/main" id="{A6804C7E-983C-9246-90C0-AF8A0CE2CA84}"/>
              </a:ext>
            </a:extLst>
          </p:cNvPr>
          <p:cNvSpPr>
            <a:spLocks noGrp="1"/>
          </p:cNvSpPr>
          <p:nvPr>
            <p:ph idx="20" hasCustomPrompt="1"/>
          </p:nvPr>
        </p:nvSpPr>
        <p:spPr>
          <a:xfrm>
            <a:off x="4523669"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p>
        </p:txBody>
      </p:sp>
      <p:sp>
        <p:nvSpPr>
          <p:cNvPr id="8" name="Picture Placeholder 7">
            <a:extLst>
              <a:ext uri="{FF2B5EF4-FFF2-40B4-BE49-F238E27FC236}">
                <a16:creationId xmlns:a16="http://schemas.microsoft.com/office/drawing/2014/main" id="{84410427-8F1D-7541-9C05-AFDD3531678D}"/>
              </a:ext>
            </a:extLst>
          </p:cNvPr>
          <p:cNvSpPr>
            <a:spLocks noGrp="1"/>
          </p:cNvSpPr>
          <p:nvPr>
            <p:ph type="pic" sz="quarter" idx="23"/>
          </p:nvPr>
        </p:nvSpPr>
        <p:spPr>
          <a:xfrm>
            <a:off x="1462175" y="1640942"/>
            <a:ext cx="2160587" cy="2160588"/>
          </a:xfrm>
        </p:spPr>
        <p:txBody>
          <a:bodyPr/>
          <a:lstStyle/>
          <a:p>
            <a:endParaRPr lang="en-US"/>
          </a:p>
        </p:txBody>
      </p:sp>
      <p:sp>
        <p:nvSpPr>
          <p:cNvPr id="20" name="Picture Placeholder 7">
            <a:extLst>
              <a:ext uri="{FF2B5EF4-FFF2-40B4-BE49-F238E27FC236}">
                <a16:creationId xmlns:a16="http://schemas.microsoft.com/office/drawing/2014/main" id="{8B7D5964-7A97-5742-8717-CCB747F84A08}"/>
              </a:ext>
            </a:extLst>
          </p:cNvPr>
          <p:cNvSpPr>
            <a:spLocks noGrp="1"/>
          </p:cNvSpPr>
          <p:nvPr>
            <p:ph type="pic" sz="quarter" idx="24"/>
          </p:nvPr>
        </p:nvSpPr>
        <p:spPr>
          <a:xfrm>
            <a:off x="5015705" y="1640942"/>
            <a:ext cx="2160587" cy="2160588"/>
          </a:xfrm>
        </p:spPr>
        <p:txBody>
          <a:bodyPr/>
          <a:lstStyle/>
          <a:p>
            <a:endParaRPr lang="en-US"/>
          </a:p>
        </p:txBody>
      </p:sp>
      <p:sp>
        <p:nvSpPr>
          <p:cNvPr id="21" name="Picture Placeholder 7">
            <a:extLst>
              <a:ext uri="{FF2B5EF4-FFF2-40B4-BE49-F238E27FC236}">
                <a16:creationId xmlns:a16="http://schemas.microsoft.com/office/drawing/2014/main" id="{344933FE-A401-A841-9AC3-B75285AA32D2}"/>
              </a:ext>
            </a:extLst>
          </p:cNvPr>
          <p:cNvSpPr>
            <a:spLocks noGrp="1"/>
          </p:cNvSpPr>
          <p:nvPr>
            <p:ph type="pic" sz="quarter" idx="25"/>
          </p:nvPr>
        </p:nvSpPr>
        <p:spPr>
          <a:xfrm>
            <a:off x="8569236" y="1640942"/>
            <a:ext cx="2160587" cy="2160588"/>
          </a:xfrm>
        </p:spPr>
        <p:txBody>
          <a:bodyPr/>
          <a:lstStyle/>
          <a:p>
            <a:endParaRPr lang="en-US"/>
          </a:p>
        </p:txBody>
      </p:sp>
    </p:spTree>
    <p:extLst>
      <p:ext uri="{BB962C8B-B14F-4D97-AF65-F5344CB8AC3E}">
        <p14:creationId xmlns:p14="http://schemas.microsoft.com/office/powerpoint/2010/main" val="36116316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End pag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E2CE188-32E7-4242-9E44-E8055FC030CC}"/>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54002" y="5511600"/>
            <a:ext cx="2242795" cy="397958"/>
          </a:xfrm>
          <a:prstGeom prst="rect">
            <a:avLst/>
          </a:prstGeom>
        </p:spPr>
      </p:pic>
      <p:sp>
        <p:nvSpPr>
          <p:cNvPr id="2" name="Title 1">
            <a:extLst>
              <a:ext uri="{FF2B5EF4-FFF2-40B4-BE49-F238E27FC236}">
                <a16:creationId xmlns:a16="http://schemas.microsoft.com/office/drawing/2014/main" id="{7381B53D-9933-445F-9B68-E730EB38A5A9}"/>
              </a:ext>
            </a:extLst>
          </p:cNvPr>
          <p:cNvSpPr>
            <a:spLocks noGrp="1"/>
          </p:cNvSpPr>
          <p:nvPr>
            <p:ph type="ctrTitle"/>
          </p:nvPr>
        </p:nvSpPr>
        <p:spPr>
          <a:xfrm>
            <a:off x="926844" y="1964352"/>
            <a:ext cx="11828559" cy="1051570"/>
          </a:xfrm>
        </p:spPr>
        <p:txBody>
          <a:bodyPr vert="horz" wrap="none" lIns="0" tIns="0" rIns="0" bIns="0" rtlCol="0" anchor="t" anchorCtr="0">
            <a:noAutofit/>
          </a:bodyPr>
          <a:lstStyle>
            <a:lvl1pPr>
              <a:lnSpc>
                <a:spcPct val="100000"/>
              </a:lnSpc>
              <a:defRPr lang="en-GB" sz="7386" spc="-300" baseline="0" dirty="0">
                <a:solidFill>
                  <a:schemeClr val="bg1"/>
                </a:solidFill>
              </a:defRPr>
            </a:lvl1pPr>
          </a:lstStyle>
          <a:p>
            <a:pPr lvl="0">
              <a:lnSpc>
                <a:spcPts val="8186"/>
              </a:lnSpc>
            </a:pPr>
            <a:r>
              <a:rPr lang="en-US"/>
              <a:t>Click to edit Master title style</a:t>
            </a:r>
            <a:endParaRPr lang="en-GB"/>
          </a:p>
        </p:txBody>
      </p:sp>
      <p:sp>
        <p:nvSpPr>
          <p:cNvPr id="5" name="Footer Placeholder 4">
            <a:extLst>
              <a:ext uri="{FF2B5EF4-FFF2-40B4-BE49-F238E27FC236}">
                <a16:creationId xmlns:a16="http://schemas.microsoft.com/office/drawing/2014/main" id="{CA2BE80A-BFEC-E24A-B510-73A571F1F04F}"/>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8E5B25B4-144A-5B4A-8EAD-2022412DF2F1}"/>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8621701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1A62CF-E2B4-496D-829D-DCE37260977D}"/>
              </a:ext>
            </a:extLst>
          </p:cNvPr>
          <p:cNvSpPr>
            <a:spLocks noGrp="1"/>
          </p:cNvSpPr>
          <p:nvPr>
            <p:ph type="title"/>
          </p:nvPr>
        </p:nvSpPr>
        <p:spPr>
          <a:xfrm>
            <a:off x="954000" y="1890000"/>
            <a:ext cx="10279150" cy="365125"/>
          </a:xfrm>
          <a:prstGeom prst="rect">
            <a:avLst/>
          </a:prstGeom>
        </p:spPr>
        <p:txBody>
          <a:bodyPr vert="horz" lIns="0" tIns="0" rIns="0" bIns="0" rtlCol="0" anchor="t" anchorCtr="0">
            <a:no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FD84EF4-0E07-4BF3-A4AB-3E8632AA79AD}"/>
              </a:ext>
            </a:extLst>
          </p:cNvPr>
          <p:cNvSpPr>
            <a:spLocks noGrp="1"/>
          </p:cNvSpPr>
          <p:nvPr>
            <p:ph type="body" idx="1"/>
          </p:nvPr>
        </p:nvSpPr>
        <p:spPr>
          <a:xfrm>
            <a:off x="970139" y="2717600"/>
            <a:ext cx="10279150" cy="31752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GB"/>
              <a:t>Fourth level</a:t>
            </a:r>
          </a:p>
          <a:p>
            <a:pPr lvl="4"/>
            <a:r>
              <a:rPr lang="en-GB" b="1"/>
              <a:t>Fifth level</a:t>
            </a:r>
            <a:endParaRPr lang="en-GB"/>
          </a:p>
        </p:txBody>
      </p:sp>
      <p:sp>
        <p:nvSpPr>
          <p:cNvPr id="5" name="Footer Placeholder 4">
            <a:extLst>
              <a:ext uri="{FF2B5EF4-FFF2-40B4-BE49-F238E27FC236}">
                <a16:creationId xmlns:a16="http://schemas.microsoft.com/office/drawing/2014/main" id="{3B527A5D-B761-4C2F-97E6-5D8254424B8B}"/>
              </a:ext>
            </a:extLst>
          </p:cNvPr>
          <p:cNvSpPr>
            <a:spLocks noGrp="1"/>
          </p:cNvSpPr>
          <p:nvPr>
            <p:ph type="ftr" sz="quarter" idx="3"/>
          </p:nvPr>
        </p:nvSpPr>
        <p:spPr>
          <a:xfrm>
            <a:off x="970139" y="775255"/>
            <a:ext cx="7176911" cy="230832"/>
          </a:xfrm>
          <a:prstGeom prst="rect">
            <a:avLst/>
          </a:prstGeom>
        </p:spPr>
        <p:txBody>
          <a:bodyPr vert="horz" lIns="0" tIns="0" rIns="0" bIns="0" rtlCol="0" anchor="t" anchorCtr="0">
            <a:spAutoFit/>
          </a:bodyPr>
          <a:lstStyle>
            <a:lvl1pPr algn="l">
              <a:defRPr sz="1500">
                <a:solidFill>
                  <a:schemeClr val="tx1">
                    <a:tint val="75000"/>
                  </a:schemeClr>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9CD661B1-4E4B-4F85-ACA3-C34023D70282}"/>
              </a:ext>
            </a:extLst>
          </p:cNvPr>
          <p:cNvSpPr>
            <a:spLocks noGrp="1"/>
          </p:cNvSpPr>
          <p:nvPr>
            <p:ph type="sldNum" sz="quarter" idx="4"/>
          </p:nvPr>
        </p:nvSpPr>
        <p:spPr>
          <a:xfrm>
            <a:off x="9821333" y="783355"/>
            <a:ext cx="1400528" cy="230832"/>
          </a:xfrm>
          <a:prstGeom prst="rect">
            <a:avLst/>
          </a:prstGeom>
        </p:spPr>
        <p:txBody>
          <a:bodyPr vert="horz" wrap="square" lIns="0" tIns="0" rIns="0" bIns="0" rtlCol="0" anchor="t" anchorCtr="0">
            <a:spAutoFit/>
          </a:bodyPr>
          <a:lstStyle>
            <a:lvl1pPr algn="r">
              <a:defRPr sz="1500" b="1">
                <a:solidFill>
                  <a:schemeClr val="tx1">
                    <a:tint val="75000"/>
                  </a:schemeClr>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1619008365"/>
      </p:ext>
    </p:extLst>
  </p:cSld>
  <p:clrMap bg1="lt1" tx1="dk1" bg2="lt2" tx2="dk2" accent1="accent1" accent2="accent2" accent3="accent3" accent4="accent4" accent5="accent5" accent6="accent6" hlink="hlink" folHlink="folHlink"/>
  <p:sldLayoutIdLst>
    <p:sldLayoutId id="2147483675" r:id="rId1"/>
    <p:sldLayoutId id="2147483663" r:id="rId2"/>
    <p:sldLayoutId id="2147483677" r:id="rId3"/>
    <p:sldLayoutId id="2147483652" r:id="rId4"/>
    <p:sldLayoutId id="2147483682" r:id="rId5"/>
    <p:sldLayoutId id="2147483721" r:id="rId6"/>
    <p:sldLayoutId id="2147483722" r:id="rId7"/>
    <p:sldLayoutId id="2147483684" r:id="rId8"/>
    <p:sldLayoutId id="2147483685" r:id="rId9"/>
    <p:sldLayoutId id="2147483686" r:id="rId10"/>
    <p:sldLayoutId id="2147483723" r:id="rId11"/>
    <p:sldLayoutId id="2147483706" r:id="rId12"/>
    <p:sldLayoutId id="2147483697" r:id="rId13"/>
  </p:sldLayoutIdLst>
  <p:hf hdr="0" dt="0"/>
  <p:txStyles>
    <p:titleStyle>
      <a:lvl1pPr algn="l" defTabSz="914400" rtl="0" eaLnBrk="1" latinLnBrk="0" hangingPunct="1">
        <a:lnSpc>
          <a:spcPts val="3600"/>
        </a:lnSpc>
        <a:spcBef>
          <a:spcPct val="0"/>
        </a:spcBef>
        <a:buNone/>
        <a:defRPr sz="3600" b="1" kern="2000" spc="-100" baseline="0">
          <a:solidFill>
            <a:srgbClr val="203232"/>
          </a:solidFill>
          <a:latin typeface="+mj-lt"/>
          <a:ea typeface="+mj-ea"/>
          <a:cs typeface="+mj-cs"/>
        </a:defRPr>
      </a:lvl1pPr>
    </p:titleStyle>
    <p:bodyStyle>
      <a:lvl1pPr marL="0" indent="0" algn="l" defTabSz="914400" rtl="0" eaLnBrk="1" latinLnBrk="0" hangingPunct="1">
        <a:lnSpc>
          <a:spcPts val="2880"/>
        </a:lnSpc>
        <a:spcBef>
          <a:spcPts val="0"/>
        </a:spcBef>
        <a:spcAft>
          <a:spcPts val="992"/>
        </a:spcAft>
        <a:buFont typeface="Arial" panose="020B0604020202020204" pitchFamily="34" charset="0"/>
        <a:buNone/>
        <a:defRPr sz="2400" b="1" kern="2000" spc="-100" baseline="0">
          <a:solidFill>
            <a:srgbClr val="203232"/>
          </a:solidFill>
          <a:latin typeface="+mn-lt"/>
          <a:ea typeface="+mn-ea"/>
          <a:cs typeface="+mn-cs"/>
        </a:defRPr>
      </a:lvl1pPr>
      <a:lvl2pPr marL="0" indent="0" algn="l" defTabSz="914400" rtl="0" eaLnBrk="1" latinLnBrk="0" hangingPunct="1">
        <a:lnSpc>
          <a:spcPts val="2880"/>
        </a:lnSpc>
        <a:spcBef>
          <a:spcPts val="0"/>
        </a:spcBef>
        <a:spcAft>
          <a:spcPts val="992"/>
        </a:spcAft>
        <a:buFont typeface="Arial" panose="020B0604020202020204" pitchFamily="34" charset="0"/>
        <a:buNone/>
        <a:defRPr sz="2400" kern="2000" spc="-100" baseline="0">
          <a:solidFill>
            <a:srgbClr val="203232"/>
          </a:solidFill>
          <a:latin typeface="+mn-lt"/>
          <a:ea typeface="+mn-ea"/>
          <a:cs typeface="+mn-cs"/>
        </a:defRPr>
      </a:lvl2pPr>
      <a:lvl3pPr marL="216000" indent="-216000" algn="l" defTabSz="914400" rtl="0" eaLnBrk="1" latinLnBrk="0" hangingPunct="1">
        <a:lnSpc>
          <a:spcPts val="2880"/>
        </a:lnSpc>
        <a:spcBef>
          <a:spcPts val="0"/>
        </a:spcBef>
        <a:spcAft>
          <a:spcPts val="992"/>
        </a:spcAft>
        <a:buFont typeface="Arial" panose="020B0604020202020204" pitchFamily="34" charset="0"/>
        <a:buChar char="■"/>
        <a:defRPr sz="2400" kern="2000" spc="-100" baseline="0">
          <a:solidFill>
            <a:srgbClr val="203232"/>
          </a:solidFill>
          <a:latin typeface="+mn-lt"/>
          <a:ea typeface="+mn-ea"/>
          <a:cs typeface="+mn-cs"/>
        </a:defRPr>
      </a:lvl3pPr>
      <a:lvl4pPr marL="0" indent="0" algn="l" defTabSz="914400" rtl="0" eaLnBrk="1" latinLnBrk="0" hangingPunct="1">
        <a:lnSpc>
          <a:spcPts val="2160"/>
        </a:lnSpc>
        <a:spcBef>
          <a:spcPts val="0"/>
        </a:spcBef>
        <a:buFont typeface="Arial" panose="020B0604020202020204" pitchFamily="34" charset="0"/>
        <a:buNone/>
        <a:defRPr sz="1800" kern="1200">
          <a:solidFill>
            <a:srgbClr val="203232"/>
          </a:solidFill>
          <a:latin typeface="+mn-lt"/>
          <a:ea typeface="+mn-ea"/>
          <a:cs typeface="+mn-cs"/>
        </a:defRPr>
      </a:lvl4pPr>
      <a:lvl5pPr marL="0" indent="0" algn="l" defTabSz="914400" rtl="0" eaLnBrk="1" latinLnBrk="0" hangingPunct="1">
        <a:lnSpc>
          <a:spcPts val="2160"/>
        </a:lnSpc>
        <a:spcBef>
          <a:spcPts val="0"/>
        </a:spcBef>
        <a:buFont typeface="Arial" panose="020B0604020202020204" pitchFamily="34" charset="0"/>
        <a:buNone/>
        <a:defRPr sz="1800" b="1" kern="1200">
          <a:solidFill>
            <a:srgbClr val="20323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4" pos="604" userDrawn="1">
          <p15:clr>
            <a:srgbClr val="F26B43"/>
          </p15:clr>
        </p15:guide>
        <p15:guide id="5" pos="7076" userDrawn="1">
          <p15:clr>
            <a:srgbClr val="F26B43"/>
          </p15:clr>
        </p15:guide>
        <p15:guide id="6" orient="horz" pos="2160" userDrawn="1">
          <p15:clr>
            <a:srgbClr val="F26B43"/>
          </p15:clr>
        </p15:guide>
        <p15:guide id="7" orient="horz" userDrawn="1">
          <p15:clr>
            <a:srgbClr val="F26B43"/>
          </p15:clr>
        </p15:guide>
        <p15:guide id="8" orient="horz" pos="604" userDrawn="1">
          <p15:clr>
            <a:srgbClr val="F26B43"/>
          </p15:clr>
        </p15:guide>
        <p15:guide id="10" orient="horz" pos="3712" userDrawn="1">
          <p15:clr>
            <a:srgbClr val="F26B43"/>
          </p15:clr>
        </p15:guide>
        <p15:guide id="11" orient="horz" pos="11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6A29D8FC-E32A-5566-0930-02B99F5763A6}"/>
              </a:ext>
            </a:extLst>
          </p:cNvPr>
          <p:cNvSpPr>
            <a:spLocks noGrp="1"/>
          </p:cNvSpPr>
          <p:nvPr>
            <p:ph type="subTitle" idx="1"/>
          </p:nvPr>
        </p:nvSpPr>
        <p:spPr>
          <a:xfrm>
            <a:off x="952800" y="699736"/>
            <a:ext cx="10273911" cy="533111"/>
          </a:xfrm>
        </p:spPr>
        <p:txBody>
          <a:bodyPr/>
          <a:lstStyle/>
          <a:p>
            <a:r>
              <a:rPr lang="en-GB"/>
              <a:t>Instructions for the Research Question Demos</a:t>
            </a:r>
          </a:p>
        </p:txBody>
      </p:sp>
      <p:sp>
        <p:nvSpPr>
          <p:cNvPr id="4" name="Slide Number Placeholder 3">
            <a:extLst>
              <a:ext uri="{FF2B5EF4-FFF2-40B4-BE49-F238E27FC236}">
                <a16:creationId xmlns:a16="http://schemas.microsoft.com/office/drawing/2014/main" id="{E143B824-C7FA-8427-0A8B-E8B5D7787B83}"/>
              </a:ext>
            </a:extLst>
          </p:cNvPr>
          <p:cNvSpPr>
            <a:spLocks noGrp="1"/>
          </p:cNvSpPr>
          <p:nvPr>
            <p:ph type="sldNum" sz="quarter" idx="12"/>
          </p:nvPr>
        </p:nvSpPr>
        <p:spPr/>
        <p:txBody>
          <a:bodyPr/>
          <a:lstStyle/>
          <a:p>
            <a:fld id="{E4D355CA-84B7-41B1-B164-8BB439CC7C6B}" type="slidenum">
              <a:rPr lang="en-GB" smtClean="0"/>
              <a:pPr/>
              <a:t>1</a:t>
            </a:fld>
            <a:endParaRPr lang="en-GB"/>
          </a:p>
        </p:txBody>
      </p:sp>
      <p:sp>
        <p:nvSpPr>
          <p:cNvPr id="6" name="TextBox 5">
            <a:extLst>
              <a:ext uri="{FF2B5EF4-FFF2-40B4-BE49-F238E27FC236}">
                <a16:creationId xmlns:a16="http://schemas.microsoft.com/office/drawing/2014/main" id="{6DD9461E-8553-F8C3-E23F-FB71330E931F}"/>
              </a:ext>
            </a:extLst>
          </p:cNvPr>
          <p:cNvSpPr txBox="1"/>
          <p:nvPr/>
        </p:nvSpPr>
        <p:spPr>
          <a:xfrm>
            <a:off x="388578" y="1310979"/>
            <a:ext cx="11486747" cy="5355312"/>
          </a:xfrm>
          <a:prstGeom prst="rect">
            <a:avLst/>
          </a:prstGeom>
          <a:solidFill>
            <a:schemeClr val="bg1"/>
          </a:solidFill>
        </p:spPr>
        <p:txBody>
          <a:bodyPr wrap="square" lIns="91440" tIns="45720" rIns="91440" bIns="45720" rtlCol="0" anchor="t">
            <a:spAutoFit/>
          </a:bodyPr>
          <a:lstStyle/>
          <a:p>
            <a:r>
              <a:rPr lang="en-GB" dirty="0"/>
              <a:t>You have 5 minutes to present – be ready to share your screen, present slides in "full screen / presentation mode". Practice first. We can only offer you one opportunity to present your Research Question, so please </a:t>
            </a:r>
            <a:r>
              <a:rPr lang="en-GB"/>
              <a:t>make the most of this opportunity to help you pass coursework 2. </a:t>
            </a:r>
            <a:endParaRPr lang="en-GB" dirty="0"/>
          </a:p>
          <a:p>
            <a:endParaRPr lang="en-GB"/>
          </a:p>
          <a:p>
            <a:r>
              <a:rPr lang="en-GB" dirty="0">
                <a:solidFill>
                  <a:srgbClr val="FF0000"/>
                </a:solidFill>
              </a:rPr>
              <a:t>Research Questions are dependent on the variables and datatypes you have in your assigned dataset. Before you define your Research Question, your dataset dsXXXX must match your assigned Dataset, I.e., did you </a:t>
            </a:r>
            <a:r>
              <a:rPr lang="en-GB">
                <a:solidFill>
                  <a:srgbClr val="FF0000"/>
                </a:solidFill>
              </a:rPr>
              <a:t>receive confirmation email about your allocation?</a:t>
            </a:r>
            <a:r>
              <a:rPr lang="en-GB" dirty="0">
                <a:solidFill>
                  <a:srgbClr val="FF0000"/>
                </a:solidFill>
              </a:rPr>
              <a:t> Your group number must be assigned to the dataset you are referencing here.</a:t>
            </a:r>
            <a:endParaRPr lang="en-GB" dirty="0">
              <a:solidFill>
                <a:srgbClr val="FF0000"/>
              </a:solidFill>
              <a:cs typeface="Arial"/>
            </a:endParaRPr>
          </a:p>
          <a:p>
            <a:endParaRPr lang="en-GB">
              <a:solidFill>
                <a:srgbClr val="203232"/>
              </a:solidFill>
              <a:cs typeface="Arial" panose="020B0604020202020204"/>
            </a:endParaRPr>
          </a:p>
          <a:p>
            <a:r>
              <a:rPr lang="en-GB"/>
              <a:t>The next slides give you three alternatives for defining your research question and hypotheses. Select </a:t>
            </a:r>
            <a:r>
              <a:rPr lang="en-GB" dirty="0"/>
              <a:t>only </a:t>
            </a:r>
            <a:r>
              <a:rPr lang="en-GB" b="1" dirty="0"/>
              <a:t>one type </a:t>
            </a:r>
            <a:r>
              <a:rPr lang="en-GB" dirty="0"/>
              <a:t>of research question. </a:t>
            </a:r>
          </a:p>
          <a:p>
            <a:r>
              <a:rPr lang="en-GB" dirty="0"/>
              <a:t>Before presenting DELETE all text that is either an instruction or an optionyou do not use (including this slide).   You can then enlarge your selection. Instructions for group sign up of presentation slots will be announced on Canvas and Slack. DO NOT SIGN UP unless you can attend. Ideally, all group members should attend; select one person to present, while others take notes. All group be ready to answer questions.  Any group not </a:t>
            </a:r>
            <a:r>
              <a:rPr lang="en-GB"/>
              <a:t>presenting will miss the opportunity to check a critical part of coursework 2.   Practice presenting on Teams </a:t>
            </a:r>
            <a:r>
              <a:rPr lang="en-GB" dirty="0"/>
              <a:t>first.</a:t>
            </a:r>
            <a:endParaRPr lang="en-GB">
              <a:cs typeface="Arial"/>
            </a:endParaRPr>
          </a:p>
          <a:p>
            <a:r>
              <a:rPr lang="en-GB" b="1" i="1"/>
              <a:t>We look forward to giving you feedback.  You will not be graded on this presentation but if you do not attend and you booked a space you are preventing someone else presenting and are going against our module values</a:t>
            </a:r>
            <a:r>
              <a:rPr lang="en-GB"/>
              <a:t>.  This will be reflected in your peer evaluation.</a:t>
            </a:r>
          </a:p>
        </p:txBody>
      </p:sp>
    </p:spTree>
    <p:extLst>
      <p:ext uri="{BB962C8B-B14F-4D97-AF65-F5344CB8AC3E}">
        <p14:creationId xmlns:p14="http://schemas.microsoft.com/office/powerpoint/2010/main" val="3847483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0AEE4-CC66-FE42-B0C3-2CC7AFD37D1C}"/>
              </a:ext>
            </a:extLst>
          </p:cNvPr>
          <p:cNvSpPr>
            <a:spLocks noGrp="1"/>
          </p:cNvSpPr>
          <p:nvPr>
            <p:ph type="ctrTitle"/>
          </p:nvPr>
        </p:nvSpPr>
        <p:spPr/>
        <p:txBody>
          <a:bodyPr>
            <a:normAutofit fontScale="90000"/>
          </a:bodyPr>
          <a:lstStyle/>
          <a:p>
            <a:r>
              <a:rPr lang="en-US"/>
              <a:t>Research Question – </a:t>
            </a:r>
            <a:br>
              <a:rPr lang="en-US"/>
            </a:br>
            <a:r>
              <a:rPr lang="en-US" sz="4000"/>
              <a:t>Tutorial Presentation for Feedback</a:t>
            </a:r>
            <a:br>
              <a:rPr lang="en-US" sz="4000"/>
            </a:br>
            <a:r>
              <a:rPr lang="en-US" sz="2200"/>
              <a:t>Date: </a:t>
            </a:r>
            <a:br>
              <a:rPr lang="en-US" sz="8000"/>
            </a:br>
            <a:endParaRPr lang="en-US"/>
          </a:p>
        </p:txBody>
      </p:sp>
      <p:sp>
        <p:nvSpPr>
          <p:cNvPr id="3" name="Subtitle 2">
            <a:extLst>
              <a:ext uri="{FF2B5EF4-FFF2-40B4-BE49-F238E27FC236}">
                <a16:creationId xmlns:a16="http://schemas.microsoft.com/office/drawing/2014/main" id="{8275DA97-5166-7F4B-BC83-F50AC8BEDCD7}"/>
              </a:ext>
            </a:extLst>
          </p:cNvPr>
          <p:cNvSpPr>
            <a:spLocks noGrp="1"/>
          </p:cNvSpPr>
          <p:nvPr>
            <p:ph type="subTitle" idx="1"/>
          </p:nvPr>
        </p:nvSpPr>
        <p:spPr/>
        <p:txBody>
          <a:bodyPr/>
          <a:lstStyle/>
          <a:p>
            <a:r>
              <a:rPr lang="en-US" sz="2000"/>
              <a:t>Group Name:                                                            Name of Student Presenting:</a:t>
            </a:r>
          </a:p>
        </p:txBody>
      </p:sp>
      <p:sp>
        <p:nvSpPr>
          <p:cNvPr id="4" name="Footer Placeholder 3">
            <a:extLst>
              <a:ext uri="{FF2B5EF4-FFF2-40B4-BE49-F238E27FC236}">
                <a16:creationId xmlns:a16="http://schemas.microsoft.com/office/drawing/2014/main" id="{6E7F4D14-5620-EC41-A86C-6CC3CFD691B4}"/>
              </a:ext>
            </a:extLst>
          </p:cNvPr>
          <p:cNvSpPr>
            <a:spLocks noGrp="1"/>
          </p:cNvSpPr>
          <p:nvPr>
            <p:ph type="ftr" sz="quarter" idx="11"/>
          </p:nvPr>
        </p:nvSpPr>
        <p:spPr>
          <a:xfrm>
            <a:off x="965289" y="274320"/>
            <a:ext cx="10455567" cy="736245"/>
          </a:xfrm>
        </p:spPr>
        <p:txBody>
          <a:bodyPr/>
          <a:lstStyle/>
          <a:p>
            <a:r>
              <a:rPr lang="en-GB"/>
              <a:t>7COM1079-2025  Student Group No:                    Names of Student Attendees  (all group should attend to get feedback): </a:t>
            </a:r>
          </a:p>
        </p:txBody>
      </p:sp>
    </p:spTree>
    <p:extLst>
      <p:ext uri="{BB962C8B-B14F-4D97-AF65-F5344CB8AC3E}">
        <p14:creationId xmlns:p14="http://schemas.microsoft.com/office/powerpoint/2010/main" val="41485325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965289" y="1147638"/>
            <a:ext cx="9753625" cy="230832"/>
          </a:xfrm>
        </p:spPr>
        <p:txBody>
          <a:bodyPr vert="horz" lIns="0" tIns="0" rIns="0" bIns="0" rtlCol="0" anchor="t">
            <a:noAutofit/>
          </a:bodyPr>
          <a:lstStyle/>
          <a:p>
            <a:pPr>
              <a:spcAft>
                <a:spcPts val="0"/>
              </a:spcAft>
            </a:pPr>
            <a:r>
              <a:rPr lang="en-GB">
                <a:solidFill>
                  <a:srgbClr val="203232"/>
                </a:solidFill>
                <a:cs typeface="Arial"/>
              </a:rPr>
              <a:t>Here is a sample of our dataset: </a:t>
            </a:r>
            <a:endParaRPr lang="en-GB" sz="1800">
              <a:solidFill>
                <a:srgbClr val="FF0000"/>
              </a:solidFill>
              <a:cs typeface="Arial"/>
            </a:endParaRP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p:txBody>
          <a:bodyPr/>
          <a:lstStyle/>
          <a:p>
            <a:r>
              <a:rPr lang="en-GB"/>
              <a:t>PRE 7COM1079-2025  Student Group No:  ?????</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a:xfrm>
            <a:off x="10616400" y="791022"/>
            <a:ext cx="622800" cy="230832"/>
          </a:xfrm>
        </p:spPr>
        <p:txBody>
          <a:bodyPr/>
          <a:lstStyle/>
          <a:p>
            <a:r>
              <a:rPr lang="en-US"/>
              <a:t>3</a:t>
            </a:r>
            <a:endParaRPr lang="en-GB"/>
          </a:p>
        </p:txBody>
      </p:sp>
      <p:sp>
        <p:nvSpPr>
          <p:cNvPr id="8" name="Title 7">
            <a:extLst>
              <a:ext uri="{FF2B5EF4-FFF2-40B4-BE49-F238E27FC236}">
                <a16:creationId xmlns:a16="http://schemas.microsoft.com/office/drawing/2014/main" id="{6E140EA5-BB03-811F-4631-603A97631914}"/>
              </a:ext>
            </a:extLst>
          </p:cNvPr>
          <p:cNvSpPr>
            <a:spLocks noGrp="1"/>
          </p:cNvSpPr>
          <p:nvPr>
            <p:ph type="ctrTitle"/>
          </p:nvPr>
        </p:nvSpPr>
        <p:spPr>
          <a:xfrm>
            <a:off x="965289" y="1649904"/>
            <a:ext cx="9869884" cy="3679180"/>
          </a:xfrm>
        </p:spPr>
        <p:txBody>
          <a:bodyPr>
            <a:normAutofit fontScale="90000"/>
          </a:bodyPr>
          <a:lstStyle/>
          <a:p>
            <a:pPr>
              <a:lnSpc>
                <a:spcPts val="2880"/>
              </a:lnSpc>
              <a:spcBef>
                <a:spcPts val="0"/>
              </a:spcBef>
              <a:spcAft>
                <a:spcPts val="992"/>
              </a:spcAft>
            </a:pPr>
            <a:r>
              <a:rPr lang="en-GB" sz="3600" b="0" dirty="0">
                <a:solidFill>
                  <a:srgbClr val="FF0000"/>
                </a:solidFill>
                <a:cs typeface="Arial"/>
              </a:rPr>
              <a:t>The dataset contains 36041 daily records of commodity prices and trading volume, a fairly large time series suitable for trend analysis and forecasting.</a:t>
            </a:r>
            <a:br>
              <a:rPr lang="en-GB" sz="3600" b="0" dirty="0">
                <a:solidFill>
                  <a:srgbClr val="FF0000"/>
                </a:solidFill>
                <a:cs typeface="Arial"/>
              </a:rPr>
            </a:br>
            <a:r>
              <a:rPr lang="en-GB" sz="3600" b="0" dirty="0">
                <a:solidFill>
                  <a:srgbClr val="FF0000"/>
                </a:solidFill>
                <a:cs typeface="Arial"/>
              </a:rPr>
              <a:t>Independent variables : ticker, commodity, date</a:t>
            </a:r>
            <a:br>
              <a:rPr lang="en-GB" sz="3600" b="0" dirty="0">
                <a:solidFill>
                  <a:srgbClr val="FF0000"/>
                </a:solidFill>
                <a:cs typeface="Arial"/>
              </a:rPr>
            </a:br>
            <a:r>
              <a:rPr lang="en-GB" sz="3600" b="0" dirty="0">
                <a:solidFill>
                  <a:srgbClr val="FF0000"/>
                </a:solidFill>
                <a:cs typeface="Arial"/>
              </a:rPr>
              <a:t>Dependent variables : open, high, low, close, volume</a:t>
            </a:r>
            <a:endParaRPr lang="en-US" sz="3600" b="0" dirty="0">
              <a:solidFill>
                <a:srgbClr val="FF0000"/>
              </a:solidFill>
              <a:cs typeface="Arial"/>
            </a:endParaRPr>
          </a:p>
          <a:p>
            <a:pPr marL="742950" indent="-742950">
              <a:lnSpc>
                <a:spcPts val="2880"/>
              </a:lnSpc>
              <a:spcBef>
                <a:spcPts val="0"/>
              </a:spcBef>
              <a:spcAft>
                <a:spcPts val="992"/>
              </a:spcAft>
              <a:buAutoNum type="arabicPeriod"/>
            </a:pPr>
            <a:r>
              <a:rPr lang="en-GB" sz="3600" b="0" dirty="0">
                <a:solidFill>
                  <a:srgbClr val="FF0000"/>
                </a:solidFill>
                <a:cs typeface="Arial"/>
              </a:rPr>
              <a:t>Close, commodity</a:t>
            </a:r>
            <a:endParaRPr lang="en-US" sz="3600" b="0" dirty="0">
              <a:solidFill>
                <a:srgbClr val="FF0000"/>
              </a:solidFill>
              <a:cs typeface="Arial"/>
            </a:endParaRPr>
          </a:p>
          <a:p>
            <a:pPr marL="742950" indent="-742950">
              <a:lnSpc>
                <a:spcPts val="2880"/>
              </a:lnSpc>
              <a:spcBef>
                <a:spcPts val="0"/>
              </a:spcBef>
              <a:spcAft>
                <a:spcPts val="992"/>
              </a:spcAft>
              <a:buAutoNum type="arabicPeriod"/>
            </a:pPr>
            <a:br>
              <a:rPr lang="en-US" sz="3600" b="0" dirty="0">
                <a:solidFill>
                  <a:srgbClr val="FF0000"/>
                </a:solidFill>
                <a:cs typeface="Arial"/>
              </a:rPr>
            </a:br>
            <a:br>
              <a:rPr lang="en-US" sz="3600" b="0" dirty="0">
                <a:solidFill>
                  <a:srgbClr val="FF0000"/>
                </a:solidFill>
                <a:cs typeface="Arial"/>
              </a:rPr>
            </a:br>
            <a:endParaRPr lang="en-US" sz="3600" b="0" dirty="0">
              <a:solidFill>
                <a:srgbClr val="FF0000"/>
              </a:solidFill>
              <a:cs typeface="Arial"/>
            </a:endParaRPr>
          </a:p>
          <a:p>
            <a:pPr marL="742950" indent="-742950">
              <a:lnSpc>
                <a:spcPts val="2880"/>
              </a:lnSpc>
              <a:spcBef>
                <a:spcPts val="0"/>
              </a:spcBef>
              <a:spcAft>
                <a:spcPts val="992"/>
              </a:spcAft>
              <a:buAutoNum type="arabicPeriod"/>
            </a:pPr>
            <a:r>
              <a:rPr lang="en-GB" sz="3600" dirty="0">
                <a:solidFill>
                  <a:srgbClr val="FF0000"/>
                </a:solidFill>
                <a:cs typeface="Arial"/>
              </a:rPr>
              <a:t>Number of rows = 36041</a:t>
            </a:r>
            <a:br>
              <a:rPr lang="en-GB" sz="3600" dirty="0">
                <a:solidFill>
                  <a:srgbClr val="FF0000"/>
                </a:solidFill>
                <a:cs typeface="Arial"/>
              </a:rPr>
            </a:br>
            <a:endParaRPr lang="en-GB" sz="3600" dirty="0">
              <a:solidFill>
                <a:srgbClr val="FF0000"/>
              </a:solidFill>
              <a:cs typeface="Arial"/>
            </a:endParaRPr>
          </a:p>
          <a:p>
            <a:endParaRPr lang="en-US" dirty="0">
              <a:solidFill>
                <a:srgbClr val="FF0000"/>
              </a:solidFill>
              <a:cs typeface="Arial"/>
            </a:endParaRPr>
          </a:p>
        </p:txBody>
      </p:sp>
      <p:pic>
        <p:nvPicPr>
          <p:cNvPr id="6" name="Picture 5">
            <a:extLst>
              <a:ext uri="{FF2B5EF4-FFF2-40B4-BE49-F238E27FC236}">
                <a16:creationId xmlns:a16="http://schemas.microsoft.com/office/drawing/2014/main" id="{724EDFA2-E981-AD7A-1A6B-8395D9DA559F}"/>
              </a:ext>
            </a:extLst>
          </p:cNvPr>
          <p:cNvPicPr>
            <a:picLocks noChangeAspect="1"/>
          </p:cNvPicPr>
          <p:nvPr/>
        </p:nvPicPr>
        <p:blipFill>
          <a:blip r:embed="rId3"/>
          <a:stretch>
            <a:fillRect/>
          </a:stretch>
        </p:blipFill>
        <p:spPr>
          <a:xfrm>
            <a:off x="2881252" y="4041595"/>
            <a:ext cx="5896988" cy="1166501"/>
          </a:xfrm>
          <a:prstGeom prst="rect">
            <a:avLst/>
          </a:prstGeom>
        </p:spPr>
      </p:pic>
    </p:spTree>
    <p:extLst>
      <p:ext uri="{BB962C8B-B14F-4D97-AF65-F5344CB8AC3E}">
        <p14:creationId xmlns:p14="http://schemas.microsoft.com/office/powerpoint/2010/main" val="7130926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D9D8228-727F-1E46-B5AD-91D158B8255E}"/>
              </a:ext>
            </a:extLst>
          </p:cNvPr>
          <p:cNvSpPr>
            <a:spLocks noGrp="1"/>
          </p:cNvSpPr>
          <p:nvPr>
            <p:ph type="subTitle" idx="1"/>
          </p:nvPr>
        </p:nvSpPr>
        <p:spPr>
          <a:xfrm>
            <a:off x="965288" y="1285092"/>
            <a:ext cx="10110240" cy="588024"/>
          </a:xfrm>
        </p:spPr>
        <p:txBody>
          <a:bodyPr vert="horz" lIns="0" tIns="0" rIns="0" bIns="0" rtlCol="0" anchor="t">
            <a:noAutofit/>
          </a:bodyPr>
          <a:lstStyle/>
          <a:p>
            <a:r>
              <a:rPr lang="en-US" dirty="0"/>
              <a:t>Dataset </a:t>
            </a:r>
            <a:r>
              <a:rPr lang="en-US" dirty="0">
                <a:solidFill>
                  <a:srgbClr val="203232"/>
                </a:solidFill>
              </a:rPr>
              <a:t>ID</a:t>
            </a:r>
            <a:r>
              <a:rPr lang="en-US" sz="3200" dirty="0">
                <a:solidFill>
                  <a:srgbClr val="FF0000"/>
                </a:solidFill>
              </a:rPr>
              <a:t>:DS118 - all_grains_data.csv</a:t>
            </a:r>
          </a:p>
        </p:txBody>
      </p:sp>
      <p:sp>
        <p:nvSpPr>
          <p:cNvPr id="3" name="Footer Placeholder 2">
            <a:extLst>
              <a:ext uri="{FF2B5EF4-FFF2-40B4-BE49-F238E27FC236}">
                <a16:creationId xmlns:a16="http://schemas.microsoft.com/office/drawing/2014/main" id="{00EBC183-8AA5-EC44-9987-D65F5C1892A1}"/>
              </a:ext>
            </a:extLst>
          </p:cNvPr>
          <p:cNvSpPr>
            <a:spLocks noGrp="1"/>
          </p:cNvSpPr>
          <p:nvPr>
            <p:ph type="ftr" sz="quarter" idx="11"/>
          </p:nvPr>
        </p:nvSpPr>
        <p:spPr>
          <a:xfrm>
            <a:off x="965288" y="791022"/>
            <a:ext cx="9129687" cy="230832"/>
          </a:xfrm>
        </p:spPr>
        <p:txBody>
          <a:bodyPr/>
          <a:lstStyle/>
          <a:p>
            <a:r>
              <a:rPr lang="en-GB"/>
              <a:t>7COM1079-2025  Student Group No:                    Names of Student Group Attendees: </a:t>
            </a:r>
          </a:p>
        </p:txBody>
      </p:sp>
      <p:sp>
        <p:nvSpPr>
          <p:cNvPr id="4" name="Slide Number Placeholder 3">
            <a:extLst>
              <a:ext uri="{FF2B5EF4-FFF2-40B4-BE49-F238E27FC236}">
                <a16:creationId xmlns:a16="http://schemas.microsoft.com/office/drawing/2014/main" id="{CC9D9611-42EE-7840-81EE-DD6B1A99CD7B}"/>
              </a:ext>
            </a:extLst>
          </p:cNvPr>
          <p:cNvSpPr>
            <a:spLocks noGrp="1"/>
          </p:cNvSpPr>
          <p:nvPr>
            <p:ph type="sldNum" sz="quarter" idx="12"/>
          </p:nvPr>
        </p:nvSpPr>
        <p:spPr>
          <a:xfrm>
            <a:off x="10954512" y="555565"/>
            <a:ext cx="622800" cy="230832"/>
          </a:xfrm>
        </p:spPr>
        <p:txBody>
          <a:bodyPr/>
          <a:lstStyle/>
          <a:p>
            <a:r>
              <a:rPr lang="en-US"/>
              <a:t>2</a:t>
            </a:r>
            <a:endParaRPr lang="en-GB"/>
          </a:p>
        </p:txBody>
      </p:sp>
      <p:sp>
        <p:nvSpPr>
          <p:cNvPr id="5" name="Title 4">
            <a:extLst>
              <a:ext uri="{FF2B5EF4-FFF2-40B4-BE49-F238E27FC236}">
                <a16:creationId xmlns:a16="http://schemas.microsoft.com/office/drawing/2014/main" id="{B3FA3829-F12C-214D-8FBA-7E1A740F65CA}"/>
              </a:ext>
            </a:extLst>
          </p:cNvPr>
          <p:cNvSpPr>
            <a:spLocks noGrp="1"/>
          </p:cNvSpPr>
          <p:nvPr>
            <p:ph type="ctrTitle"/>
          </p:nvPr>
        </p:nvSpPr>
        <p:spPr>
          <a:xfrm>
            <a:off x="965288" y="1698305"/>
            <a:ext cx="10974945" cy="2699181"/>
          </a:xfrm>
        </p:spPr>
        <p:txBody>
          <a:bodyPr>
            <a:noAutofit/>
          </a:bodyPr>
          <a:lstStyle/>
          <a:p>
            <a:pPr>
              <a:lnSpc>
                <a:spcPct val="100000"/>
              </a:lnSpc>
            </a:pPr>
            <a:r>
              <a:rPr lang="en-US" sz="2400" b="0" dirty="0">
                <a:latin typeface="Calibri"/>
                <a:cs typeface="Calibri"/>
              </a:rPr>
              <a:t>This dataset is interesting to us because </a:t>
            </a:r>
            <a:r>
              <a:rPr lang="en-US" sz="2400" b="0" dirty="0">
                <a:solidFill>
                  <a:srgbClr val="FF0000"/>
                </a:solidFill>
                <a:latin typeface="Calibri"/>
                <a:cs typeface="Calibri"/>
              </a:rPr>
              <a:t>(one sentence):</a:t>
            </a:r>
            <a:br>
              <a:rPr lang="en-US" sz="2400" b="0" dirty="0">
                <a:solidFill>
                  <a:srgbClr val="FF0000"/>
                </a:solidFill>
                <a:latin typeface="Calibri"/>
                <a:cs typeface="Calibri"/>
              </a:rPr>
            </a:br>
            <a:r>
              <a:rPr lang="en-US" sz="2400" b="0" spc="-150" dirty="0">
                <a:solidFill>
                  <a:srgbClr val="FF0000"/>
                </a:solidFill>
                <a:latin typeface="Calibri"/>
                <a:cs typeface="Calibri"/>
              </a:rPr>
              <a:t>It captures the daily historical trading data for commodities (like Corn, Oat, Wheat, Rough rice, Soybean oil, Soybean) allowing analysis of market trends, price volatility, and trading volume over time.</a:t>
            </a:r>
            <a:br>
              <a:rPr lang="en-US" sz="2400" b="0" spc="-150" dirty="0">
                <a:latin typeface="Calibri" panose="020F0502020204030204" pitchFamily="34" charset="0"/>
                <a:cs typeface="Calibri" panose="020F0502020204030204" pitchFamily="34" charset="0"/>
              </a:rPr>
            </a:br>
            <a:br>
              <a:rPr lang="en-US" sz="2400" b="0" dirty="0">
                <a:latin typeface="Calibri" panose="020F0502020204030204" pitchFamily="34" charset="0"/>
                <a:cs typeface="Calibri" panose="020F0502020204030204" pitchFamily="34" charset="0"/>
              </a:rPr>
            </a:br>
            <a:r>
              <a:rPr lang="en-US" sz="2400" b="0" dirty="0">
                <a:latin typeface="Calibri"/>
                <a:cs typeface="Calibri"/>
              </a:rPr>
              <a:t>Our  Independent variable is: </a:t>
            </a:r>
            <a:r>
              <a:rPr lang="en-US" sz="2400" b="0" dirty="0">
                <a:solidFill>
                  <a:srgbClr val="FF0000"/>
                </a:solidFill>
                <a:latin typeface="Calibri"/>
                <a:cs typeface="Calibri"/>
              </a:rPr>
              <a:t>(</a:t>
            </a:r>
            <a:r>
              <a:rPr lang="en-US" sz="2400" b="0" spc="-150" dirty="0">
                <a:solidFill>
                  <a:srgbClr val="FF0000"/>
                </a:solidFill>
                <a:latin typeface="Calibri"/>
                <a:cs typeface="Calibri"/>
              </a:rPr>
              <a:t>commodity</a:t>
            </a:r>
            <a:r>
              <a:rPr lang="en-US" sz="2400" b="0" dirty="0">
                <a:solidFill>
                  <a:srgbClr val="FF0000"/>
                </a:solidFill>
                <a:latin typeface="Calibri"/>
                <a:cs typeface="Calibri"/>
              </a:rPr>
              <a:t>)</a:t>
            </a:r>
            <a:br>
              <a:rPr lang="en-US" sz="2400" b="0" dirty="0">
                <a:latin typeface="Calibri" panose="020F0502020204030204" pitchFamily="34" charset="0"/>
                <a:cs typeface="Calibri" panose="020F0502020204030204" pitchFamily="34" charset="0"/>
              </a:rPr>
            </a:br>
            <a:r>
              <a:rPr lang="en-US" sz="2400" b="0" dirty="0">
                <a:solidFill>
                  <a:srgbClr val="FF0000"/>
                </a:solidFill>
                <a:latin typeface="Calibri"/>
                <a:cs typeface="Calibri"/>
              </a:rPr>
              <a:t>                   </a:t>
            </a:r>
            <a:r>
              <a:rPr lang="en-US" sz="2400" b="0" dirty="0">
                <a:latin typeface="Calibri"/>
                <a:cs typeface="Calibri"/>
              </a:rPr>
              <a:t>This  Independent variable datatype is (select one): </a:t>
            </a:r>
            <a:r>
              <a:rPr lang="en-US" sz="2400" b="0" spc="-150" dirty="0">
                <a:solidFill>
                  <a:srgbClr val="FF0000"/>
                </a:solidFill>
                <a:latin typeface="Calibri"/>
                <a:cs typeface="Calibri"/>
              </a:rPr>
              <a:t>Nominal/categorial</a:t>
            </a:r>
            <a:r>
              <a:rPr lang="en-US" sz="2400" b="0" dirty="0">
                <a:solidFill>
                  <a:srgbClr val="FF0000"/>
                </a:solidFill>
                <a:latin typeface="Calibri"/>
                <a:cs typeface="Calibri"/>
              </a:rPr>
              <a:t> .</a:t>
            </a:r>
            <a:br>
              <a:rPr lang="en-US" sz="2400" b="0" dirty="0">
                <a:latin typeface="Calibri" panose="020F0502020204030204" pitchFamily="34" charset="0"/>
                <a:cs typeface="Calibri" panose="020F0502020204030204" pitchFamily="34" charset="0"/>
              </a:rPr>
            </a:br>
            <a:r>
              <a:rPr lang="en-US" sz="2400" b="0" dirty="0">
                <a:latin typeface="Calibri"/>
                <a:cs typeface="Calibri"/>
              </a:rPr>
              <a:t>Our Dependent variable is: </a:t>
            </a:r>
            <a:r>
              <a:rPr lang="en-US" sz="2400" b="0" dirty="0">
                <a:solidFill>
                  <a:srgbClr val="FF0000"/>
                </a:solidFill>
                <a:latin typeface="Calibri"/>
                <a:cs typeface="Calibri"/>
              </a:rPr>
              <a:t>(</a:t>
            </a:r>
            <a:r>
              <a:rPr lang="en-US" sz="2400" b="0" spc="-150" dirty="0">
                <a:solidFill>
                  <a:srgbClr val="FF0000"/>
                </a:solidFill>
                <a:latin typeface="Calibri"/>
                <a:cs typeface="Calibri"/>
              </a:rPr>
              <a:t>close</a:t>
            </a:r>
            <a:r>
              <a:rPr lang="en-US" sz="2400" b="0" dirty="0">
                <a:solidFill>
                  <a:srgbClr val="FF0000"/>
                </a:solidFill>
                <a:latin typeface="Calibri"/>
                <a:cs typeface="Calibri"/>
              </a:rPr>
              <a:t>)</a:t>
            </a:r>
            <a:br>
              <a:rPr lang="en-US" sz="2400" b="0" dirty="0">
                <a:latin typeface="Calibri" panose="020F0502020204030204" pitchFamily="34" charset="0"/>
                <a:cs typeface="Calibri" panose="020F0502020204030204" pitchFamily="34" charset="0"/>
              </a:rPr>
            </a:br>
            <a:r>
              <a:rPr lang="en-US" sz="2400" b="0" dirty="0">
                <a:solidFill>
                  <a:srgbClr val="FF0000"/>
                </a:solidFill>
                <a:latin typeface="Calibri"/>
                <a:cs typeface="Calibri"/>
              </a:rPr>
              <a:t>                   </a:t>
            </a:r>
            <a:r>
              <a:rPr lang="en-US" sz="2400" b="0" dirty="0">
                <a:latin typeface="Calibri"/>
                <a:cs typeface="Calibri"/>
              </a:rPr>
              <a:t>This Dependent variable datatype is  (select one): </a:t>
            </a:r>
            <a:r>
              <a:rPr lang="en-US" sz="2400" b="0" spc="-150" dirty="0">
                <a:solidFill>
                  <a:srgbClr val="FF0000"/>
                </a:solidFill>
                <a:latin typeface="Calibri"/>
                <a:cs typeface="Calibri"/>
              </a:rPr>
              <a:t>Interval/measurement data (ratio)</a:t>
            </a:r>
            <a:br>
              <a:rPr lang="en-US" sz="2400" b="0" dirty="0">
                <a:latin typeface="Calibri"/>
                <a:cs typeface="Calibri"/>
              </a:rPr>
            </a:br>
            <a:endParaRPr lang="en-US" sz="2400" b="0" dirty="0">
              <a:solidFill>
                <a:srgbClr val="FF0000"/>
              </a:solidFill>
              <a:latin typeface="Calibri"/>
              <a:cs typeface="Calibri"/>
            </a:endParaRPr>
          </a:p>
        </p:txBody>
      </p:sp>
      <p:sp>
        <p:nvSpPr>
          <p:cNvPr id="6" name="TextBox 5">
            <a:extLst>
              <a:ext uri="{FF2B5EF4-FFF2-40B4-BE49-F238E27FC236}">
                <a16:creationId xmlns:a16="http://schemas.microsoft.com/office/drawing/2014/main" id="{732D6C0D-D649-2AA9-7741-835F3E841A25}"/>
              </a:ext>
            </a:extLst>
          </p:cNvPr>
          <p:cNvSpPr txBox="1"/>
          <p:nvPr/>
        </p:nvSpPr>
        <p:spPr>
          <a:xfrm>
            <a:off x="6766560" y="5385816"/>
            <a:ext cx="4187952" cy="1200329"/>
          </a:xfrm>
          <a:prstGeom prst="rect">
            <a:avLst/>
          </a:prstGeom>
          <a:noFill/>
        </p:spPr>
        <p:txBody>
          <a:bodyPr wrap="square" rtlCol="0">
            <a:spAutoFit/>
          </a:bodyPr>
          <a:lstStyle/>
          <a:p>
            <a:r>
              <a:rPr lang="en-GB">
                <a:solidFill>
                  <a:schemeClr val="accent2">
                    <a:lumMod val="75000"/>
                  </a:schemeClr>
                </a:solidFill>
              </a:rPr>
              <a:t>*For comparison of two nominal variables and for comparison of proportions you use two (or more) independent variables (see next slide)</a:t>
            </a:r>
          </a:p>
        </p:txBody>
      </p:sp>
    </p:spTree>
    <p:extLst>
      <p:ext uri="{BB962C8B-B14F-4D97-AF65-F5344CB8AC3E}">
        <p14:creationId xmlns:p14="http://schemas.microsoft.com/office/powerpoint/2010/main" val="17180049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965289" y="1147638"/>
            <a:ext cx="9753625" cy="230832"/>
          </a:xfrm>
        </p:spPr>
        <p:txBody>
          <a:bodyPr/>
          <a:lstStyle/>
          <a:p>
            <a:pPr>
              <a:spcAft>
                <a:spcPts val="0"/>
              </a:spcAft>
            </a:pPr>
            <a:r>
              <a:rPr lang="en-GB"/>
              <a:t>Our Research Question is </a:t>
            </a:r>
            <a:r>
              <a:rPr lang="en-GB" sz="1800">
                <a:solidFill>
                  <a:srgbClr val="FF0000"/>
                </a:solidFill>
              </a:rPr>
              <a:t>Choose ONE of the three templates below replacing the blue text with your variables – then add hypotheses as shown in next slide:</a:t>
            </a: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p:txBody>
          <a:bodyPr/>
          <a:lstStyle/>
          <a:p>
            <a:r>
              <a:rPr lang="en-GB"/>
              <a:t>PRE 7COM1079-2025  Student Group No:  ?????</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a:xfrm>
            <a:off x="10616400" y="791022"/>
            <a:ext cx="622800" cy="230832"/>
          </a:xfrm>
        </p:spPr>
        <p:txBody>
          <a:bodyPr/>
          <a:lstStyle/>
          <a:p>
            <a:r>
              <a:rPr lang="en-US"/>
              <a:t>3</a:t>
            </a:r>
            <a:endParaRPr lang="en-GB"/>
          </a:p>
        </p:txBody>
      </p:sp>
      <p:sp>
        <p:nvSpPr>
          <p:cNvPr id="5" name="Title 4">
            <a:extLst>
              <a:ext uri="{FF2B5EF4-FFF2-40B4-BE49-F238E27FC236}">
                <a16:creationId xmlns:a16="http://schemas.microsoft.com/office/drawing/2014/main" id="{3440DA25-F620-152B-DE9E-776F7B74DFF0}"/>
              </a:ext>
            </a:extLst>
          </p:cNvPr>
          <p:cNvSpPr>
            <a:spLocks noGrp="1"/>
          </p:cNvSpPr>
          <p:nvPr>
            <p:ph type="ctrTitle"/>
          </p:nvPr>
        </p:nvSpPr>
        <p:spPr>
          <a:xfrm>
            <a:off x="965289" y="1893914"/>
            <a:ext cx="10640594" cy="2678085"/>
          </a:xfrm>
        </p:spPr>
        <p:txBody>
          <a:bodyPr>
            <a:noAutofit/>
          </a:bodyPr>
          <a:lstStyle/>
          <a:p>
            <a:pPr>
              <a:lnSpc>
                <a:spcPct val="100000"/>
              </a:lnSpc>
            </a:pPr>
            <a:r>
              <a:rPr lang="en-IE" sz="2400">
                <a:effectLst/>
                <a:latin typeface="Calibri"/>
                <a:ea typeface="Calibri" panose="020F0502020204030204" pitchFamily="34" charset="0"/>
                <a:cs typeface="Times New Roman"/>
              </a:rPr>
              <a:t>Template </a:t>
            </a:r>
            <a:r>
              <a:rPr lang="en-IE" sz="2400" baseline="30000">
                <a:effectLst/>
                <a:latin typeface="Calibri"/>
                <a:ea typeface="Calibri" panose="020F0502020204030204" pitchFamily="34" charset="0"/>
                <a:cs typeface="Times New Roman"/>
              </a:rPr>
              <a:t>1</a:t>
            </a:r>
            <a:r>
              <a:rPr lang="en-IE" sz="2400">
                <a:effectLst/>
                <a:latin typeface="Calibri"/>
                <a:ea typeface="Calibri" panose="020F0502020204030204" pitchFamily="34" charset="0"/>
                <a:cs typeface="Times New Roman"/>
              </a:rPr>
              <a:t>: </a:t>
            </a:r>
            <a:r>
              <a:rPr lang="en-IE" sz="2400" b="0">
                <a:effectLst/>
                <a:latin typeface="Calibri"/>
                <a:ea typeface="Calibri" panose="020F0502020204030204" pitchFamily="34" charset="0"/>
                <a:cs typeface="Times New Roman"/>
              </a:rPr>
              <a:t>Interval/Ordinal vs Interval/Ordinal: “Is there a correlation between </a:t>
            </a:r>
            <a:r>
              <a:rPr lang="en-IE" sz="2400" b="0">
                <a:solidFill>
                  <a:srgbClr val="0070C0"/>
                </a:solidFill>
                <a:effectLst/>
                <a:latin typeface="Calibri"/>
                <a:ea typeface="Calibri" panose="020F0502020204030204" pitchFamily="34" charset="0"/>
                <a:cs typeface="Times New Roman"/>
              </a:rPr>
              <a:t>[dependent interval </a:t>
            </a:r>
            <a:r>
              <a:rPr lang="en-IE" sz="2400" b="0">
                <a:effectLst/>
                <a:latin typeface="Calibri"/>
                <a:ea typeface="Calibri" panose="020F0502020204030204" pitchFamily="34" charset="0"/>
                <a:cs typeface="Times New Roman"/>
              </a:rPr>
              <a:t>or</a:t>
            </a:r>
            <a:r>
              <a:rPr lang="en-IE" sz="2400" b="0">
                <a:solidFill>
                  <a:srgbClr val="0070C0"/>
                </a:solidFill>
                <a:effectLst/>
                <a:latin typeface="Calibri"/>
                <a:ea typeface="Calibri" panose="020F0502020204030204" pitchFamily="34" charset="0"/>
                <a:cs typeface="Times New Roman"/>
              </a:rPr>
              <a:t> ordinal variable] </a:t>
            </a:r>
            <a:r>
              <a:rPr lang="en-IE" sz="2400" b="0">
                <a:effectLst/>
                <a:latin typeface="Calibri"/>
                <a:ea typeface="Calibri" panose="020F0502020204030204" pitchFamily="34" charset="0"/>
                <a:cs typeface="Times New Roman"/>
              </a:rPr>
              <a:t>and </a:t>
            </a:r>
            <a:r>
              <a:rPr lang="en-IE" sz="2400" b="0">
                <a:solidFill>
                  <a:srgbClr val="0070C0"/>
                </a:solidFill>
                <a:effectLst/>
                <a:latin typeface="Calibri"/>
                <a:ea typeface="Calibri" panose="020F0502020204030204" pitchFamily="34" charset="0"/>
                <a:cs typeface="Times New Roman"/>
              </a:rPr>
              <a:t>[independent interval </a:t>
            </a:r>
            <a:r>
              <a:rPr lang="en-IE" sz="2400" b="0">
                <a:effectLst/>
                <a:latin typeface="Calibri"/>
                <a:ea typeface="Calibri" panose="020F0502020204030204" pitchFamily="34" charset="0"/>
                <a:cs typeface="Times New Roman"/>
              </a:rPr>
              <a:t>or</a:t>
            </a:r>
            <a:r>
              <a:rPr lang="en-IE" sz="2400" b="0">
                <a:solidFill>
                  <a:srgbClr val="0070C0"/>
                </a:solidFill>
                <a:effectLst/>
                <a:latin typeface="Calibri"/>
                <a:ea typeface="Calibri" panose="020F0502020204030204" pitchFamily="34" charset="0"/>
                <a:cs typeface="Times New Roman"/>
              </a:rPr>
              <a:t> ordinal variable?]”</a:t>
            </a:r>
            <a:r>
              <a:rPr lang="en-IE" sz="2400" b="0">
                <a:effectLst/>
                <a:latin typeface="Calibri"/>
                <a:ea typeface="Calibri" panose="020F0502020204030204" pitchFamily="34" charset="0"/>
                <a:cs typeface="Times New Roman"/>
              </a:rPr>
              <a:t>. </a:t>
            </a:r>
            <a:br>
              <a:rPr lang="en-IE" sz="2400">
                <a:effectLst/>
                <a:latin typeface="Calibri" panose="020F0502020204030204" pitchFamily="34" charset="0"/>
                <a:ea typeface="Calibri" panose="020F0502020204030204" pitchFamily="34" charset="0"/>
                <a:cs typeface="Times New Roman" panose="02020603050405020304" pitchFamily="18" charset="0"/>
              </a:rPr>
            </a:br>
            <a:br>
              <a:rPr lang="en-IE" sz="2400">
                <a:effectLst/>
                <a:latin typeface="Calibri" panose="020F0502020204030204" pitchFamily="34" charset="0"/>
                <a:ea typeface="Calibri" panose="020F0502020204030204" pitchFamily="34" charset="0"/>
                <a:cs typeface="Times New Roman" panose="02020603050405020304" pitchFamily="18" charset="0"/>
              </a:rPr>
            </a:br>
            <a:r>
              <a:rPr lang="en-IE" sz="2400">
                <a:effectLst/>
                <a:latin typeface="Calibri"/>
                <a:ea typeface="Calibri" panose="020F0502020204030204" pitchFamily="34" charset="0"/>
                <a:cs typeface="Times New Roman"/>
              </a:rPr>
              <a:t>Template</a:t>
            </a:r>
            <a:r>
              <a:rPr lang="en-IE" sz="2400" baseline="30000">
                <a:effectLst/>
                <a:latin typeface="Calibri"/>
                <a:ea typeface="Calibri" panose="020F0502020204030204" pitchFamily="34" charset="0"/>
                <a:cs typeface="Times New Roman"/>
              </a:rPr>
              <a:t>2</a:t>
            </a:r>
            <a:r>
              <a:rPr lang="en-IE" sz="2400">
                <a:effectLst/>
                <a:latin typeface="Calibri"/>
                <a:ea typeface="Calibri" panose="020F0502020204030204" pitchFamily="34" charset="0"/>
                <a:cs typeface="Times New Roman"/>
              </a:rPr>
              <a:t> :</a:t>
            </a:r>
            <a:r>
              <a:rPr lang="en-IE" sz="2400" b="0">
                <a:effectLst/>
                <a:latin typeface="Calibri"/>
                <a:ea typeface="Calibri" panose="020F0502020204030204" pitchFamily="34" charset="0"/>
                <a:cs typeface="Times New Roman"/>
              </a:rPr>
              <a:t>Interval/Ordinal vs Nominal. data “Is there a difference in the mean of </a:t>
            </a:r>
            <a:r>
              <a:rPr lang="en-IE" sz="2400" b="0">
                <a:solidFill>
                  <a:srgbClr val="0070C0"/>
                </a:solidFill>
                <a:effectLst/>
                <a:latin typeface="Calibri"/>
                <a:ea typeface="Calibri" panose="020F0502020204030204" pitchFamily="34" charset="0"/>
                <a:cs typeface="Times New Roman"/>
              </a:rPr>
              <a:t>[dependent interval variable </a:t>
            </a:r>
            <a:r>
              <a:rPr lang="en-IE" sz="2400" b="0">
                <a:solidFill>
                  <a:srgbClr val="0070C0"/>
                </a:solidFill>
                <a:latin typeface="Calibri"/>
                <a:ea typeface="Calibri" panose="020F0502020204030204" pitchFamily="34" charset="0"/>
                <a:cs typeface="Times New Roman"/>
              </a:rPr>
              <a:t> </a:t>
            </a:r>
            <a:r>
              <a:rPr lang="en-IE" sz="2400" b="0">
                <a:latin typeface="Calibri"/>
                <a:ea typeface="Calibri" panose="020F0502020204030204" pitchFamily="34" charset="0"/>
                <a:cs typeface="Times New Roman"/>
              </a:rPr>
              <a:t>or</a:t>
            </a:r>
            <a:r>
              <a:rPr lang="en-IE" sz="2400" b="0">
                <a:effectLst/>
                <a:latin typeface="Calibri"/>
                <a:ea typeface="Calibri" panose="020F0502020204030204" pitchFamily="34" charset="0"/>
                <a:cs typeface="Times New Roman"/>
              </a:rPr>
              <a:t> </a:t>
            </a:r>
            <a:r>
              <a:rPr lang="en-IE" sz="2400" b="0">
                <a:solidFill>
                  <a:srgbClr val="0070C0"/>
                </a:solidFill>
                <a:effectLst/>
                <a:latin typeface="Calibri"/>
                <a:ea typeface="Calibri" panose="020F0502020204030204" pitchFamily="34" charset="0"/>
                <a:cs typeface="Times New Roman"/>
              </a:rPr>
              <a:t> dependent ordinal variable] </a:t>
            </a:r>
            <a:r>
              <a:rPr lang="en-IE" sz="2400" b="0">
                <a:effectLst/>
                <a:latin typeface="Calibri"/>
                <a:ea typeface="Calibri" panose="020F0502020204030204" pitchFamily="34" charset="0"/>
                <a:cs typeface="Times New Roman"/>
              </a:rPr>
              <a:t>between</a:t>
            </a:r>
            <a:r>
              <a:rPr lang="en-IE" sz="2400" b="0">
                <a:latin typeface="Calibri"/>
                <a:ea typeface="Calibri" panose="020F0502020204030204" pitchFamily="34" charset="0"/>
                <a:cs typeface="Times New Roman"/>
              </a:rPr>
              <a:t>/among</a:t>
            </a:r>
            <a:r>
              <a:rPr lang="en-IE" sz="2400" b="0">
                <a:effectLst/>
                <a:latin typeface="Calibri"/>
                <a:ea typeface="Calibri" panose="020F0502020204030204" pitchFamily="34" charset="0"/>
                <a:cs typeface="Times New Roman"/>
              </a:rPr>
              <a:t> </a:t>
            </a:r>
            <a:r>
              <a:rPr lang="en-IE" sz="2400" b="0">
                <a:solidFill>
                  <a:srgbClr val="0070C0"/>
                </a:solidFill>
                <a:effectLst/>
                <a:latin typeface="Calibri"/>
                <a:ea typeface="Calibri" panose="020F0502020204030204" pitchFamily="34" charset="0"/>
                <a:cs typeface="Times New Roman"/>
              </a:rPr>
              <a:t>[independent nominal variable] and [independent nominal variable?]</a:t>
            </a:r>
            <a:r>
              <a:rPr lang="en-IE" sz="2400" b="0">
                <a:effectLst/>
                <a:latin typeface="Calibri"/>
                <a:ea typeface="Calibri" panose="020F0502020204030204" pitchFamily="34" charset="0"/>
                <a:cs typeface="Times New Roman"/>
              </a:rPr>
              <a:t>”.</a:t>
            </a:r>
            <a:br>
              <a:rPr lang="en-GB" sz="2400" b="0">
                <a:effectLst/>
                <a:latin typeface="Calibri" panose="020F0502020204030204" pitchFamily="34" charset="0"/>
                <a:ea typeface="Calibri" panose="020F0502020204030204" pitchFamily="34" charset="0"/>
                <a:cs typeface="Times New Roman" panose="02020603050405020304" pitchFamily="18" charset="0"/>
              </a:rPr>
            </a:br>
            <a:br>
              <a:rPr lang="en-IE" sz="2400">
                <a:effectLst/>
                <a:latin typeface="Calibri" panose="020F0502020204030204" pitchFamily="34" charset="0"/>
                <a:ea typeface="Calibri" panose="020F0502020204030204" pitchFamily="34" charset="0"/>
                <a:cs typeface="Times New Roman" panose="02020603050405020304" pitchFamily="18" charset="0"/>
              </a:rPr>
            </a:br>
            <a:r>
              <a:rPr lang="en-IE" sz="2400">
                <a:solidFill>
                  <a:srgbClr val="000000"/>
                </a:solidFill>
                <a:effectLst/>
                <a:latin typeface="Calibri"/>
                <a:ea typeface="Calibri" panose="020F0502020204030204" pitchFamily="34" charset="0"/>
                <a:cs typeface="Times New Roman"/>
              </a:rPr>
              <a:t>Template </a:t>
            </a:r>
            <a:r>
              <a:rPr lang="en-IE" sz="2400" baseline="30000">
                <a:solidFill>
                  <a:srgbClr val="000000"/>
                </a:solidFill>
                <a:effectLst/>
                <a:latin typeface="Calibri"/>
                <a:ea typeface="Calibri" panose="020F0502020204030204" pitchFamily="34" charset="0"/>
                <a:cs typeface="Times New Roman"/>
              </a:rPr>
              <a:t>3</a:t>
            </a:r>
            <a:r>
              <a:rPr lang="en-IE" sz="2400">
                <a:solidFill>
                  <a:srgbClr val="000000"/>
                </a:solidFill>
                <a:effectLst/>
                <a:latin typeface="Calibri"/>
                <a:ea typeface="Calibri" panose="020F0502020204030204" pitchFamily="34" charset="0"/>
                <a:cs typeface="Times New Roman"/>
              </a:rPr>
              <a:t>:  </a:t>
            </a:r>
            <a:r>
              <a:rPr lang="en-IE" sz="2400" b="0">
                <a:solidFill>
                  <a:srgbClr val="000000"/>
                </a:solidFill>
                <a:effectLst/>
                <a:latin typeface="Calibri"/>
                <a:ea typeface="Calibri" panose="020F0502020204030204" pitchFamily="34" charset="0"/>
                <a:cs typeface="Times New Roman"/>
              </a:rPr>
              <a:t>Nominal vs Nominal  data (frequencies): “</a:t>
            </a:r>
            <a:r>
              <a:rPr lang="en-IE" sz="2400" b="0">
                <a:effectLst/>
                <a:latin typeface="Calibri"/>
                <a:ea typeface="Calibri" panose="020F0502020204030204" pitchFamily="34" charset="0"/>
                <a:cs typeface="Times New Roman"/>
              </a:rPr>
              <a:t>Is there a difference in proportions of </a:t>
            </a:r>
            <a:r>
              <a:rPr lang="en-IE" sz="2400" b="0">
                <a:solidFill>
                  <a:srgbClr val="0070C0"/>
                </a:solidFill>
                <a:effectLst/>
                <a:latin typeface="Calibri"/>
                <a:ea typeface="Calibri" panose="020F0502020204030204" pitchFamily="34" charset="0"/>
                <a:cs typeface="Times New Roman"/>
              </a:rPr>
              <a:t>[dependent nominal variable] </a:t>
            </a:r>
            <a:r>
              <a:rPr lang="en-IE" sz="2400" b="0">
                <a:effectLst/>
                <a:latin typeface="Calibri"/>
                <a:ea typeface="Calibri" panose="020F0502020204030204" pitchFamily="34" charset="0"/>
                <a:cs typeface="Times New Roman"/>
              </a:rPr>
              <a:t>between </a:t>
            </a:r>
            <a:r>
              <a:rPr lang="en-IE" sz="2400" b="0">
                <a:solidFill>
                  <a:srgbClr val="0070C0"/>
                </a:solidFill>
                <a:effectLst/>
                <a:latin typeface="Calibri"/>
                <a:ea typeface="Calibri" panose="020F0502020204030204" pitchFamily="34" charset="0"/>
                <a:cs typeface="Times New Roman"/>
              </a:rPr>
              <a:t>[independent nominal variable] </a:t>
            </a:r>
            <a:r>
              <a:rPr lang="en-IE" sz="2400" b="0">
                <a:effectLst/>
                <a:latin typeface="Calibri"/>
                <a:ea typeface="Calibri" panose="020F0502020204030204" pitchFamily="34" charset="0"/>
                <a:cs typeface="Times New Roman"/>
              </a:rPr>
              <a:t>and </a:t>
            </a:r>
            <a:r>
              <a:rPr lang="en-IE" sz="2400" b="0">
                <a:solidFill>
                  <a:srgbClr val="0070C0"/>
                </a:solidFill>
                <a:effectLst/>
                <a:latin typeface="Calibri"/>
                <a:ea typeface="Calibri" panose="020F0502020204030204" pitchFamily="34" charset="0"/>
                <a:cs typeface="Times New Roman"/>
              </a:rPr>
              <a:t>[independent nominal variable]?”</a:t>
            </a:r>
            <a:br>
              <a:rPr lang="en-GB" sz="2400">
                <a:effectLst/>
                <a:latin typeface="Calibri" panose="020F0502020204030204" pitchFamily="34" charset="0"/>
                <a:ea typeface="Calibri" panose="020F0502020204030204" pitchFamily="34" charset="0"/>
                <a:cs typeface="Times New Roman" panose="02020603050405020304" pitchFamily="18" charset="0"/>
              </a:rPr>
            </a:br>
            <a:endParaRPr lang="en-GB" sz="2400">
              <a:solidFill>
                <a:srgbClr val="FF0000"/>
              </a:solidFill>
            </a:endParaRPr>
          </a:p>
        </p:txBody>
      </p:sp>
      <p:sp>
        <p:nvSpPr>
          <p:cNvPr id="7" name="TextBox 6">
            <a:extLst>
              <a:ext uri="{FF2B5EF4-FFF2-40B4-BE49-F238E27FC236}">
                <a16:creationId xmlns:a16="http://schemas.microsoft.com/office/drawing/2014/main" id="{F7FEA660-7B39-BC91-3B96-7298CCF66DE1}"/>
              </a:ext>
            </a:extLst>
          </p:cNvPr>
          <p:cNvSpPr txBox="1"/>
          <p:nvPr/>
        </p:nvSpPr>
        <p:spPr>
          <a:xfrm>
            <a:off x="623945" y="5297755"/>
            <a:ext cx="11440040" cy="1477328"/>
          </a:xfrm>
          <a:prstGeom prst="rect">
            <a:avLst/>
          </a:prstGeom>
          <a:solidFill>
            <a:schemeClr val="bg1">
              <a:lumMod val="95000"/>
            </a:schemeClr>
          </a:solidFill>
        </p:spPr>
        <p:txBody>
          <a:bodyPr wrap="square" lIns="91440" tIns="45720" rIns="91440" bIns="45720" rtlCol="0" anchor="t">
            <a:spAutoFit/>
          </a:bodyPr>
          <a:lstStyle/>
          <a:p>
            <a:r>
              <a:rPr lang="en-GB" baseline="30000"/>
              <a:t>1</a:t>
            </a:r>
            <a:r>
              <a:rPr lang="en-GB" b="1">
                <a:latin typeface="Calibri"/>
                <a:cs typeface="Calibri"/>
              </a:rPr>
              <a:t>Correlation</a:t>
            </a:r>
            <a:r>
              <a:rPr lang="en-GB"/>
              <a:t> (</a:t>
            </a:r>
            <a:r>
              <a:rPr lang="en-IE" sz="1800">
                <a:effectLst/>
                <a:latin typeface="Calibri"/>
                <a:ea typeface="Calibri" panose="020F0502020204030204" pitchFamily="34" charset="0"/>
                <a:cs typeface="Times New Roman"/>
              </a:rPr>
              <a:t>Analysis of how </a:t>
            </a:r>
            <a:r>
              <a:rPr lang="en-IE" sz="1800">
                <a:solidFill>
                  <a:srgbClr val="FF0000"/>
                </a:solidFill>
                <a:effectLst/>
                <a:latin typeface="Calibri"/>
                <a:ea typeface="Calibri" panose="020F0502020204030204" pitchFamily="34" charset="0"/>
                <a:cs typeface="Times New Roman"/>
              </a:rPr>
              <a:t>ordinal</a:t>
            </a:r>
            <a:r>
              <a:rPr lang="en-IE">
                <a:solidFill>
                  <a:srgbClr val="FF0000"/>
                </a:solidFill>
                <a:latin typeface="Calibri"/>
                <a:ea typeface="Calibri" panose="020F0502020204030204" pitchFamily="34" charset="0"/>
                <a:cs typeface="Times New Roman"/>
              </a:rPr>
              <a:t>/</a:t>
            </a:r>
            <a:r>
              <a:rPr lang="en-IE" sz="1800">
                <a:solidFill>
                  <a:srgbClr val="FF0000"/>
                </a:solidFill>
                <a:effectLst/>
                <a:latin typeface="Calibri"/>
                <a:ea typeface="Calibri" panose="020F0502020204030204" pitchFamily="34" charset="0"/>
                <a:cs typeface="Times New Roman"/>
              </a:rPr>
              <a:t>interval </a:t>
            </a:r>
            <a:r>
              <a:rPr lang="en-IE" sz="1800">
                <a:solidFill>
                  <a:srgbClr val="00B050"/>
                </a:solidFill>
                <a:effectLst/>
                <a:latin typeface="Calibri"/>
                <a:ea typeface="Calibri" panose="020F0502020204030204" pitchFamily="34" charset="0"/>
                <a:cs typeface="Times New Roman"/>
              </a:rPr>
              <a:t>dependent var</a:t>
            </a:r>
            <a:r>
              <a:rPr lang="en-IE" sz="1800">
                <a:effectLst/>
                <a:latin typeface="Calibri"/>
                <a:ea typeface="Calibri" panose="020F0502020204030204" pitchFamily="34" charset="0"/>
                <a:cs typeface="Times New Roman"/>
              </a:rPr>
              <a:t> </a:t>
            </a:r>
            <a:r>
              <a:rPr lang="en-IE">
                <a:latin typeface="Calibri"/>
                <a:ea typeface="Calibri" panose="020F0502020204030204" pitchFamily="34" charset="0"/>
                <a:cs typeface="Times New Roman"/>
              </a:rPr>
              <a:t>correlates </a:t>
            </a:r>
            <a:r>
              <a:rPr lang="en-IE" sz="1800">
                <a:effectLst/>
                <a:latin typeface="Calibri"/>
                <a:ea typeface="Calibri" panose="020F0502020204030204" pitchFamily="34" charset="0"/>
                <a:cs typeface="Times New Roman"/>
              </a:rPr>
              <a:t>to an </a:t>
            </a:r>
            <a:r>
              <a:rPr lang="en-IE" sz="1800">
                <a:solidFill>
                  <a:srgbClr val="FF0000"/>
                </a:solidFill>
                <a:effectLst/>
                <a:latin typeface="Calibri"/>
                <a:ea typeface="Calibri" panose="020F0502020204030204" pitchFamily="34" charset="0"/>
                <a:cs typeface="Times New Roman"/>
              </a:rPr>
              <a:t>ordinal/interval </a:t>
            </a:r>
            <a:r>
              <a:rPr lang="en-IE" sz="1800">
                <a:solidFill>
                  <a:srgbClr val="00B050"/>
                </a:solidFill>
                <a:effectLst/>
                <a:latin typeface="Calibri"/>
                <a:ea typeface="Calibri" panose="020F0502020204030204" pitchFamily="34" charset="0"/>
                <a:cs typeface="Times New Roman"/>
              </a:rPr>
              <a:t>independent variable)</a:t>
            </a:r>
            <a:endParaRPr lang="en-GB">
              <a:latin typeface="Calibri"/>
              <a:cs typeface="Times New Roman"/>
            </a:endParaRPr>
          </a:p>
          <a:p>
            <a:r>
              <a:rPr lang="en-IE" sz="1800" b="1" baseline="30000">
                <a:effectLst/>
                <a:latin typeface="Calibri" panose="020F0502020204030204" pitchFamily="34" charset="0"/>
                <a:ea typeface="Calibri" panose="020F0502020204030204" pitchFamily="34" charset="0"/>
                <a:cs typeface="Times New Roman" panose="02020603050405020304" pitchFamily="18" charset="0"/>
              </a:rPr>
              <a:t>2</a:t>
            </a:r>
            <a:r>
              <a:rPr lang="en-IE" sz="1800" b="1">
                <a:effectLst/>
                <a:latin typeface="Calibri" panose="020F0502020204030204" pitchFamily="34" charset="0"/>
                <a:ea typeface="Calibri" panose="020F0502020204030204" pitchFamily="34" charset="0"/>
                <a:cs typeface="Times New Roman" panose="02020603050405020304" pitchFamily="18" charset="0"/>
              </a:rPr>
              <a:t>Comparison of means</a:t>
            </a:r>
            <a:r>
              <a:rPr lang="en-IE" sz="1800">
                <a:effectLst/>
                <a:latin typeface="Calibri" panose="020F0502020204030204" pitchFamily="34" charset="0"/>
                <a:ea typeface="Calibri" panose="020F0502020204030204" pitchFamily="34" charset="0"/>
                <a:cs typeface="Times New Roman" panose="02020603050405020304" pitchFamily="18" charset="0"/>
              </a:rPr>
              <a:t> (or medians): Analysis of the difference between the mean (or median) value of a characteristic shared by members of two different populations.</a:t>
            </a:r>
          </a:p>
          <a:p>
            <a:r>
              <a:rPr lang="en-IE" sz="1800" b="1" baseline="30000">
                <a:effectLst/>
                <a:latin typeface="Calibri" panose="020F0502020204030204" pitchFamily="34" charset="0"/>
                <a:ea typeface="Calibri" panose="020F0502020204030204" pitchFamily="34" charset="0"/>
                <a:cs typeface="Times New Roman" panose="02020603050405020304" pitchFamily="18" charset="0"/>
              </a:rPr>
              <a:t>3</a:t>
            </a:r>
            <a:r>
              <a:rPr lang="en-IE" sz="1800" b="1">
                <a:effectLst/>
                <a:latin typeface="Calibri" panose="020F0502020204030204" pitchFamily="34" charset="0"/>
                <a:ea typeface="Calibri" panose="020F0502020204030204" pitchFamily="34" charset="0"/>
                <a:cs typeface="Times New Roman" panose="02020603050405020304" pitchFamily="18" charset="0"/>
              </a:rPr>
              <a:t>Comparison of proportions:</a:t>
            </a:r>
            <a:r>
              <a:rPr lang="en-IE" sz="1800">
                <a:effectLst/>
                <a:latin typeface="Calibri" panose="020F0502020204030204" pitchFamily="34" charset="0"/>
                <a:ea typeface="Calibri" panose="020F0502020204030204" pitchFamily="34" charset="0"/>
                <a:cs typeface="Times New Roman" panose="02020603050405020304" pitchFamily="18" charset="0"/>
              </a:rPr>
              <a:t> Analysis of the difference in proportions of a characteristic shared by members of two different populations. </a:t>
            </a:r>
            <a:endParaRPr lang="en-GB"/>
          </a:p>
        </p:txBody>
      </p:sp>
    </p:spTree>
    <p:extLst>
      <p:ext uri="{BB962C8B-B14F-4D97-AF65-F5344CB8AC3E}">
        <p14:creationId xmlns:p14="http://schemas.microsoft.com/office/powerpoint/2010/main" val="324946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6B64221B-D6D4-E382-A91A-99FF908D5475}"/>
              </a:ext>
            </a:extLst>
          </p:cNvPr>
          <p:cNvSpPr>
            <a:spLocks noGrp="1"/>
          </p:cNvSpPr>
          <p:nvPr>
            <p:ph type="subTitle" idx="1"/>
          </p:nvPr>
        </p:nvSpPr>
        <p:spPr>
          <a:xfrm>
            <a:off x="521219" y="284375"/>
            <a:ext cx="10406581" cy="1391600"/>
          </a:xfrm>
        </p:spPr>
        <p:txBody>
          <a:bodyPr vert="horz" lIns="0" tIns="0" rIns="0" bIns="0" rtlCol="0" anchor="t">
            <a:noAutofit/>
          </a:bodyPr>
          <a:lstStyle/>
          <a:p>
            <a:pPr>
              <a:lnSpc>
                <a:spcPct val="100000"/>
              </a:lnSpc>
            </a:pPr>
            <a:r>
              <a:rPr lang="en-GB" sz="2400" b="0" dirty="0">
                <a:latin typeface="Calibri"/>
                <a:cs typeface="Calibri"/>
              </a:rPr>
              <a:t>Add your </a:t>
            </a:r>
            <a:r>
              <a:rPr lang="en-GB" sz="2400" dirty="0">
                <a:latin typeface="Calibri"/>
                <a:cs typeface="Calibri"/>
              </a:rPr>
              <a:t>Hypotheses</a:t>
            </a:r>
            <a:r>
              <a:rPr lang="en-GB" sz="2400" b="0" dirty="0">
                <a:latin typeface="Calibri"/>
                <a:cs typeface="Calibri"/>
              </a:rPr>
              <a:t> to the previous RQ Slide  (both the Null and Alternative Hypotheses).  Here are definitions and examples. </a:t>
            </a:r>
            <a:r>
              <a:rPr lang="en-GB" sz="2400">
                <a:latin typeface="Calibri"/>
                <a:cs typeface="Calibri"/>
              </a:rPr>
              <a:t>Your hypothesis wording comes directly from your </a:t>
            </a:r>
            <a:r>
              <a:rPr lang="en-GB" sz="2400" dirty="0">
                <a:latin typeface="Calibri"/>
                <a:cs typeface="Calibri"/>
              </a:rPr>
              <a:t>RQ</a:t>
            </a:r>
            <a:r>
              <a:rPr lang="en-GB" sz="2400" b="0" dirty="0">
                <a:latin typeface="Calibri"/>
                <a:cs typeface="Calibri"/>
              </a:rPr>
              <a:t>. This is the formal way of reporting the results of your inferential test statistics,  in which we report the </a:t>
            </a:r>
            <a:r>
              <a:rPr lang="en-GB" sz="2400" b="0" i="1" dirty="0">
                <a:latin typeface="Calibri"/>
                <a:cs typeface="Calibri"/>
              </a:rPr>
              <a:t>effect</a:t>
            </a:r>
            <a:r>
              <a:rPr lang="en-GB" sz="2400" b="0" dirty="0">
                <a:latin typeface="Calibri"/>
                <a:cs typeface="Calibri"/>
              </a:rPr>
              <a:t> the independent variable has on the dependent variable – </a:t>
            </a:r>
          </a:p>
          <a:p>
            <a:pPr marL="457200" indent="-457200">
              <a:lnSpc>
                <a:spcPct val="100000"/>
              </a:lnSpc>
              <a:buAutoNum type="arabicPeriod"/>
            </a:pPr>
            <a:r>
              <a:rPr lang="en-GB" sz="2000" b="0">
                <a:latin typeface="Arial"/>
                <a:cs typeface="Arial"/>
              </a:rPr>
              <a:t>Null hypothesis (H</a:t>
            </a:r>
            <a:r>
              <a:rPr lang="en-GB" sz="2000" b="0" baseline="-25000">
                <a:latin typeface="Arial"/>
                <a:cs typeface="Arial"/>
              </a:rPr>
              <a:t>0</a:t>
            </a:r>
            <a:r>
              <a:rPr lang="en-GB" sz="2000" b="0">
                <a:latin typeface="Arial"/>
                <a:cs typeface="Arial"/>
              </a:rPr>
              <a:t>): There is </a:t>
            </a:r>
            <a:r>
              <a:rPr lang="en-GB" sz="2000">
                <a:latin typeface="Arial"/>
                <a:cs typeface="Arial"/>
              </a:rPr>
              <a:t>no </a:t>
            </a:r>
            <a:r>
              <a:rPr lang="en-GB" sz="2000" b="0">
                <a:latin typeface="Arial"/>
                <a:cs typeface="Arial"/>
              </a:rPr>
              <a:t>effect on the population – so you write one of the following:  </a:t>
            </a:r>
          </a:p>
          <a:p>
            <a:pPr>
              <a:lnSpc>
                <a:spcPct val="100000"/>
              </a:lnSpc>
            </a:pPr>
            <a:r>
              <a:rPr lang="en-GB" sz="2000" b="0">
                <a:solidFill>
                  <a:srgbClr val="FF0000"/>
                </a:solidFill>
                <a:latin typeface="Arial"/>
                <a:cs typeface="Arial"/>
              </a:rPr>
              <a:t>Null hypothesis (H</a:t>
            </a:r>
            <a:r>
              <a:rPr lang="en-GB" sz="2000" b="0" baseline="-25000">
                <a:solidFill>
                  <a:srgbClr val="FF0000"/>
                </a:solidFill>
                <a:latin typeface="Arial"/>
                <a:cs typeface="Arial"/>
              </a:rPr>
              <a:t>0</a:t>
            </a:r>
            <a:r>
              <a:rPr lang="en-GB" sz="2000" b="0">
                <a:solidFill>
                  <a:srgbClr val="FF0000"/>
                </a:solidFill>
                <a:latin typeface="Arial"/>
                <a:cs typeface="Arial"/>
              </a:rPr>
              <a:t>): There is </a:t>
            </a:r>
            <a:r>
              <a:rPr lang="en-GB" sz="2000">
                <a:solidFill>
                  <a:srgbClr val="FF0000"/>
                </a:solidFill>
                <a:latin typeface="Arial"/>
                <a:cs typeface="Arial"/>
              </a:rPr>
              <a:t>no</a:t>
            </a:r>
            <a:r>
              <a:rPr lang="en-GB" sz="2000" b="0">
                <a:solidFill>
                  <a:srgbClr val="FF0000"/>
                </a:solidFill>
                <a:latin typeface="Arial"/>
                <a:cs typeface="Arial"/>
              </a:rPr>
              <a:t> difference in the mean/median of the [dependent variable] between/among [subsets of the independent variable].              </a:t>
            </a:r>
            <a:r>
              <a:rPr lang="en-GB" sz="2000" b="0">
                <a:solidFill>
                  <a:schemeClr val="tx1"/>
                </a:solidFill>
                <a:latin typeface="Arial"/>
                <a:cs typeface="Arial"/>
              </a:rPr>
              <a:t>or</a:t>
            </a:r>
          </a:p>
          <a:p>
            <a:pPr>
              <a:lnSpc>
                <a:spcPct val="100000"/>
              </a:lnSpc>
            </a:pPr>
            <a:r>
              <a:rPr lang="en-GB" sz="2000" b="0">
                <a:solidFill>
                  <a:srgbClr val="FF0000"/>
                </a:solidFill>
                <a:latin typeface="Arial"/>
                <a:cs typeface="Arial"/>
              </a:rPr>
              <a:t>Null hypothesis (H</a:t>
            </a:r>
            <a:r>
              <a:rPr lang="en-GB" sz="2000" b="0" baseline="-25000">
                <a:solidFill>
                  <a:srgbClr val="FF0000"/>
                </a:solidFill>
                <a:latin typeface="Arial"/>
                <a:cs typeface="Arial"/>
              </a:rPr>
              <a:t>0</a:t>
            </a:r>
            <a:r>
              <a:rPr lang="en-GB" sz="2000" b="0">
                <a:solidFill>
                  <a:srgbClr val="FF0000"/>
                </a:solidFill>
                <a:latin typeface="Arial"/>
                <a:cs typeface="Arial"/>
              </a:rPr>
              <a:t>):  There is </a:t>
            </a:r>
            <a:r>
              <a:rPr lang="en-GB" sz="2000">
                <a:solidFill>
                  <a:srgbClr val="FF0000"/>
                </a:solidFill>
                <a:latin typeface="Arial"/>
                <a:cs typeface="Arial"/>
              </a:rPr>
              <a:t>no</a:t>
            </a:r>
            <a:r>
              <a:rPr lang="en-GB" sz="2000" b="0">
                <a:solidFill>
                  <a:srgbClr val="FF0000"/>
                </a:solidFill>
                <a:latin typeface="Arial"/>
                <a:cs typeface="Arial"/>
              </a:rPr>
              <a:t> difference in the proportions(s)of [subset(s) of dependent variable] between/among [subsets of independent variable].                     </a:t>
            </a:r>
            <a:r>
              <a:rPr lang="en-GB" sz="2000" b="0">
                <a:solidFill>
                  <a:schemeClr val="tx1"/>
                </a:solidFill>
                <a:latin typeface="Arial"/>
                <a:cs typeface="Arial"/>
              </a:rPr>
              <a:t>or</a:t>
            </a:r>
          </a:p>
          <a:p>
            <a:pPr>
              <a:lnSpc>
                <a:spcPct val="100000"/>
              </a:lnSpc>
            </a:pPr>
            <a:r>
              <a:rPr lang="en-GB" sz="2000" b="0">
                <a:solidFill>
                  <a:srgbClr val="FF0000"/>
                </a:solidFill>
                <a:latin typeface="Arial"/>
                <a:cs typeface="Arial"/>
              </a:rPr>
              <a:t>Null hypothesis (H</a:t>
            </a:r>
            <a:r>
              <a:rPr lang="en-GB" sz="2000" b="0" baseline="-25000">
                <a:solidFill>
                  <a:srgbClr val="FF0000"/>
                </a:solidFill>
                <a:latin typeface="Arial"/>
                <a:cs typeface="Arial"/>
              </a:rPr>
              <a:t>0</a:t>
            </a:r>
            <a:r>
              <a:rPr lang="en-GB" sz="2000" b="0">
                <a:solidFill>
                  <a:srgbClr val="FF0000"/>
                </a:solidFill>
                <a:latin typeface="Arial"/>
                <a:cs typeface="Arial"/>
              </a:rPr>
              <a:t>): There is </a:t>
            </a:r>
            <a:r>
              <a:rPr lang="en-GB" sz="2000">
                <a:solidFill>
                  <a:srgbClr val="FF0000"/>
                </a:solidFill>
                <a:latin typeface="Arial"/>
                <a:cs typeface="Arial"/>
              </a:rPr>
              <a:t>no</a:t>
            </a:r>
            <a:r>
              <a:rPr lang="en-GB" sz="2000" b="0">
                <a:solidFill>
                  <a:srgbClr val="FF0000"/>
                </a:solidFill>
                <a:latin typeface="Arial"/>
                <a:cs typeface="Arial"/>
              </a:rPr>
              <a:t> correlation between [dependent variable] and [independent variable].</a:t>
            </a:r>
          </a:p>
          <a:p>
            <a:pPr>
              <a:lnSpc>
                <a:spcPct val="100000"/>
              </a:lnSpc>
            </a:pPr>
            <a:r>
              <a:rPr lang="en-GB" sz="2000" b="0">
                <a:latin typeface="Arial"/>
                <a:cs typeface="Arial"/>
              </a:rPr>
              <a:t>2. Alternative hypothesis (H</a:t>
            </a:r>
            <a:r>
              <a:rPr lang="en-GB" sz="2000" b="0" baseline="-25000">
                <a:latin typeface="Arial"/>
                <a:cs typeface="Arial"/>
              </a:rPr>
              <a:t>1</a:t>
            </a:r>
            <a:r>
              <a:rPr lang="en-GB" sz="2000" b="0">
                <a:latin typeface="Arial"/>
                <a:cs typeface="Arial"/>
              </a:rPr>
              <a:t>):  There appears to be an effect on the population – so you copy what you wrote for the Null hypothesis but remove the ‘no’ and replace with ‘</a:t>
            </a:r>
            <a:r>
              <a:rPr lang="en-GB" sz="2000">
                <a:latin typeface="Arial"/>
                <a:cs typeface="Arial"/>
              </a:rPr>
              <a:t>a’  </a:t>
            </a:r>
            <a:r>
              <a:rPr lang="en-GB" sz="2000" b="0">
                <a:latin typeface="Arial"/>
                <a:cs typeface="Arial"/>
              </a:rPr>
              <a:t>For example:</a:t>
            </a:r>
          </a:p>
          <a:p>
            <a:pPr>
              <a:lnSpc>
                <a:spcPct val="100000"/>
              </a:lnSpc>
            </a:pPr>
            <a:r>
              <a:rPr lang="en-GB" sz="2000" b="0">
                <a:solidFill>
                  <a:srgbClr val="FF0000"/>
                </a:solidFill>
                <a:latin typeface="Arial"/>
                <a:cs typeface="Arial"/>
              </a:rPr>
              <a:t>Alt hypothesis (H</a:t>
            </a:r>
            <a:r>
              <a:rPr lang="en-GB" sz="2000" b="0" baseline="-25000">
                <a:solidFill>
                  <a:srgbClr val="FF0000"/>
                </a:solidFill>
                <a:latin typeface="Arial"/>
                <a:cs typeface="Arial"/>
              </a:rPr>
              <a:t>1</a:t>
            </a:r>
            <a:r>
              <a:rPr lang="en-GB" sz="2000" b="0">
                <a:solidFill>
                  <a:srgbClr val="FF0000"/>
                </a:solidFill>
                <a:latin typeface="Arial"/>
                <a:cs typeface="Arial"/>
              </a:rPr>
              <a:t>): There is </a:t>
            </a:r>
            <a:r>
              <a:rPr lang="en-GB" sz="2000">
                <a:solidFill>
                  <a:srgbClr val="FF0000"/>
                </a:solidFill>
                <a:latin typeface="Arial"/>
                <a:cs typeface="Arial"/>
              </a:rPr>
              <a:t>a</a:t>
            </a:r>
            <a:r>
              <a:rPr lang="en-GB" sz="2000" b="0">
                <a:solidFill>
                  <a:srgbClr val="FF0000"/>
                </a:solidFill>
                <a:latin typeface="Arial"/>
                <a:cs typeface="Arial"/>
              </a:rPr>
              <a:t> correlation between [dependent variable] and [independent variable].</a:t>
            </a:r>
          </a:p>
        </p:txBody>
      </p:sp>
      <p:sp>
        <p:nvSpPr>
          <p:cNvPr id="4" name="Slide Number Placeholder 3">
            <a:extLst>
              <a:ext uri="{FF2B5EF4-FFF2-40B4-BE49-F238E27FC236}">
                <a16:creationId xmlns:a16="http://schemas.microsoft.com/office/drawing/2014/main" id="{FF7EDF94-2B89-A21D-BBC0-E455C2D9893B}"/>
              </a:ext>
            </a:extLst>
          </p:cNvPr>
          <p:cNvSpPr>
            <a:spLocks noGrp="1"/>
          </p:cNvSpPr>
          <p:nvPr>
            <p:ph type="sldNum" sz="quarter" idx="12"/>
          </p:nvPr>
        </p:nvSpPr>
        <p:spPr>
          <a:xfrm>
            <a:off x="11269543" y="284375"/>
            <a:ext cx="558281" cy="221244"/>
          </a:xfrm>
        </p:spPr>
        <p:txBody>
          <a:bodyPr/>
          <a:lstStyle/>
          <a:p>
            <a:r>
              <a:rPr lang="en-US"/>
              <a:t>4</a:t>
            </a:r>
            <a:endParaRPr lang="en-GB"/>
          </a:p>
        </p:txBody>
      </p:sp>
      <p:sp>
        <p:nvSpPr>
          <p:cNvPr id="6" name="TextBox 5">
            <a:extLst>
              <a:ext uri="{FF2B5EF4-FFF2-40B4-BE49-F238E27FC236}">
                <a16:creationId xmlns:a16="http://schemas.microsoft.com/office/drawing/2014/main" id="{1841CE34-1B2E-88D5-0C3F-506E8C37BB7B}"/>
              </a:ext>
            </a:extLst>
          </p:cNvPr>
          <p:cNvSpPr txBox="1"/>
          <p:nvPr/>
        </p:nvSpPr>
        <p:spPr>
          <a:xfrm>
            <a:off x="3356146" y="5298491"/>
            <a:ext cx="7811780" cy="1477328"/>
          </a:xfrm>
          <a:prstGeom prst="rect">
            <a:avLst/>
          </a:prstGeom>
          <a:noFill/>
        </p:spPr>
        <p:txBody>
          <a:bodyPr wrap="square" lIns="91440" tIns="45720" rIns="91440" bIns="45720" anchor="t">
            <a:spAutoFit/>
          </a:bodyPr>
          <a:lstStyle/>
          <a:p>
            <a:r>
              <a:rPr lang="en-GB"/>
              <a:t>L</a:t>
            </a:r>
            <a:r>
              <a:rPr lang="en-GB" sz="1800" b="0"/>
              <a:t>eave the hypotheses as </a:t>
            </a:r>
            <a:r>
              <a:rPr lang="en-GB"/>
              <a:t>two </a:t>
            </a:r>
            <a:r>
              <a:rPr lang="en-GB" sz="1800" b="0"/>
              <a:t>statements for now – after your </a:t>
            </a:r>
            <a:r>
              <a:rPr lang="en-GB"/>
              <a:t>statistical </a:t>
            </a:r>
            <a:r>
              <a:rPr lang="en-GB" sz="1800" b="0"/>
              <a:t>analysis </a:t>
            </a:r>
            <a:r>
              <a:rPr lang="en-GB"/>
              <a:t>test, </a:t>
            </a:r>
            <a:r>
              <a:rPr lang="en-GB" sz="1800" b="0"/>
              <a:t>you </a:t>
            </a:r>
            <a:r>
              <a:rPr lang="en-GB"/>
              <a:t>will </a:t>
            </a:r>
            <a:r>
              <a:rPr lang="en-GB" sz="1800" b="0"/>
              <a:t>choose one or the other.</a:t>
            </a:r>
            <a:r>
              <a:rPr lang="en-GB"/>
              <a:t> (</a:t>
            </a:r>
            <a:r>
              <a:rPr lang="en-GB" i="1"/>
              <a:t>You will report: "We fail to reject the null hypothesis" with no significant result, or if you do have significance [p-value = &lt; 0.05] you can state "We reject the null hypothesis".   More guidance on hypothesis testing is given in the lectures</a:t>
            </a:r>
            <a:r>
              <a:rPr lang="en-GB"/>
              <a:t>.)</a:t>
            </a:r>
            <a:endParaRPr lang="en-GB">
              <a:cs typeface="Arial"/>
            </a:endParaRPr>
          </a:p>
        </p:txBody>
      </p:sp>
    </p:spTree>
    <p:extLst>
      <p:ext uri="{BB962C8B-B14F-4D97-AF65-F5344CB8AC3E}">
        <p14:creationId xmlns:p14="http://schemas.microsoft.com/office/powerpoint/2010/main" val="2952338475"/>
      </p:ext>
    </p:extLst>
  </p:cSld>
  <p:clrMapOvr>
    <a:masterClrMapping/>
  </p:clrMapOvr>
</p:sld>
</file>

<file path=ppt/theme/theme1.xml><?xml version="1.0" encoding="utf-8"?>
<a:theme xmlns:a="http://schemas.openxmlformats.org/drawingml/2006/main" name="Herts Theme">
  <a:themeElements>
    <a:clrScheme name="Custom 2">
      <a:dk1>
        <a:srgbClr val="203232"/>
      </a:dk1>
      <a:lt1>
        <a:srgbClr val="FFFFFF"/>
      </a:lt1>
      <a:dk2>
        <a:srgbClr val="203232"/>
      </a:dk2>
      <a:lt2>
        <a:srgbClr val="FFFFFF"/>
      </a:lt2>
      <a:accent1>
        <a:srgbClr val="9C5FB5"/>
      </a:accent1>
      <a:accent2>
        <a:srgbClr val="00B9E4"/>
      </a:accent2>
      <a:accent3>
        <a:srgbClr val="F53F5B"/>
      </a:accent3>
      <a:accent4>
        <a:srgbClr val="0073CF"/>
      </a:accent4>
      <a:accent5>
        <a:srgbClr val="45B382"/>
      </a:accent5>
      <a:accent6>
        <a:srgbClr val="FFCF20"/>
      </a:accent6>
      <a:hlink>
        <a:srgbClr val="0073CF"/>
      </a:hlink>
      <a:folHlink>
        <a:srgbClr val="9C5FB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Information xmlns="4ad138b4-2b68-4b70-945d-07f8f18b1c9a"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26DBA85F447B164191BB36C258697B67" ma:contentTypeVersion="14" ma:contentTypeDescription="Create a new document." ma:contentTypeScope="" ma:versionID="ea511d05ca7f895fe9556935b5c9af34">
  <xsd:schema xmlns:xsd="http://www.w3.org/2001/XMLSchema" xmlns:xs="http://www.w3.org/2001/XMLSchema" xmlns:p="http://schemas.microsoft.com/office/2006/metadata/properties" xmlns:ns2="4ad138b4-2b68-4b70-945d-07f8f18b1c9a" xmlns:ns3="3c474641-ec36-472f-b125-6b1b0910eaa4" targetNamespace="http://schemas.microsoft.com/office/2006/metadata/properties" ma:root="true" ma:fieldsID="662270106d7a7e100bcac2c5f8d29899" ns2:_="" ns3:_="">
    <xsd:import namespace="4ad138b4-2b68-4b70-945d-07f8f18b1c9a"/>
    <xsd:import namespace="3c474641-ec36-472f-b125-6b1b0910eaa4"/>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Information"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ad138b4-2b68-4b70-945d-07f8f18b1c9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Information" ma:index="12" nillable="true" ma:displayName="Information" ma:format="Dropdown" ma:internalName="Information">
      <xsd:simpleType>
        <xsd:restriction base="dms:Text">
          <xsd:maxLength value="255"/>
        </xsd:restrictio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c474641-ec36-472f-b125-6b1b0910eaa4"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DD1FC41-23C7-41B0-B5F9-BF4CD38AD2ED}">
  <ds:schemaRefs>
    <ds:schemaRef ds:uri="3c474641-ec36-472f-b125-6b1b0910eaa4"/>
    <ds:schemaRef ds:uri="4ad138b4-2b68-4b70-945d-07f8f18b1c9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91C521DD-2673-4EE6-BB9B-DC5C3320FFBB}">
  <ds:schemaRefs>
    <ds:schemaRef ds:uri="http://schemas.microsoft.com/sharepoint/v3/contenttype/forms"/>
  </ds:schemaRefs>
</ds:datastoreItem>
</file>

<file path=customXml/itemProps3.xml><?xml version="1.0" encoding="utf-8"?>
<ds:datastoreItem xmlns:ds="http://schemas.openxmlformats.org/officeDocument/2006/customXml" ds:itemID="{421B8C57-903D-4D0E-8336-7B512F760CD1}">
  <ds:schemaRefs>
    <ds:schemaRef ds:uri="3c474641-ec36-472f-b125-6b1b0910eaa4"/>
    <ds:schemaRef ds:uri="4ad138b4-2b68-4b70-945d-07f8f18b1c9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2</TotalTime>
  <Words>1269</Words>
  <Application>Microsoft Office PowerPoint</Application>
  <PresentationFormat>Widescreen</PresentationFormat>
  <Paragraphs>47</Paragraphs>
  <Slides>6</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Herts Theme</vt:lpstr>
      <vt:lpstr>PowerPoint Presentation</vt:lpstr>
      <vt:lpstr>Research Question –  Tutorial Presentation for Feedback Date:  </vt:lpstr>
      <vt:lpstr>The dataset contains 36041 daily records of commodity prices and trading volume, a fairly large time series suitable for trend analysis and forecasting. Independent variables : ticker, commodity, date Dependent variables : open, high, low, close, volume Close, commodity    Number of rows = 36041  </vt:lpstr>
      <vt:lpstr>This dataset is interesting to us because (one sentence): It captures the daily historical trading data for commodities (like Corn, Oat, Wheat, Rough rice, Soybean oil, Soybean) allowing analysis of market trends, price volatility, and trading volume over time.  Our  Independent variable is: (commodity)                    This  Independent variable datatype is (select one): Nominal/categorial . Our Dependent variable is: (close)                    This Dependent variable datatype is  (select one): Interval/measurement data (ratio) </vt:lpstr>
      <vt:lpstr>Template 1: Interval/Ordinal vs Interval/Ordinal: “Is there a correlation between [dependent interval or ordinal variable] and [independent interval or ordinal variable?]”.   Template2 :Interval/Ordinal vs Nominal. data “Is there a difference in the mean of [dependent interval variable  or  dependent ordinal variable] between/among [independent nominal variable] and [independent nominal variable?]”.  Template 3:  Nominal vs Nominal  data (frequencies): “Is there a difference in proportions of [dependent nominal variable] between [independent nominal variable] and [independent nominal variable]?”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Joanne Harwood</dc:creator>
  <cp:lastModifiedBy>meghana muppalla</cp:lastModifiedBy>
  <cp:revision>118</cp:revision>
  <dcterms:created xsi:type="dcterms:W3CDTF">2019-10-01T08:37:56Z</dcterms:created>
  <dcterms:modified xsi:type="dcterms:W3CDTF">2025-12-03T20:23:11Z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0x01010026DBA85F447B164191BB36C258697B67</vt:lpwstr>
  </property>
</Properties>
</file>